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265b9e24304431" /><Relationship Type="http://schemas.openxmlformats.org/officeDocument/2006/relationships/extended-properties" Target="/docProps/app.xml" Id="Rc7d5e63753f842e4" /><Relationship Type="http://schemas.openxmlformats.org/officeDocument/2006/relationships/officeDocument" Target="/ppt/presentation.xml" Id="R236c17d069d44c47" /></Relationships>
</file>

<file path=ppt/presentation.xml><?xml version="1.0" encoding="utf-8"?>
<p:presentation xmlns:p="http://schemas.openxmlformats.org/presentationml/2006/main">
  <p:sldMasterIdLst>
    <p:sldMasterId xmlns:r="http://schemas.openxmlformats.org/officeDocument/2006/relationships" id="2147483648" r:id="Rccab472737dd4a08"/>
  </p:sldMasterIdLst>
  <p:notesMasterIdLst>
    <p:notesMasterId xmlns:r="http://schemas.openxmlformats.org/officeDocument/2006/relationships" r:id="R4d8b3298abec43ba"/>
  </p:notesMasterIdLst>
  <p:sldIdLst>
    <p:sldId xmlns:r="http://schemas.openxmlformats.org/officeDocument/2006/relationships" id="256" r:id="R1c542ce82f2740ff"/>
    <p:sldId xmlns:r="http://schemas.openxmlformats.org/officeDocument/2006/relationships" id="257" r:id="R7babf6dd2f4947cc"/>
    <p:sldId xmlns:r="http://schemas.openxmlformats.org/officeDocument/2006/relationships" id="258" r:id="R38a4bae74e794d14"/>
    <p:sldId xmlns:r="http://schemas.openxmlformats.org/officeDocument/2006/relationships" id="259" r:id="Ra539c2009fee4e89"/>
    <p:sldId xmlns:r="http://schemas.openxmlformats.org/officeDocument/2006/relationships" id="260" r:id="R42380ca7083e44f1"/>
    <p:sldId xmlns:r="http://schemas.openxmlformats.org/officeDocument/2006/relationships" id="261" r:id="Rc126debac0b44933"/>
    <p:sldId xmlns:r="http://schemas.openxmlformats.org/officeDocument/2006/relationships" id="262" r:id="R28277f7b87084e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2e52b7ddd3495d" /><Relationship Type="http://schemas.openxmlformats.org/officeDocument/2006/relationships/slideMaster" Target="/ppt/slideMasters/slideMaster1.xml" Id="Rccab472737dd4a08" /><Relationship Type="http://schemas.openxmlformats.org/officeDocument/2006/relationships/notesMaster" Target="/ppt/notesMasters/notesMaster1.xml" Id="R4d8b3298abec43ba" /><Relationship Type="http://schemas.openxmlformats.org/officeDocument/2006/relationships/presProps" Target="/ppt/presProps.xml" Id="Redd5d1c3a4674a5c" /><Relationship Type="http://schemas.openxmlformats.org/officeDocument/2006/relationships/tableStyles" Target="/ppt/tableStyles.xml" Id="Rc64f15c82d334124" /><Relationship Type="http://schemas.openxmlformats.org/officeDocument/2006/relationships/slide" Target="/ppt/slides/slide1.xml" Id="R1c542ce82f2740ff" /><Relationship Type="http://schemas.openxmlformats.org/officeDocument/2006/relationships/slide" Target="/ppt/slides/slide2.xml" Id="R7babf6dd2f4947cc" /><Relationship Type="http://schemas.openxmlformats.org/officeDocument/2006/relationships/slide" Target="/ppt/slides/slide3.xml" Id="R38a4bae74e794d14" /><Relationship Type="http://schemas.openxmlformats.org/officeDocument/2006/relationships/slide" Target="/ppt/slides/slide4.xml" Id="Ra539c2009fee4e89" /><Relationship Type="http://schemas.openxmlformats.org/officeDocument/2006/relationships/slide" Target="/ppt/slides/slide5.xml" Id="R42380ca7083e44f1" /><Relationship Type="http://schemas.openxmlformats.org/officeDocument/2006/relationships/slide" Target="/ppt/slides/slide6.xml" Id="Rc126debac0b44933" /><Relationship Type="http://schemas.openxmlformats.org/officeDocument/2006/relationships/slide" Target="/ppt/slides/slide7.xml" Id="R28277f7b87084e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4e9e60c55746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8fff5525fa4567" /><Relationship Type="http://schemas.openxmlformats.org/officeDocument/2006/relationships/notesMaster" Target="/ppt/notesMasters/notesMaster1.xml" Id="R4e17bce6a4f046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20e14b09254e93" /><Relationship Type="http://schemas.openxmlformats.org/officeDocument/2006/relationships/notesMaster" Target="/ppt/notesMasters/notesMaster1.xml" Id="Rc82a6eec7bf343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bb72bbc1654481" /><Relationship Type="http://schemas.openxmlformats.org/officeDocument/2006/relationships/notesMaster" Target="/ppt/notesMasters/notesMaster1.xml" Id="R0871fde4312547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4f235af39e47bf" /><Relationship Type="http://schemas.openxmlformats.org/officeDocument/2006/relationships/notesMaster" Target="/ppt/notesMasters/notesMaster1.xml" Id="R342efd338ce64e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b09c77fb9c4db5" /><Relationship Type="http://schemas.openxmlformats.org/officeDocument/2006/relationships/notesMaster" Target="/ppt/notesMasters/notesMaster1.xml" Id="Rbe9b0f3776b948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444bc889dc40b0" /><Relationship Type="http://schemas.openxmlformats.org/officeDocument/2006/relationships/notesMaster" Target="/ppt/notesMasters/notesMaster1.xml" Id="R053cbe1cefde48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bd2f7a6bc0483d" /><Relationship Type="http://schemas.openxmlformats.org/officeDocument/2006/relationships/notesMaster" Target="/ppt/notesMasters/notesMaster1.xml" Id="R7dc55f14547d47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AutoApps is Lovable for the enterprise. It reads the business context you already have, suggests useful apps, and generates the one you choose. We start with Google Sheets.</a:t>
            </a:r>
          </a:p>
          <a:p xmlns:a="http://schemas.openxmlformats.org/drawingml/2006/main">
            <a:r>
              <a:t/>
            </a:r>
          </a:p>
          <a:p xmlns:a="http://schemas.openxmlformats.org/drawingml/2006/main">
            <a:r>
              <a:t>The Lovable comparison is positioning, not a feature-parity, affiliation, or enterprise-readiness claim. Broader business contexts are the direction; Google Sheets is the current source. Cover layout and positioning follow Amos’s AutoApps-pitch-draft copy.key embedded preview. The subtitle reflects his subsequent request to emphasize automatic suggestions and generation from context. The brand spelling has been corrected from Loveable to Lovable.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0:15–1:05. Engineers use AI to build software. Business teams should be able to build their own tools too. A Finance analyst collecting budget inputs still coordinates sheet edits, chases people and reconciles responses every cycle. AutoApps starts by reading the sheet: its columns, sample values, ownership signals and missing inputs. From that context it proposes useful apps, such as budget collection, a status board or a summary. The user chooses an idea, AutoApps generates it, and chat handles refinements. The user does not need to design an app or write a detailed starting brief.</a:t>
            </a:r>
          </a:p>
          <a:p xmlns:a="http://schemas.openxmlformats.org/drawingml/2006/main">
            <a:r>
              <a:t/>
            </a:r>
          </a:p>
          <a:p xmlns:a="http://schemas.openxmlformats.org/drawingml/2006/main">
            <a:r>
              <a:t>The app ideas are an illustrative budget example supported by the recorded suggestion tests. They are proposed from sheet context, not guaranteed identical suggestions on every run. Initial buyer and workflow hypotheses, not interview findings. No claim about measured enterprise AI adoption rates. Sources: docs/PRD.md sections 1–5 and 9, frontend/lib/apps/shape.ts, frontend/lib/ai/suggest.ts and prompts.ts, docs/DECISIONS.md P2-3, and Amos’s pitch direction.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1:05–2:20. Demonstration script: 10 seconds show the synthetic sheet and its owner/empty-input columns, 10 seconds reveal the context-derived suggestions and choose one, 15 seconds generate the preview, 10 seconds make a concise chat refinement if it fits, 10 seconds publish and open the colleague link, 15 seconds save one update, 5 seconds show the changed source cell. The context-derived suggestions must be visible before any custom prompt. Use the web builder so the stage computer needs no extension install.</a:t>
            </a:r>
          </a:p>
          <a:p xmlns:a="http://schemas.openxmlformats.org/drawingml/2006/main">
            <a:r>
              <a:t/>
            </a:r>
          </a:p>
          <a:p xmlns:a="http://schemas.openxmlformats.org/drawingml/2006/main">
            <a:r>
              <a:t>This sequence is the target demonstration, not a statement that the two-account rehearsal has passed. The production runtime has been checked by the development session, but H-6 (distinct consumer account) remains open in the reviewed tracker. If live generation runs over its slot, show a clearly identified pre-generated app and keep the live write-back. Sources: docs/PRD.md section 4, docs/TRACKER.md phases 3–4 and H-6.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2:20–2:55. Schema extraction and shape analysis turn sheet data into signals about identity, missing inputs and useful views. Nebius Token Factory serves the product model calls: zai-org/GLM-5.3-Flash at low effort proposes three workflows, and zai-org/GLM-5.3 at high effort generates and edits the selected app specification. JSON and exact-column validation run before acceptance, with one validation retry. Four supported views keep the runtime bounded.</a:t>
            </a:r>
          </a:p>
          <a:p xmlns:a="http://schemas.openxmlformats.org/drawingml/2006/main">
            <a:r>
              <a:t/>
            </a:r>
          </a:p>
          <a:p xmlns:a="http://schemas.openxmlformats.org/drawingml/2006/main">
            <a:r>
              <a:t>Those are the reviewed product defaults, not benchmark settings. The next slide uses high effort for both models. DeepSeek-V4.1-Flash was tested in a compatibility spike. Claude assisted development and Codex assisted submission preparation/evaluation; no closed-model inference appears in the reviewed product path. Source: frontend/lib/ai, frontend/lib/apps/shape.ts, spec.ts and validate.ts.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2:55–3:40. We compared GLM-5.3 with GLM-5.3-Flash on the same five sheet-generation requests, both at high effort. Both passed structural and sheet validation in five of five cases. Flash met four task checklists; GLM-5.3 met three. GLM-5.3 had a 4.64-second median versus Flash’s 5.35 seconds. Both missed the requested multi-row task-table shape; GLM-5.3 also omitted the RSVP email identity setting. This small pilot shows a tradeoff, not a universal winner, and tells us what to test next.</a:t>
            </a:r>
          </a:p>
          <a:p xmlns:a="http://schemas.openxmlformats.org/drawingml/2006/main">
            <a:r>
              <a:t/>
            </a:r>
          </a:p>
          <a:p xmlns:a="http://schemas.openxmlformats.org/drawingml/2006/main">
            <a:r>
              <a:t>Source: docs/submission/evidence/results.json, protocol.json, review.json, summary.json and README.md, 23 September 2026. One request per fixture per model, ten successful API responses total. Model order alternated. Median times include local validation. No validation retries were needed. Server warm state was unknown. Task results are static specification checklist reviews, not deployed-app tests. The tasks checklist expressly requires a table rather than a row selector. No cost advantage is claimed. Original restricted-environment connection failures produced no model output and were excluded from inference timings.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3:40–4:00. The model produces a bounded JSON specification that the server validates and enforces. We disclose the data flow: identity, credentials and cached samples on the backend, selected context and prompts to Nebius. Builders can revise or restore an app configuration; that does not undo saved spreadsheet edits.</a:t>
            </a:r>
          </a:p>
          <a:p xmlns:a="http://schemas.openxmlformats.org/drawingml/2006/main">
            <a:r>
              <a:t/>
            </a:r>
          </a:p>
          <a:p xmlns:a="http://schemas.openxmlformats.org/drawingml/2006/main">
            <a:r>
              <a:t>Source: frontend/lib/apps/validate.ts and runtime.ts, frontend/lib/auth/guards.ts, frontend/lib/ai/prompts.ts, app version restore routes, database models, and docs/TRACKER.md. Model-generated permissions still need review against intended policy. Do not claim that all enterprise security/privacy concerns are solved. Distinct-account rehearsal remains a prerequisite for the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4:00–4:45. The first customer is an Ops team repeatedly collecting updates in spreadsheets. The workflow owner is our buyer hypothesis, with a team subscription priced against the value of less coordination. Google reported more than eleven million Workspace customers in July 2025: a large starting ecosystem, not our addressable-market estimate. We would win one recurring workflow, then expand into more apps and data sources inside the same company. The next proof is repeat use and willingness to pay. AutoApps gives business teams a way to build with AI.</a:t>
            </a:r>
          </a:p>
          <a:p xmlns:a="http://schemas.openxmlformats.org/drawingml/2006/main">
            <a:r>
              <a:t/>
            </a:r>
          </a:p>
          <a:p xmlns:a="http://schemas.openxmlformats.org/drawingml/2006/main">
            <a:r>
              <a:t>Market source: Google Workspace, “Defending against account takeovers from today’s top threats with passkeys and DBSC,” 29 July 2025, https://workspace.google.com/blog/identity-and-security/defending-against-account-takeovers-top-threats-passkeys-and-dbsc . This is platform-customer context, not proof that all customers use Sheets for our target workflow or would buy AutoApps. The target, buyer, team subscription and expansion strategy are hypotheses, not customer traction. Demand and pricing remain unvalidated. Timing leaves 15 seconds of margin before the five-minute limit.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3e525f5b8047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92d320b6e3408a" /><Relationship Type="http://schemas.openxmlformats.org/officeDocument/2006/relationships/slideLayout" Target="/ppt/slideLayouts/slideLayout1.xml" Id="R0ca8c244a3b144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a8c244a3b144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c78d9ca45e34b6d" /><Relationship Type="http://schemas.openxmlformats.org/officeDocument/2006/relationships/notesSlide" Target="/ppt/notesSlides/notesSlide1.xml" Id="Rbdd5c1389c7e47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7b88a854f24e3e" /><Relationship Type="http://schemas.openxmlformats.org/officeDocument/2006/relationships/notesSlide" Target="/ppt/notesSlides/notesSlide2.xml" Id="Rb94d05f59be041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a2582d072f34b88" /><Relationship Type="http://schemas.openxmlformats.org/officeDocument/2006/relationships/notesSlide" Target="/ppt/notesSlides/notesSlide3.xml" Id="R26f43070a7eb4c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387c5a631f54429" /><Relationship Type="http://schemas.openxmlformats.org/officeDocument/2006/relationships/notesSlide" Target="/ppt/notesSlides/notesSlide4.xml" Id="R361685639c0644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2e78c431a4a4ff2" /><Relationship Type="http://schemas.openxmlformats.org/officeDocument/2006/relationships/notesSlide" Target="/ppt/notesSlides/notesSlide5.xml" Id="Ra09d7039e45644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55fd9efecfd4c7a" /><Relationship Type="http://schemas.openxmlformats.org/officeDocument/2006/relationships/notesSlide" Target="/ppt/notesSlides/notesSlide6.xml" Id="Rdbd8655cfa8d45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4fcfb9537424657" /><Relationship Type="http://schemas.openxmlformats.org/officeDocument/2006/relationships/notesSlide" Target="/ppt/notesSlides/notesSlide7.xml" Id="Rb660cd0af0904e28" /></Relationships>
</file>

<file path=ppt/slides/slide1.xml><?xml version="1.0" encoding="utf-8"?>
<p:sld xmlns:p="http://schemas.openxmlformats.org/presentationml/2006/main">
  <p:cSld>
    <p:bg>
      <p:bgPr>
        <a:solidFill xmlns:a="http://schemas.openxmlformats.org/drawingml/2006/main">
          <a:srgbClr val="183D3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F6A3230-2FA9-41D9-A4D3-4A24C9C36F91}"/>
              </a:ext>
            </a:extLst>
          </p:cNvPr>
          <p:cNvSpPr>
            <a:spLocks xmlns:a="http://schemas.openxmlformats.org/drawingml/2006/main" noGrp="1"/>
          </p:cNvSpPr>
          <p:nvPr/>
        </p:nvSpPr>
        <p:spPr>
          <a:xfrm xmlns:a="http://schemas.openxmlformats.org/drawingml/2006/main">
            <a:off x="685800" y="619125"/>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C2D7C7"/>
                </a:solidFill>
                <a:latin typeface="Helvetica Neue"/>
                <a:ea typeface="Helvetica Neue"/>
                <a:cs typeface="Helvetica Neue"/>
              </a:defRPr>
            </a:pPr>
            <a:r>
              <a:rPr sz="2850" b="1">
                <a:solidFill>
                  <a:srgbClr val="C2D7C7"/>
                </a:solidFill>
                <a:latin typeface="Helvetica Neue"/>
                <a:ea typeface="Helvetica Neue"/>
                <a:cs typeface="Helvetica Neue"/>
              </a:rPr>
              <a:t>AutoApps</a:t>
            </a:r>
          </a:p>
        </p:txBody>
      </p:sp>
      <p:sp>
        <p:nvSpPr>
          <p:cNvPr id="2" name="">
            <a:extLst xmlns:a="http://schemas.openxmlformats.org/drawingml/2006/main">
              <a:ext uri="{FF2B5EF4-FFF2-40B4-BE49-F238E27FC236}">
                <a16:creationId xmlns:a16="http://schemas.microsoft.com/office/drawing/2014/main" id="{92735057-B4CC-44EE-B534-94163E2D58ED}"/>
              </a:ext>
            </a:extLst>
          </p:cNvPr>
          <p:cNvSpPr>
            <a:spLocks xmlns:a="http://schemas.openxmlformats.org/drawingml/2006/main" noGrp="1"/>
          </p:cNvSpPr>
          <p:nvPr/>
        </p:nvSpPr>
        <p:spPr>
          <a:xfrm xmlns:a="http://schemas.openxmlformats.org/drawingml/2006/main">
            <a:off x="685800" y="1905000"/>
            <a:ext cx="10620375"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000" b="1">
                <a:solidFill>
                  <a:srgbClr val="F5F3EC"/>
                </a:solidFill>
                <a:latin typeface="Helvetica Neue"/>
                <a:ea typeface="Helvetica Neue"/>
                <a:cs typeface="Helvetica Neue"/>
              </a:defRPr>
            </a:pPr>
            <a:r>
              <a:rPr sz="6000" b="1">
                <a:solidFill>
                  <a:srgbClr val="F5F3EC"/>
                </a:solidFill>
                <a:latin typeface="Helvetica Neue"/>
                <a:ea typeface="Helvetica Neue"/>
                <a:cs typeface="Helvetica Neue"/>
              </a:rPr>
              <a:t>Lovable for the enterprise</a:t>
            </a:r>
          </a:p>
        </p:txBody>
      </p:sp>
      <p:sp>
        <p:nvSpPr>
          <p:cNvPr id="3" name="">
            <a:extLst xmlns:a="http://schemas.openxmlformats.org/drawingml/2006/main">
              <a:ext uri="{FF2B5EF4-FFF2-40B4-BE49-F238E27FC236}">
                <a16:creationId xmlns:a16="http://schemas.microsoft.com/office/drawing/2014/main" id="{10D89FB5-67EB-4970-A638-54883CB0D5BF}"/>
              </a:ext>
            </a:extLst>
          </p:cNvPr>
          <p:cNvSpPr>
            <a:spLocks xmlns:a="http://schemas.openxmlformats.org/drawingml/2006/main" noGrp="1"/>
          </p:cNvSpPr>
          <p:nvPr/>
        </p:nvSpPr>
        <p:spPr>
          <a:xfrm xmlns:a="http://schemas.openxmlformats.org/drawingml/2006/main">
            <a:off x="723900" y="432435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F5F3EC"/>
                </a:solidFill>
                <a:latin typeface="Helvetica Neue"/>
                <a:ea typeface="Helvetica Neue"/>
                <a:cs typeface="Helvetica Neue"/>
              </a:defRPr>
            </a:pPr>
            <a:r>
              <a:rPr sz="2400" b="1">
                <a:solidFill>
                  <a:srgbClr val="F5F3EC"/>
                </a:solidFill>
                <a:latin typeface="Helvetica Neue"/>
                <a:ea typeface="Helvetica Neue"/>
                <a:cs typeface="Helvetica Neue"/>
              </a:rPr>
              <a:t>AutoApps reads your business context to suggest</a:t>
            </a:r>
          </a:p>
          <a:p xmlns:a="http://schemas.openxmlformats.org/drawingml/2006/main">
            <a:pPr>
              <a:buNone/>
              <a:defRPr sz="2400" b="1">
                <a:solidFill>
                  <a:srgbClr val="F5F3EC"/>
                </a:solidFill>
                <a:latin typeface="Helvetica Neue"/>
                <a:ea typeface="Helvetica Neue"/>
                <a:cs typeface="Helvetica Neue"/>
              </a:defRPr>
            </a:pPr>
            <a:r>
              <a:rPr sz="2400" b="1">
                <a:solidFill>
                  <a:srgbClr val="F5F3EC"/>
                </a:solidFill>
                <a:latin typeface="Helvetica Neue"/>
                <a:ea typeface="Helvetica Neue"/>
                <a:cs typeface="Helvetica Neue"/>
              </a:rPr>
              <a:t>and generate useful apps. Starting with Google Sheets.</a:t>
            </a:r>
          </a:p>
        </p:txBody>
      </p:sp>
      <p:sp>
        <p:nvSpPr>
          <p:cNvPr id="4" name="">
            <a:extLst xmlns:a="http://schemas.openxmlformats.org/drawingml/2006/main">
              <a:ext uri="{FF2B5EF4-FFF2-40B4-BE49-F238E27FC236}">
                <a16:creationId xmlns:a16="http://schemas.microsoft.com/office/drawing/2014/main" id="{BF4A7BE8-7144-47B5-BBCC-4906AE0C3AC4}"/>
              </a:ext>
            </a:extLst>
          </p:cNvPr>
          <p:cNvSpPr>
            <a:spLocks xmlns:a="http://schemas.openxmlformats.org/drawingml/2006/main" noGrp="1"/>
          </p:cNvSpPr>
          <p:nvPr/>
        </p:nvSpPr>
        <p:spPr>
          <a:xfrm xmlns:a="http://schemas.openxmlformats.org/drawingml/2006/main">
            <a:off x="723900" y="5905500"/>
            <a:ext cx="1000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C2D7C7"/>
                </a:solidFill>
                <a:latin typeface="Helvetica Neue"/>
                <a:ea typeface="Helvetica Neue"/>
                <a:cs typeface="Helvetica Neue"/>
              </a:defRPr>
            </a:pPr>
            <a:r>
              <a:rPr sz="1575" b="0">
                <a:solidFill>
                  <a:srgbClr val="C2D7C7"/>
                </a:solidFill>
                <a:latin typeface="Helvetica Neue"/>
                <a:ea typeface="Helvetica Neue"/>
                <a:cs typeface="Helvetica Neue"/>
              </a:rPr>
              <a:t>Amos Haviv</a:t>
            </a:r>
          </a:p>
          <a:p xmlns:a="http://schemas.openxmlformats.org/drawingml/2006/main">
            <a:pPr>
              <a:buNone/>
              <a:defRPr sz="1575" b="0">
                <a:solidFill>
                  <a:srgbClr val="C2D7C7"/>
                </a:solidFill>
                <a:latin typeface="Helvetica Neue"/>
                <a:ea typeface="Helvetica Neue"/>
                <a:cs typeface="Helvetica Neue"/>
              </a:defRPr>
            </a:pPr>
            <a:r>
              <a:rPr sz="1575" b="0">
                <a:solidFill>
                  <a:srgbClr val="C2D7C7"/>
                </a:solidFill>
                <a:latin typeface="Helvetica Neue"/>
                <a:ea typeface="Helvetica Neue"/>
                <a:cs typeface="Helvetica Neue"/>
              </a:rPr>
              <a:t>Hackathon prototype, September 2026</a:t>
            </a:r>
          </a:p>
        </p:txBody>
      </p:sp>
    </p:spTree>
    <p:extLst>
      <p:ext uri="{BB962C8B-B14F-4D97-AF65-F5344CB8AC3E}">
        <p14:creationId xmlns:p14="http://schemas.microsoft.com/office/powerpoint/2010/main" val="1710217382"/>
      </p:ext>
    </p:extLst>
  </p:cSld>
</p:sld>
</file>

<file path=ppt/slides/slide2.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FDCEA72-9B84-493A-813B-5B6E576DE902}"/>
              </a:ext>
            </a:extLst>
          </p:cNvPr>
          <p:cNvSpPr>
            <a:spLocks xmlns:a="http://schemas.openxmlformats.org/drawingml/2006/main" noGrp="1"/>
          </p:cNvSpPr>
          <p:nvPr/>
        </p:nvSpPr>
        <p:spPr>
          <a:xfrm xmlns:a="http://schemas.openxmlformats.org/drawingml/2006/main">
            <a:off x="685800" y="4953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83D30"/>
                </a:solidFill>
                <a:latin typeface="Helvetica Neue"/>
                <a:ea typeface="Helvetica Neue"/>
                <a:cs typeface="Helvetica Neue"/>
              </a:defRPr>
            </a:pPr>
            <a:r>
              <a:rPr sz="3600" b="1">
                <a:solidFill>
                  <a:srgbClr val="183D30"/>
                </a:solidFill>
                <a:latin typeface="Helvetica Neue"/>
                <a:ea typeface="Helvetica Neue"/>
                <a:cs typeface="Helvetica Neue"/>
              </a:rPr>
              <a:t>AutoApps reads the context</a:t>
            </a:r>
          </a:p>
        </p:txBody>
      </p:sp>
      <p:sp>
        <p:nvSpPr>
          <p:cNvPr id="2" name="">
            <a:extLst xmlns:a="http://schemas.openxmlformats.org/drawingml/2006/main">
              <a:ext uri="{FF2B5EF4-FFF2-40B4-BE49-F238E27FC236}">
                <a16:creationId xmlns:a16="http://schemas.microsoft.com/office/drawing/2014/main" id="{F040D04A-4145-4993-8BE7-974FB133D781}"/>
              </a:ext>
            </a:extLst>
          </p:cNvPr>
          <p:cNvSpPr>
            <a:spLocks xmlns:a="http://schemas.openxmlformats.org/drawingml/2006/main" noGrp="1"/>
          </p:cNvSpPr>
          <p:nvPr/>
        </p:nvSpPr>
        <p:spPr>
          <a:xfrm xmlns:a="http://schemas.openxmlformats.org/drawingml/2006/main">
            <a:off x="685800" y="1866900"/>
            <a:ext cx="5238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276A50"/>
                </a:solidFill>
                <a:latin typeface="Helvetica Neue"/>
                <a:ea typeface="Helvetica Neue"/>
                <a:cs typeface="Helvetica Neue"/>
              </a:defRPr>
            </a:pPr>
            <a:r>
              <a:rPr sz="3600" b="1">
                <a:solidFill>
                  <a:srgbClr val="276A50"/>
                </a:solidFill>
                <a:latin typeface="Helvetica Neue"/>
                <a:ea typeface="Helvetica Neue"/>
                <a:cs typeface="Helvetica Neue"/>
              </a:rPr>
              <a:t>Owner Email</a:t>
            </a:r>
          </a:p>
          <a:p xmlns:a="http://schemas.openxmlformats.org/drawingml/2006/main">
            <a:pPr>
              <a:buNone/>
              <a:defRPr sz="3600" b="1">
                <a:solidFill>
                  <a:srgbClr val="276A50"/>
                </a:solidFill>
                <a:latin typeface="Helvetica Neue"/>
                <a:ea typeface="Helvetica Neue"/>
                <a:cs typeface="Helvetica Neue"/>
              </a:defRPr>
            </a:pPr>
            <a:r>
              <a:rPr sz="3600" b="1">
                <a:solidFill>
                  <a:srgbClr val="276A50"/>
                </a:solidFill>
                <a:latin typeface="Helvetica Neue"/>
                <a:ea typeface="Helvetica Neue"/>
                <a:cs typeface="Helvetica Neue"/>
              </a:rPr>
              <a:t>Q1–Q4 inputs</a:t>
            </a:r>
          </a:p>
          <a:p xmlns:a="http://schemas.openxmlformats.org/drawingml/2006/main">
            <a:pPr>
              <a:buNone/>
              <a:defRPr sz="3600" b="1">
                <a:solidFill>
                  <a:srgbClr val="276A50"/>
                </a:solidFill>
                <a:latin typeface="Helvetica Neue"/>
                <a:ea typeface="Helvetica Neue"/>
                <a:cs typeface="Helvetica Neue"/>
              </a:defRPr>
            </a:pPr>
            <a:r>
              <a:rPr sz="3600" b="1">
                <a:solidFill>
                  <a:srgbClr val="276A50"/>
                </a:solidFill>
                <a:latin typeface="Helvetica Neue"/>
                <a:ea typeface="Helvetica Neue"/>
                <a:cs typeface="Helvetica Neue"/>
              </a:rPr>
              <a:t>FY2026 Actual</a:t>
            </a:r>
          </a:p>
        </p:txBody>
      </p:sp>
      <p:sp>
        <p:nvSpPr>
          <p:cNvPr id="3" name="">
            <a:extLst xmlns:a="http://schemas.openxmlformats.org/drawingml/2006/main">
              <a:ext uri="{FF2B5EF4-FFF2-40B4-BE49-F238E27FC236}">
                <a16:creationId xmlns:a16="http://schemas.microsoft.com/office/drawing/2014/main" id="{6C37555F-2462-4CFD-8F22-1A8C3D85FFD1}"/>
              </a:ext>
            </a:extLst>
          </p:cNvPr>
          <p:cNvSpPr>
            <a:spLocks xmlns:a="http://schemas.openxmlformats.org/drawingml/2006/main" noGrp="1"/>
          </p:cNvSpPr>
          <p:nvPr/>
        </p:nvSpPr>
        <p:spPr>
          <a:xfrm xmlns:a="http://schemas.openxmlformats.org/drawingml/2006/main">
            <a:off x="6705600" y="1924050"/>
            <a:ext cx="4810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183D30"/>
                </a:solidFill>
                <a:latin typeface="Helvetica Neue"/>
                <a:ea typeface="Helvetica Neue"/>
                <a:cs typeface="Helvetica Neue"/>
              </a:defRPr>
            </a:pPr>
            <a:r>
              <a:rPr sz="2475" b="1">
                <a:solidFill>
                  <a:srgbClr val="183D30"/>
                </a:solidFill>
                <a:latin typeface="Helvetica Neue"/>
                <a:ea typeface="Helvetica Neue"/>
                <a:cs typeface="Helvetica Neue"/>
              </a:rPr>
              <a:t>Three useful app ideas,</a:t>
            </a:r>
          </a:p>
          <a:p xmlns:a="http://schemas.openxmlformats.org/drawingml/2006/main">
            <a:pPr>
              <a:buNone/>
              <a:defRPr sz="2475" b="1">
                <a:solidFill>
                  <a:srgbClr val="183D30"/>
                </a:solidFill>
                <a:latin typeface="Helvetica Neue"/>
                <a:ea typeface="Helvetica Neue"/>
                <a:cs typeface="Helvetica Neue"/>
              </a:defRPr>
            </a:pPr>
            <a:r>
              <a:rPr sz="2475" b="1">
                <a:solidFill>
                  <a:srgbClr val="183D30"/>
                </a:solidFill>
                <a:latin typeface="Helvetica Neue"/>
                <a:ea typeface="Helvetica Neue"/>
                <a:cs typeface="Helvetica Neue"/>
              </a:rPr>
              <a:t>ready to generate.</a:t>
            </a:r>
          </a:p>
        </p:txBody>
      </p:sp>
      <p:sp>
        <p:nvSpPr>
          <p:cNvPr id="4" name="">
            <a:extLst xmlns:a="http://schemas.openxmlformats.org/drawingml/2006/main">
              <a:ext uri="{FF2B5EF4-FFF2-40B4-BE49-F238E27FC236}">
                <a16:creationId xmlns:a16="http://schemas.microsoft.com/office/drawing/2014/main" id="{2D01D14E-094F-4BBE-BE9B-D9C4756C04A6}"/>
              </a:ext>
            </a:extLst>
          </p:cNvPr>
          <p:cNvSpPr>
            <a:spLocks xmlns:a="http://schemas.openxmlformats.org/drawingml/2006/main" noGrp="1"/>
          </p:cNvSpPr>
          <p:nvPr/>
        </p:nvSpPr>
        <p:spPr>
          <a:xfrm xmlns:a="http://schemas.openxmlformats.org/drawingml/2006/main">
            <a:off x="6705600" y="3333750"/>
            <a:ext cx="48101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53675B"/>
                </a:solidFill>
                <a:latin typeface="Helvetica Neue"/>
                <a:ea typeface="Helvetica Neue"/>
                <a:cs typeface="Helvetica Neue"/>
              </a:defRPr>
            </a:pPr>
            <a:r>
              <a:rPr sz="2100" b="0">
                <a:solidFill>
                  <a:srgbClr val="53675B"/>
                </a:solidFill>
                <a:latin typeface="Helvetica Neue"/>
                <a:ea typeface="Helvetica Neue"/>
                <a:cs typeface="Helvetica Neue"/>
              </a:rPr>
              <a:t>A budget form for each owner.</a:t>
            </a:r>
          </a:p>
          <a:p xmlns:a="http://schemas.openxmlformats.org/drawingml/2006/main">
            <a:pPr>
              <a:buNone/>
              <a:defRPr sz="2100" b="0">
                <a:solidFill>
                  <a:srgbClr val="53675B"/>
                </a:solidFill>
                <a:latin typeface="Helvetica Neue"/>
                <a:ea typeface="Helvetica Neue"/>
                <a:cs typeface="Helvetica Neue"/>
              </a:defRPr>
            </a:pPr>
            <a:r>
              <a:rPr sz="2100" b="0">
                <a:solidFill>
                  <a:srgbClr val="53675B"/>
                </a:solidFill>
                <a:latin typeface="Helvetica Neue"/>
                <a:ea typeface="Helvetica Neue"/>
                <a:cs typeface="Helvetica Neue"/>
              </a:rPr>
              <a:t>A status board.</a:t>
            </a:r>
          </a:p>
          <a:p xmlns:a="http://schemas.openxmlformats.org/drawingml/2006/main">
            <a:pPr>
              <a:buNone/>
              <a:defRPr sz="2100" b="0">
                <a:solidFill>
                  <a:srgbClr val="53675B"/>
                </a:solidFill>
                <a:latin typeface="Helvetica Neue"/>
                <a:ea typeface="Helvetica Neue"/>
                <a:cs typeface="Helvetica Neue"/>
              </a:defRPr>
            </a:pPr>
            <a:r>
              <a:rPr sz="2100" b="0">
                <a:solidFill>
                  <a:srgbClr val="53675B"/>
                </a:solidFill>
                <a:latin typeface="Helvetica Neue"/>
                <a:ea typeface="Helvetica Neue"/>
                <a:cs typeface="Helvetica Neue"/>
              </a:rPr>
              <a:t>A summary of the numbers.</a:t>
            </a:r>
          </a:p>
        </p:txBody>
      </p:sp>
      <p:sp>
        <p:nvSpPr>
          <p:cNvPr id="5" name="">
            <a:extLst xmlns:a="http://schemas.openxmlformats.org/drawingml/2006/main">
              <a:ext uri="{FF2B5EF4-FFF2-40B4-BE49-F238E27FC236}">
                <a16:creationId xmlns:a16="http://schemas.microsoft.com/office/drawing/2014/main" id="{7DBB4728-B4BA-49E3-BB33-0A8DFFAA2CFC}"/>
              </a:ext>
            </a:extLst>
          </p:cNvPr>
          <p:cNvSpPr>
            <a:spLocks xmlns:a="http://schemas.openxmlformats.org/drawingml/2006/main" noGrp="1"/>
          </p:cNvSpPr>
          <p:nvPr/>
        </p:nvSpPr>
        <p:spPr>
          <a:xfrm xmlns:a="http://schemas.openxmlformats.org/drawingml/2006/main">
            <a:off x="685800" y="5591175"/>
            <a:ext cx="10839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183D30"/>
                </a:solidFill>
                <a:latin typeface="Helvetica Neue"/>
                <a:ea typeface="Helvetica Neue"/>
                <a:cs typeface="Helvetica Neue"/>
              </a:defRPr>
            </a:pPr>
            <a:r>
              <a:rPr sz="2475" b="1">
                <a:solidFill>
                  <a:srgbClr val="183D30"/>
                </a:solidFill>
                <a:latin typeface="Helvetica Neue"/>
                <a:ea typeface="Helvetica Neue"/>
                <a:cs typeface="Helvetica Neue"/>
              </a:rPr>
              <a:t>Choose an idea. AutoApps generates it. Chat refines it.</a:t>
            </a:r>
          </a:p>
        </p:txBody>
      </p:sp>
    </p:spTree>
    <p:extLst>
      <p:ext uri="{BB962C8B-B14F-4D97-AF65-F5344CB8AC3E}">
        <p14:creationId xmlns:p14="http://schemas.microsoft.com/office/powerpoint/2010/main" val="393684333"/>
      </p:ext>
    </p:extLst>
  </p:cSld>
</p:sld>
</file>

<file path=ppt/slides/slide3.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5D1C082-419C-448E-A906-3E120BD59AB7}"/>
              </a:ext>
            </a:extLst>
          </p:cNvPr>
          <p:cNvSpPr>
            <a:spLocks xmlns:a="http://schemas.openxmlformats.org/drawingml/2006/main" noGrp="1"/>
          </p:cNvSpPr>
          <p:nvPr/>
        </p:nvSpPr>
        <p:spPr>
          <a:xfrm xmlns:a="http://schemas.openxmlformats.org/drawingml/2006/main">
            <a:off x="685800" y="4953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83D30"/>
                </a:solidFill>
                <a:latin typeface="Helvetica Neue"/>
                <a:ea typeface="Helvetica Neue"/>
                <a:cs typeface="Helvetica Neue"/>
              </a:defRPr>
            </a:pPr>
            <a:r>
              <a:rPr sz="3600" b="1">
                <a:solidFill>
                  <a:srgbClr val="183D30"/>
                </a:solidFill>
                <a:latin typeface="Helvetica Neue"/>
                <a:ea typeface="Helvetica Neue"/>
                <a:cs typeface="Helvetica Neue"/>
              </a:rPr>
              <a:t>Live demo: sheet to generated app</a:t>
            </a:r>
          </a:p>
        </p:txBody>
      </p:sp>
      <p:sp>
        <p:nvSpPr>
          <p:cNvPr id="2" name="">
            <a:extLst xmlns:a="http://schemas.openxmlformats.org/drawingml/2006/main">
              <a:ext uri="{FF2B5EF4-FFF2-40B4-BE49-F238E27FC236}">
                <a16:creationId xmlns:a16="http://schemas.microsoft.com/office/drawing/2014/main" id="{F61C4183-9544-49CE-A839-C064061A7AF1}"/>
              </a:ext>
            </a:extLst>
          </p:cNvPr>
          <p:cNvSpPr>
            <a:spLocks xmlns:a="http://schemas.openxmlformats.org/drawingml/2006/main" noGrp="1"/>
          </p:cNvSpPr>
          <p:nvPr/>
        </p:nvSpPr>
        <p:spPr>
          <a:xfrm xmlns:a="http://schemas.openxmlformats.org/drawingml/2006/main">
            <a:off x="723900" y="13525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53675B"/>
                </a:solidFill>
                <a:latin typeface="Helvetica Neue"/>
                <a:ea typeface="Helvetica Neue"/>
                <a:cs typeface="Helvetica Neue"/>
              </a:defRPr>
            </a:pPr>
            <a:r>
              <a:rPr sz="2175" b="0">
                <a:solidFill>
                  <a:srgbClr val="53675B"/>
                </a:solidFill>
                <a:latin typeface="Helvetica Neue"/>
                <a:ea typeface="Helvetica Neue"/>
                <a:cs typeface="Helvetica Neue"/>
              </a:rPr>
              <a:t>The sheet supplies the context. AutoApps supplies the app.</a:t>
            </a:r>
          </a:p>
        </p:txBody>
      </p:sp>
      <p:sp>
        <p:nvSpPr>
          <p:cNvPr id="3" name="">
            <a:extLst xmlns:a="http://schemas.openxmlformats.org/drawingml/2006/main">
              <a:ext uri="{FF2B5EF4-FFF2-40B4-BE49-F238E27FC236}">
                <a16:creationId xmlns:a16="http://schemas.microsoft.com/office/drawing/2014/main" id="{8C876819-C4B3-4454-A62F-151A44E5595C}"/>
              </a:ext>
            </a:extLst>
          </p:cNvPr>
          <p:cNvSpPr>
            <a:spLocks xmlns:a="http://schemas.openxmlformats.org/drawingml/2006/main" noGrp="1"/>
          </p:cNvSpPr>
          <p:nvPr/>
        </p:nvSpPr>
        <p:spPr>
          <a:xfrm xmlns:a="http://schemas.openxmlformats.org/drawingml/2006/main">
            <a:off x="723900" y="21336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276A50"/>
                </a:solidFill>
                <a:latin typeface="Helvetica Neue"/>
                <a:ea typeface="Helvetica Neue"/>
                <a:cs typeface="Helvetica Neue"/>
              </a:defRPr>
            </a:pPr>
            <a:r>
              <a:rPr sz="2625" b="1">
                <a:solidFill>
                  <a:srgbClr val="276A50"/>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C23C4B21-33F8-4CB0-B23D-26B90CB8E053}"/>
              </a:ext>
            </a:extLst>
          </p:cNvPr>
          <p:cNvSpPr>
            <a:spLocks xmlns:a="http://schemas.openxmlformats.org/drawingml/2006/main" noGrp="1"/>
          </p:cNvSpPr>
          <p:nvPr/>
        </p:nvSpPr>
        <p:spPr>
          <a:xfrm xmlns:a="http://schemas.openxmlformats.org/drawingml/2006/main">
            <a:off x="1800225" y="2133600"/>
            <a:ext cx="9486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0">
                <a:solidFill>
                  <a:srgbClr val="183D30"/>
                </a:solidFill>
                <a:latin typeface="Helvetica Neue"/>
                <a:ea typeface="Helvetica Neue"/>
                <a:cs typeface="Helvetica Neue"/>
              </a:defRPr>
            </a:pPr>
            <a:r>
              <a:rPr sz="2625" b="0">
                <a:solidFill>
                  <a:srgbClr val="183D30"/>
                </a:solidFill>
                <a:latin typeface="Helvetica Neue"/>
                <a:ea typeface="Helvetica Neue"/>
                <a:cs typeface="Helvetica Neue"/>
              </a:rPr>
              <a:t>Open the sheet and read its context</a:t>
            </a:r>
          </a:p>
        </p:txBody>
      </p:sp>
      <p:sp>
        <p:nvSpPr>
          <p:cNvPr id="5" name="">
            <a:extLst xmlns:a="http://schemas.openxmlformats.org/drawingml/2006/main">
              <a:ext uri="{FF2B5EF4-FFF2-40B4-BE49-F238E27FC236}">
                <a16:creationId xmlns:a16="http://schemas.microsoft.com/office/drawing/2014/main" id="{81DB43B1-B7BB-4A87-9AD2-FEE3A95CEC60}"/>
              </a:ext>
            </a:extLst>
          </p:cNvPr>
          <p:cNvSpPr>
            <a:spLocks xmlns:a="http://schemas.openxmlformats.org/drawingml/2006/main" noGrp="1"/>
          </p:cNvSpPr>
          <p:nvPr/>
        </p:nvSpPr>
        <p:spPr>
          <a:xfrm xmlns:a="http://schemas.openxmlformats.org/drawingml/2006/main">
            <a:off x="723900" y="29337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276A50"/>
                </a:solidFill>
                <a:latin typeface="Helvetica Neue"/>
                <a:ea typeface="Helvetica Neue"/>
                <a:cs typeface="Helvetica Neue"/>
              </a:defRPr>
            </a:pPr>
            <a:r>
              <a:rPr sz="2625" b="1">
                <a:solidFill>
                  <a:srgbClr val="276A50"/>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80572B7E-A22D-4F74-BAFF-5415E18536A3}"/>
              </a:ext>
            </a:extLst>
          </p:cNvPr>
          <p:cNvSpPr>
            <a:spLocks xmlns:a="http://schemas.openxmlformats.org/drawingml/2006/main" noGrp="1"/>
          </p:cNvSpPr>
          <p:nvPr/>
        </p:nvSpPr>
        <p:spPr>
          <a:xfrm xmlns:a="http://schemas.openxmlformats.org/drawingml/2006/main">
            <a:off x="1800225" y="2933700"/>
            <a:ext cx="9486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0">
                <a:solidFill>
                  <a:srgbClr val="183D30"/>
                </a:solidFill>
                <a:latin typeface="Helvetica Neue"/>
                <a:ea typeface="Helvetica Neue"/>
                <a:cs typeface="Helvetica Neue"/>
              </a:defRPr>
            </a:pPr>
            <a:r>
              <a:rPr sz="2625" b="0">
                <a:solidFill>
                  <a:srgbClr val="183D30"/>
                </a:solidFill>
                <a:latin typeface="Helvetica Neue"/>
                <a:ea typeface="Helvetica Neue"/>
                <a:cs typeface="Helvetica Neue"/>
              </a:rPr>
              <a:t>Choose one of the suggested apps</a:t>
            </a:r>
          </a:p>
        </p:txBody>
      </p:sp>
      <p:sp>
        <p:nvSpPr>
          <p:cNvPr id="7" name="">
            <a:extLst xmlns:a="http://schemas.openxmlformats.org/drawingml/2006/main">
              <a:ext uri="{FF2B5EF4-FFF2-40B4-BE49-F238E27FC236}">
                <a16:creationId xmlns:a16="http://schemas.microsoft.com/office/drawing/2014/main" id="{D47D2A3C-6C48-4457-842C-AA9F30C261C2}"/>
              </a:ext>
            </a:extLst>
          </p:cNvPr>
          <p:cNvSpPr>
            <a:spLocks xmlns:a="http://schemas.openxmlformats.org/drawingml/2006/main" noGrp="1"/>
          </p:cNvSpPr>
          <p:nvPr/>
        </p:nvSpPr>
        <p:spPr>
          <a:xfrm xmlns:a="http://schemas.openxmlformats.org/drawingml/2006/main">
            <a:off x="723900" y="37338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276A50"/>
                </a:solidFill>
                <a:latin typeface="Helvetica Neue"/>
                <a:ea typeface="Helvetica Neue"/>
                <a:cs typeface="Helvetica Neue"/>
              </a:defRPr>
            </a:pPr>
            <a:r>
              <a:rPr sz="2625" b="1">
                <a:solidFill>
                  <a:srgbClr val="276A50"/>
                </a:solidFill>
                <a:latin typeface="Helvetica Neue"/>
                <a:ea typeface="Helvetica Neue"/>
                <a:cs typeface="Helvetica Neue"/>
              </a:rPr>
              <a:t>03</a:t>
            </a:r>
          </a:p>
        </p:txBody>
      </p:sp>
      <p:sp>
        <p:nvSpPr>
          <p:cNvPr id="8" name="">
            <a:extLst xmlns:a="http://schemas.openxmlformats.org/drawingml/2006/main">
              <a:ext uri="{FF2B5EF4-FFF2-40B4-BE49-F238E27FC236}">
                <a16:creationId xmlns:a16="http://schemas.microsoft.com/office/drawing/2014/main" id="{D9990EA1-8599-4AFA-A287-450C15ECA5B9}"/>
              </a:ext>
            </a:extLst>
          </p:cNvPr>
          <p:cNvSpPr>
            <a:spLocks xmlns:a="http://schemas.openxmlformats.org/drawingml/2006/main" noGrp="1"/>
          </p:cNvSpPr>
          <p:nvPr/>
        </p:nvSpPr>
        <p:spPr>
          <a:xfrm xmlns:a="http://schemas.openxmlformats.org/drawingml/2006/main">
            <a:off x="1800225" y="3733800"/>
            <a:ext cx="9486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0">
                <a:solidFill>
                  <a:srgbClr val="183D30"/>
                </a:solidFill>
                <a:latin typeface="Helvetica Neue"/>
                <a:ea typeface="Helvetica Neue"/>
                <a:cs typeface="Helvetica Neue"/>
              </a:defRPr>
            </a:pPr>
            <a:r>
              <a:rPr sz="2625" b="0">
                <a:solidFill>
                  <a:srgbClr val="183D30"/>
                </a:solidFill>
                <a:latin typeface="Helvetica Neue"/>
                <a:ea typeface="Helvetica Neue"/>
                <a:cs typeface="Helvetica Neue"/>
              </a:rPr>
              <a:t>Generate, preview and publish</a:t>
            </a:r>
          </a:p>
        </p:txBody>
      </p:sp>
      <p:sp>
        <p:nvSpPr>
          <p:cNvPr id="9" name="">
            <a:extLst xmlns:a="http://schemas.openxmlformats.org/drawingml/2006/main">
              <a:ext uri="{FF2B5EF4-FFF2-40B4-BE49-F238E27FC236}">
                <a16:creationId xmlns:a16="http://schemas.microsoft.com/office/drawing/2014/main" id="{F6E34986-9400-46E4-BB51-8DE166D1D3E0}"/>
              </a:ext>
            </a:extLst>
          </p:cNvPr>
          <p:cNvSpPr>
            <a:spLocks xmlns:a="http://schemas.openxmlformats.org/drawingml/2006/main" noGrp="1"/>
          </p:cNvSpPr>
          <p:nvPr/>
        </p:nvSpPr>
        <p:spPr>
          <a:xfrm xmlns:a="http://schemas.openxmlformats.org/drawingml/2006/main">
            <a:off x="723900" y="45339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276A50"/>
                </a:solidFill>
                <a:latin typeface="Helvetica Neue"/>
                <a:ea typeface="Helvetica Neue"/>
                <a:cs typeface="Helvetica Neue"/>
              </a:defRPr>
            </a:pPr>
            <a:r>
              <a:rPr sz="2625" b="1">
                <a:solidFill>
                  <a:srgbClr val="276A50"/>
                </a:solidFill>
                <a:latin typeface="Helvetica Neue"/>
                <a:ea typeface="Helvetica Neue"/>
                <a:cs typeface="Helvetica Neue"/>
              </a:rPr>
              <a:t>04</a:t>
            </a:r>
          </a:p>
        </p:txBody>
      </p:sp>
      <p:sp>
        <p:nvSpPr>
          <p:cNvPr id="10" name="">
            <a:extLst xmlns:a="http://schemas.openxmlformats.org/drawingml/2006/main">
              <a:ext uri="{FF2B5EF4-FFF2-40B4-BE49-F238E27FC236}">
                <a16:creationId xmlns:a16="http://schemas.microsoft.com/office/drawing/2014/main" id="{82F6DCAB-99FC-49E7-8E08-7DF2F45731E9}"/>
              </a:ext>
            </a:extLst>
          </p:cNvPr>
          <p:cNvSpPr>
            <a:spLocks xmlns:a="http://schemas.openxmlformats.org/drawingml/2006/main" noGrp="1"/>
          </p:cNvSpPr>
          <p:nvPr/>
        </p:nvSpPr>
        <p:spPr>
          <a:xfrm xmlns:a="http://schemas.openxmlformats.org/drawingml/2006/main">
            <a:off x="1800225" y="4533900"/>
            <a:ext cx="9486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183D30"/>
                </a:solidFill>
                <a:latin typeface="Helvetica Neue"/>
                <a:ea typeface="Helvetica Neue"/>
                <a:cs typeface="Helvetica Neue"/>
              </a:defRPr>
            </a:pPr>
            <a:r>
              <a:rPr sz="2625" b="1">
                <a:solidFill>
                  <a:srgbClr val="183D30"/>
                </a:solidFill>
                <a:latin typeface="Helvetica Neue"/>
                <a:ea typeface="Helvetica Neue"/>
                <a:cs typeface="Helvetica Neue"/>
              </a:rPr>
              <a:t>Save a colleague’s update to the sheet</a:t>
            </a:r>
          </a:p>
        </p:txBody>
      </p:sp>
      <p:sp>
        <p:nvSpPr>
          <p:cNvPr id="11" name="">
            <a:extLst xmlns:a="http://schemas.openxmlformats.org/drawingml/2006/main">
              <a:ext uri="{FF2B5EF4-FFF2-40B4-BE49-F238E27FC236}">
                <a16:creationId xmlns:a16="http://schemas.microsoft.com/office/drawing/2014/main" id="{0B05908E-0AA2-430F-AD3C-416E2861EB2A}"/>
              </a:ext>
            </a:extLst>
          </p:cNvPr>
          <p:cNvSpPr>
            <a:spLocks xmlns:a="http://schemas.openxmlformats.org/drawingml/2006/main" noGrp="1"/>
          </p:cNvSpPr>
          <p:nvPr/>
        </p:nvSpPr>
        <p:spPr>
          <a:xfrm xmlns:a="http://schemas.openxmlformats.org/drawingml/2006/main">
            <a:off x="723900" y="593407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3675B"/>
                </a:solidFill>
                <a:latin typeface="Helvetica Neue"/>
                <a:ea typeface="Helvetica Neue"/>
                <a:cs typeface="Helvetica Neue"/>
              </a:defRPr>
            </a:pPr>
            <a:r>
              <a:rPr sz="1800" b="0">
                <a:solidFill>
                  <a:srgbClr val="53675B"/>
                </a:solidFill>
                <a:latin typeface="Helvetica Neue"/>
                <a:ea typeface="Helvetica Neue"/>
                <a:cs typeface="Helvetica Neue"/>
              </a:rPr>
              <a:t>75-second browser demo on the stage computer</a:t>
            </a:r>
          </a:p>
        </p:txBody>
      </p:sp>
    </p:spTree>
    <p:extLst>
      <p:ext uri="{BB962C8B-B14F-4D97-AF65-F5344CB8AC3E}">
        <p14:creationId xmlns:p14="http://schemas.microsoft.com/office/powerpoint/2010/main" val="672322996"/>
      </p:ext>
    </p:extLst>
  </p:cSld>
</p:sld>
</file>

<file path=ppt/slides/slide4.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C87990F-9434-4F91-AD92-1B616D4D4FAE}"/>
              </a:ext>
            </a:extLst>
          </p:cNvPr>
          <p:cNvSpPr>
            <a:spLocks xmlns:a="http://schemas.openxmlformats.org/drawingml/2006/main" noGrp="1"/>
          </p:cNvSpPr>
          <p:nvPr/>
        </p:nvSpPr>
        <p:spPr>
          <a:xfrm xmlns:a="http://schemas.openxmlformats.org/drawingml/2006/main">
            <a:off x="685800" y="4953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83D30"/>
                </a:solidFill>
                <a:latin typeface="Helvetica Neue"/>
                <a:ea typeface="Helvetica Neue"/>
                <a:cs typeface="Helvetica Neue"/>
              </a:defRPr>
            </a:pPr>
            <a:r>
              <a:rPr sz="3600" b="1">
                <a:solidFill>
                  <a:srgbClr val="183D30"/>
                </a:solidFill>
                <a:latin typeface="Helvetica Neue"/>
                <a:ea typeface="Helvetica Neue"/>
                <a:cs typeface="Helvetica Neue"/>
              </a:rPr>
              <a:t>Open models shape the app</a:t>
            </a:r>
          </a:p>
        </p:txBody>
      </p:sp>
      <p:sp>
        <p:nvSpPr>
          <p:cNvPr id="2" name="">
            <a:extLst xmlns:a="http://schemas.openxmlformats.org/drawingml/2006/main">
              <a:ext uri="{FF2B5EF4-FFF2-40B4-BE49-F238E27FC236}">
                <a16:creationId xmlns:a16="http://schemas.microsoft.com/office/drawing/2014/main" id="{E7FE9A00-9518-4D99-A969-F26763DA2317}"/>
              </a:ext>
            </a:extLst>
          </p:cNvPr>
          <p:cNvSpPr>
            <a:spLocks xmlns:a="http://schemas.openxmlformats.org/drawingml/2006/main" noGrp="1"/>
          </p:cNvSpPr>
          <p:nvPr/>
        </p:nvSpPr>
        <p:spPr>
          <a:xfrm xmlns:a="http://schemas.openxmlformats.org/drawingml/2006/main">
            <a:off x="723900" y="1362075"/>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53675B"/>
                </a:solidFill>
                <a:latin typeface="Helvetica Neue"/>
                <a:ea typeface="Helvetica Neue"/>
                <a:cs typeface="Helvetica Neue"/>
              </a:defRPr>
            </a:pPr>
            <a:r>
              <a:rPr sz="2250" b="0">
                <a:solidFill>
                  <a:srgbClr val="53675B"/>
                </a:solidFill>
                <a:latin typeface="Helvetica Neue"/>
                <a:ea typeface="Helvetica Neue"/>
                <a:cs typeface="Helvetica Neue"/>
              </a:rPr>
              <a:t>Served by Nebius Token Factory</a:t>
            </a:r>
          </a:p>
        </p:txBody>
      </p:sp>
      <p:sp>
        <p:nvSpPr>
          <p:cNvPr id="3" name="">
            <a:extLst xmlns:a="http://schemas.openxmlformats.org/drawingml/2006/main">
              <a:ext uri="{FF2B5EF4-FFF2-40B4-BE49-F238E27FC236}">
                <a16:creationId xmlns:a16="http://schemas.microsoft.com/office/drawing/2014/main" id="{B83F4BF6-CF59-4066-A022-9E82F3B152AE}"/>
              </a:ext>
            </a:extLst>
          </p:cNvPr>
          <p:cNvSpPr>
            <a:spLocks xmlns:a="http://schemas.openxmlformats.org/drawingml/2006/main" noGrp="1"/>
          </p:cNvSpPr>
          <p:nvPr/>
        </p:nvSpPr>
        <p:spPr>
          <a:xfrm xmlns:a="http://schemas.openxmlformats.org/drawingml/2006/main">
            <a:off x="723900" y="236220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276A50"/>
                </a:solidFill>
                <a:latin typeface="Helvetica Neue"/>
                <a:ea typeface="Helvetica Neue"/>
                <a:cs typeface="Helvetica Neue"/>
              </a:defRPr>
            </a:pPr>
            <a:r>
              <a:rPr sz="3000" b="1">
                <a:solidFill>
                  <a:srgbClr val="276A50"/>
                </a:solidFill>
                <a:latin typeface="Helvetica Neue"/>
                <a:ea typeface="Helvetica Neue"/>
                <a:cs typeface="Helvetica Neue"/>
              </a:rPr>
              <a:t>GLM-5.3-Flash</a:t>
            </a:r>
          </a:p>
        </p:txBody>
      </p:sp>
      <p:sp>
        <p:nvSpPr>
          <p:cNvPr id="4" name="">
            <a:extLst xmlns:a="http://schemas.openxmlformats.org/drawingml/2006/main">
              <a:ext uri="{FF2B5EF4-FFF2-40B4-BE49-F238E27FC236}">
                <a16:creationId xmlns:a16="http://schemas.microsoft.com/office/drawing/2014/main" id="{0A02BB65-0AEF-4CB4-9EE9-A9D94FF66D8A}"/>
              </a:ext>
            </a:extLst>
          </p:cNvPr>
          <p:cNvSpPr>
            <a:spLocks xmlns:a="http://schemas.openxmlformats.org/drawingml/2006/main" noGrp="1"/>
          </p:cNvSpPr>
          <p:nvPr/>
        </p:nvSpPr>
        <p:spPr>
          <a:xfrm xmlns:a="http://schemas.openxmlformats.org/drawingml/2006/main">
            <a:off x="723900" y="30861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75B"/>
                </a:solidFill>
                <a:latin typeface="Helvetica Neue"/>
                <a:ea typeface="Helvetica Neue"/>
                <a:cs typeface="Helvetica Neue"/>
              </a:defRPr>
            </a:pPr>
            <a:r>
              <a:rPr sz="1875" b="0">
                <a:solidFill>
                  <a:srgbClr val="53675B"/>
                </a:solidFill>
                <a:latin typeface="Helvetica Neue"/>
                <a:ea typeface="Helvetica Neue"/>
                <a:cs typeface="Helvetica Neue"/>
              </a:rPr>
              <a:t>Low reasoning effort</a:t>
            </a:r>
          </a:p>
        </p:txBody>
      </p:sp>
      <p:sp>
        <p:nvSpPr>
          <p:cNvPr id="5" name="">
            <a:extLst xmlns:a="http://schemas.openxmlformats.org/drawingml/2006/main">
              <a:ext uri="{FF2B5EF4-FFF2-40B4-BE49-F238E27FC236}">
                <a16:creationId xmlns:a16="http://schemas.microsoft.com/office/drawing/2014/main" id="{77AF96B0-F4E9-4080-ABAA-164FE0B255FA}"/>
              </a:ext>
            </a:extLst>
          </p:cNvPr>
          <p:cNvSpPr>
            <a:spLocks xmlns:a="http://schemas.openxmlformats.org/drawingml/2006/main" noGrp="1"/>
          </p:cNvSpPr>
          <p:nvPr/>
        </p:nvSpPr>
        <p:spPr>
          <a:xfrm xmlns:a="http://schemas.openxmlformats.org/drawingml/2006/main">
            <a:off x="723900" y="3724275"/>
            <a:ext cx="4953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30"/>
                </a:solidFill>
                <a:latin typeface="Helvetica Neue"/>
                <a:ea typeface="Helvetica Neue"/>
                <a:cs typeface="Helvetica Neue"/>
              </a:defRPr>
            </a:pPr>
            <a:r>
              <a:rPr sz="2325" b="0">
                <a:solidFill>
                  <a:srgbClr val="183D30"/>
                </a:solidFill>
                <a:latin typeface="Helvetica Neue"/>
                <a:ea typeface="Helvetica Neue"/>
                <a:cs typeface="Helvetica Neue"/>
              </a:rPr>
              <a:t>Suggest three workflows</a:t>
            </a:r>
          </a:p>
          <a:p xmlns:a="http://schemas.openxmlformats.org/drawingml/2006/main">
            <a:pPr>
              <a:buNone/>
              <a:defRPr sz="2325" b="0">
                <a:solidFill>
                  <a:srgbClr val="183D30"/>
                </a:solidFill>
                <a:latin typeface="Helvetica Neue"/>
                <a:ea typeface="Helvetica Neue"/>
                <a:cs typeface="Helvetica Neue"/>
              </a:defRPr>
            </a:pPr>
            <a:r>
              <a:rPr sz="2325" b="0">
                <a:solidFill>
                  <a:srgbClr val="183D30"/>
                </a:solidFill>
                <a:latin typeface="Helvetica Neue"/>
                <a:ea typeface="Helvetica Neue"/>
                <a:cs typeface="Helvetica Neue"/>
              </a:rPr>
              <a:t>from the sheet’s structure</a:t>
            </a:r>
          </a:p>
          <a:p xmlns:a="http://schemas.openxmlformats.org/drawingml/2006/main">
            <a:pPr>
              <a:buNone/>
              <a:defRPr sz="2325" b="0">
                <a:solidFill>
                  <a:srgbClr val="183D30"/>
                </a:solidFill>
                <a:latin typeface="Helvetica Neue"/>
                <a:ea typeface="Helvetica Neue"/>
                <a:cs typeface="Helvetica Neue"/>
              </a:defRPr>
            </a:pPr>
            <a:r>
              <a:rPr sz="2325" b="0">
                <a:solidFill>
                  <a:srgbClr val="183D30"/>
                </a:solidFill>
                <a:latin typeface="Helvetica Neue"/>
                <a:ea typeface="Helvetica Neue"/>
                <a:cs typeface="Helvetica Neue"/>
              </a:rPr>
              <a:t>and sample values.</a:t>
            </a:r>
          </a:p>
        </p:txBody>
      </p:sp>
      <p:sp>
        <p:nvSpPr>
          <p:cNvPr id="6" name="">
            <a:extLst xmlns:a="http://schemas.openxmlformats.org/drawingml/2006/main">
              <a:ext uri="{FF2B5EF4-FFF2-40B4-BE49-F238E27FC236}">
                <a16:creationId xmlns:a16="http://schemas.microsoft.com/office/drawing/2014/main" id="{9A150BE4-6E83-4BDE-A863-BA9C1AAB9CB1}"/>
              </a:ext>
            </a:extLst>
          </p:cNvPr>
          <p:cNvSpPr>
            <a:spLocks xmlns:a="http://schemas.openxmlformats.org/drawingml/2006/main" noGrp="1"/>
          </p:cNvSpPr>
          <p:nvPr/>
        </p:nvSpPr>
        <p:spPr>
          <a:xfrm xmlns:a="http://schemas.openxmlformats.org/drawingml/2006/main">
            <a:off x="6667500" y="2362200"/>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276A50"/>
                </a:solidFill>
                <a:latin typeface="Helvetica Neue"/>
                <a:ea typeface="Helvetica Neue"/>
                <a:cs typeface="Helvetica Neue"/>
              </a:defRPr>
            </a:pPr>
            <a:r>
              <a:rPr sz="3000" b="1">
                <a:solidFill>
                  <a:srgbClr val="276A50"/>
                </a:solidFill>
                <a:latin typeface="Helvetica Neue"/>
                <a:ea typeface="Helvetica Neue"/>
                <a:cs typeface="Helvetica Neue"/>
              </a:rPr>
              <a:t>GLM-5.3</a:t>
            </a:r>
          </a:p>
        </p:txBody>
      </p:sp>
      <p:sp>
        <p:nvSpPr>
          <p:cNvPr id="7" name="">
            <a:extLst xmlns:a="http://schemas.openxmlformats.org/drawingml/2006/main">
              <a:ext uri="{FF2B5EF4-FFF2-40B4-BE49-F238E27FC236}">
                <a16:creationId xmlns:a16="http://schemas.microsoft.com/office/drawing/2014/main" id="{BEA29E14-B2FC-4D3D-AE3F-BEA632A123AD}"/>
              </a:ext>
            </a:extLst>
          </p:cNvPr>
          <p:cNvSpPr>
            <a:spLocks xmlns:a="http://schemas.openxmlformats.org/drawingml/2006/main" noGrp="1"/>
          </p:cNvSpPr>
          <p:nvPr/>
        </p:nvSpPr>
        <p:spPr>
          <a:xfrm xmlns:a="http://schemas.openxmlformats.org/drawingml/2006/main">
            <a:off x="6667500" y="3086100"/>
            <a:ext cx="466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75B"/>
                </a:solidFill>
                <a:latin typeface="Helvetica Neue"/>
                <a:ea typeface="Helvetica Neue"/>
                <a:cs typeface="Helvetica Neue"/>
              </a:defRPr>
            </a:pPr>
            <a:r>
              <a:rPr sz="1875" b="0">
                <a:solidFill>
                  <a:srgbClr val="53675B"/>
                </a:solidFill>
                <a:latin typeface="Helvetica Neue"/>
                <a:ea typeface="Helvetica Neue"/>
                <a:cs typeface="Helvetica Neue"/>
              </a:rPr>
              <a:t>High reasoning effort</a:t>
            </a:r>
          </a:p>
        </p:txBody>
      </p:sp>
      <p:sp>
        <p:nvSpPr>
          <p:cNvPr id="8" name="">
            <a:extLst xmlns:a="http://schemas.openxmlformats.org/drawingml/2006/main">
              <a:ext uri="{FF2B5EF4-FFF2-40B4-BE49-F238E27FC236}">
                <a16:creationId xmlns:a16="http://schemas.microsoft.com/office/drawing/2014/main" id="{0B2AE0C7-F4DF-4BD5-A4B8-AB7B2EB23635}"/>
              </a:ext>
            </a:extLst>
          </p:cNvPr>
          <p:cNvSpPr>
            <a:spLocks xmlns:a="http://schemas.openxmlformats.org/drawingml/2006/main" noGrp="1"/>
          </p:cNvSpPr>
          <p:nvPr/>
        </p:nvSpPr>
        <p:spPr>
          <a:xfrm xmlns:a="http://schemas.openxmlformats.org/drawingml/2006/main">
            <a:off x="6667500" y="3724275"/>
            <a:ext cx="4667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30"/>
                </a:solidFill>
                <a:latin typeface="Helvetica Neue"/>
                <a:ea typeface="Helvetica Neue"/>
                <a:cs typeface="Helvetica Neue"/>
              </a:defRPr>
            </a:pPr>
            <a:r>
              <a:rPr sz="2325" b="0">
                <a:solidFill>
                  <a:srgbClr val="183D30"/>
                </a:solidFill>
                <a:latin typeface="Helvetica Neue"/>
                <a:ea typeface="Helvetica Neue"/>
                <a:cs typeface="Helvetica Neue"/>
              </a:rPr>
              <a:t>Generate and edit an app</a:t>
            </a:r>
          </a:p>
          <a:p xmlns:a="http://schemas.openxmlformats.org/drawingml/2006/main">
            <a:pPr>
              <a:buNone/>
              <a:defRPr sz="2325" b="0">
                <a:solidFill>
                  <a:srgbClr val="183D30"/>
                </a:solidFill>
                <a:latin typeface="Helvetica Neue"/>
                <a:ea typeface="Helvetica Neue"/>
                <a:cs typeface="Helvetica Neue"/>
              </a:defRPr>
            </a:pPr>
            <a:r>
              <a:rPr sz="2325" b="0">
                <a:solidFill>
                  <a:srgbClr val="183D30"/>
                </a:solidFill>
                <a:latin typeface="Helvetica Neue"/>
                <a:ea typeface="Helvetica Neue"/>
                <a:cs typeface="Helvetica Neue"/>
              </a:rPr>
              <a:t>specification that must pass</a:t>
            </a:r>
          </a:p>
          <a:p xmlns:a="http://schemas.openxmlformats.org/drawingml/2006/main">
            <a:pPr>
              <a:buNone/>
              <a:defRPr sz="2325" b="0">
                <a:solidFill>
                  <a:srgbClr val="183D30"/>
                </a:solidFill>
                <a:latin typeface="Helvetica Neue"/>
                <a:ea typeface="Helvetica Neue"/>
                <a:cs typeface="Helvetica Neue"/>
              </a:defRPr>
            </a:pPr>
            <a:r>
              <a:rPr sz="2325" b="0">
                <a:solidFill>
                  <a:srgbClr val="183D30"/>
                </a:solidFill>
                <a:latin typeface="Helvetica Neue"/>
                <a:ea typeface="Helvetica Neue"/>
                <a:cs typeface="Helvetica Neue"/>
              </a:rPr>
              <a:t>server validation.</a:t>
            </a:r>
          </a:p>
        </p:txBody>
      </p:sp>
      <p:sp>
        <p:nvSpPr>
          <p:cNvPr id="9" name="">
            <a:extLst xmlns:a="http://schemas.openxmlformats.org/drawingml/2006/main">
              <a:ext uri="{FF2B5EF4-FFF2-40B4-BE49-F238E27FC236}">
                <a16:creationId xmlns:a16="http://schemas.microsoft.com/office/drawing/2014/main" id="{E06374ED-54B4-467A-B2D3-699E5EC210F2}"/>
              </a:ext>
            </a:extLst>
          </p:cNvPr>
          <p:cNvSpPr>
            <a:spLocks xmlns:a="http://schemas.openxmlformats.org/drawingml/2006/main" noGrp="1"/>
          </p:cNvSpPr>
          <p:nvPr/>
        </p:nvSpPr>
        <p:spPr>
          <a:xfrm xmlns:a="http://schemas.openxmlformats.org/drawingml/2006/main">
            <a:off x="723900" y="5848350"/>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83D30"/>
                </a:solidFill>
                <a:latin typeface="Helvetica Neue"/>
                <a:ea typeface="Helvetica Neue"/>
                <a:cs typeface="Helvetica Neue"/>
              </a:defRPr>
            </a:pPr>
            <a:r>
              <a:rPr sz="1950" b="1">
                <a:solidFill>
                  <a:srgbClr val="183D30"/>
                </a:solidFill>
                <a:latin typeface="Helvetica Neue"/>
                <a:ea typeface="Helvetica Neue"/>
                <a:cs typeface="Helvetica Neue"/>
              </a:rPr>
              <a:t>Structured JSON. Exact sheet columns. One validation retry.</a:t>
            </a:r>
          </a:p>
        </p:txBody>
      </p:sp>
    </p:spTree>
    <p:extLst>
      <p:ext uri="{BB962C8B-B14F-4D97-AF65-F5344CB8AC3E}">
        <p14:creationId xmlns:p14="http://schemas.microsoft.com/office/powerpoint/2010/main" val="2131009663"/>
      </p:ext>
    </p:extLst>
  </p:cSld>
</p:sld>
</file>

<file path=ppt/slides/slide5.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29925F8-34E2-4AF9-AFFC-6886F519AB1E}"/>
              </a:ext>
            </a:extLst>
          </p:cNvPr>
          <p:cNvSpPr>
            <a:spLocks xmlns:a="http://schemas.openxmlformats.org/drawingml/2006/main" noGrp="1"/>
          </p:cNvSpPr>
          <p:nvPr/>
        </p:nvSpPr>
        <p:spPr>
          <a:xfrm xmlns:a="http://schemas.openxmlformats.org/drawingml/2006/main">
            <a:off x="685800" y="4953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83D30"/>
                </a:solidFill>
                <a:latin typeface="Helvetica Neue"/>
                <a:ea typeface="Helvetica Neue"/>
                <a:cs typeface="Helvetica Neue"/>
              </a:defRPr>
            </a:pPr>
            <a:r>
              <a:rPr sz="3600" b="1">
                <a:solidFill>
                  <a:srgbClr val="183D30"/>
                </a:solidFill>
                <a:latin typeface="Helvetica Neue"/>
                <a:ea typeface="Helvetica Neue"/>
                <a:cs typeface="Helvetica Neue"/>
              </a:rPr>
              <a:t>A measured model tradeoff</a:t>
            </a:r>
          </a:p>
        </p:txBody>
      </p:sp>
      <p:sp>
        <p:nvSpPr>
          <p:cNvPr id="2" name="">
            <a:extLst xmlns:a="http://schemas.openxmlformats.org/drawingml/2006/main">
              <a:ext uri="{FF2B5EF4-FFF2-40B4-BE49-F238E27FC236}">
                <a16:creationId xmlns:a16="http://schemas.microsoft.com/office/drawing/2014/main" id="{255320BF-5A93-4B97-85FA-4E5B4CEA2B9D}"/>
              </a:ext>
            </a:extLst>
          </p:cNvPr>
          <p:cNvSpPr>
            <a:spLocks xmlns:a="http://schemas.openxmlformats.org/drawingml/2006/main" noGrp="1"/>
          </p:cNvSpPr>
          <p:nvPr/>
        </p:nvSpPr>
        <p:spPr>
          <a:xfrm xmlns:a="http://schemas.openxmlformats.org/drawingml/2006/main">
            <a:off x="723900" y="133350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276A50"/>
                </a:solidFill>
                <a:latin typeface="Helvetica Neue"/>
                <a:ea typeface="Helvetica Neue"/>
                <a:cs typeface="Helvetica Neue"/>
              </a:defRPr>
            </a:pPr>
            <a:r>
              <a:rPr sz="2175" b="1">
                <a:solidFill>
                  <a:srgbClr val="276A50"/>
                </a:solidFill>
                <a:latin typeface="Helvetica Neue"/>
                <a:ea typeface="Helvetica Neue"/>
                <a:cs typeface="Helvetica Neue"/>
              </a:rPr>
              <a:t>Five tasks, identical prompts and high reasoning effort.</a:t>
            </a:r>
          </a:p>
        </p:txBody>
      </p:sp>
      <p:graphicFrame>
        <p:nvGraphicFramePr>
          <p:cNvPr id="9" name=""/>
          <p:cNvGraphicFramePr/>
          <p:nvPr/>
        </p:nvGraphicFramePr>
        <p:xfrm>
          <a:off xmlns:a="http://schemas.openxmlformats.org/drawingml/2006/main" x="723900" y="2124075"/>
          <a:ext xmlns:a="http://schemas.openxmlformats.org/drawingml/2006/main" cx="10744200" cy="2914650"/>
        </p:xfrm>
        <a:graphic xmlns:a="http://schemas.openxmlformats.org/drawingml/2006/main">
          <a:graphicData uri="http://schemas.openxmlformats.org/drawingml/2006/table">
            <a:tbl>
              <a:tblPr firstRow="0" bandRow="0"/>
              <a:tblGrid>
                <a:gridCol w="5238750"/>
                <a:gridCol w="5505450"/>
              </a:tblGrid>
              <a:tr h="485775">
                <a:tc>
                  <a:txBody>
                    <a:bodyPr>
                      <a:noAutofit/>
                    </a:bodyPr>
                    <a:lstStyle/>
                    <a:p>
                      <a:r>
                        <a:rPr sz="2025" b="1">
                          <a:solidFill>
                            <a:srgbClr val="F5F3EC"/>
                          </a:solidFill>
                          <a:latin typeface="Helvetica Neue"/>
                          <a:ea typeface="Helvetica Neue"/>
                          <a:cs typeface="Helvetica Neue"/>
                        </a:rPr>
                        <a:t>GLM-5.3</a:t>
                      </a:r>
                    </a:p>
                  </a:txBody>
                  <a:tcPr marL="91440" marR="91440" marT="45720" marB="45720">
                    <a:solidFill>
                      <a:srgbClr val="183D30"/>
                    </a:solidFill>
                  </a:tcPr>
                </a:tc>
                <a:tc>
                  <a:txBody>
                    <a:bodyPr>
                      <a:noAutofit/>
                    </a:bodyPr>
                    <a:lstStyle/>
                    <a:p>
                      <a:r>
                        <a:rPr sz="2025" b="1">
                          <a:solidFill>
                            <a:srgbClr val="F5F3EC"/>
                          </a:solidFill>
                          <a:latin typeface="Helvetica Neue"/>
                          <a:ea typeface="Helvetica Neue"/>
                          <a:cs typeface="Helvetica Neue"/>
                        </a:rPr>
                        <a:t>GLM-5.3-Flash</a:t>
                      </a:r>
                    </a:p>
                  </a:txBody>
                  <a:tcPr marL="91440" marR="91440" marT="45720" marB="45720">
                    <a:solidFill>
                      <a:srgbClr val="183D30"/>
                    </a:solidFill>
                  </a:tcPr>
                </a:tc>
              </a:tr>
              <a:tr h="485775">
                <a:tc>
                  <a:txBody>
                    <a:bodyPr>
                      <a:noAutofit/>
                    </a:bodyPr>
                    <a:lstStyle/>
                    <a:p>
                      <a:r>
                        <a:rPr sz="2025" b="0">
                          <a:solidFill>
                            <a:srgbClr val="183D30"/>
                          </a:solidFill>
                          <a:latin typeface="Helvetica Neue"/>
                          <a:ea typeface="Helvetica Neue"/>
                          <a:cs typeface="Helvetica Neue"/>
                        </a:rPr>
                        <a:t>Schema checks: 5/5</a:t>
                      </a:r>
                    </a:p>
                  </a:txBody>
                  <a:tcPr marL="91440" marR="91440" marT="45720" marB="45720">
                    <a:solidFill>
                      <a:srgbClr val="F5F3EC"/>
                    </a:solidFill>
                  </a:tcPr>
                </a:tc>
                <a:tc>
                  <a:txBody>
                    <a:bodyPr>
                      <a:noAutofit/>
                    </a:bodyPr>
                    <a:lstStyle/>
                    <a:p>
                      <a:r>
                        <a:rPr sz="2025" b="0">
                          <a:solidFill>
                            <a:srgbClr val="183D30"/>
                          </a:solidFill>
                          <a:latin typeface="Helvetica Neue"/>
                          <a:ea typeface="Helvetica Neue"/>
                          <a:cs typeface="Helvetica Neue"/>
                        </a:rPr>
                        <a:t>Schema checks: 5/5</a:t>
                      </a:r>
                    </a:p>
                  </a:txBody>
                  <a:tcPr marL="91440" marR="91440" marT="45720" marB="45720">
                    <a:solidFill>
                      <a:srgbClr val="F5F3EC"/>
                    </a:solidFill>
                  </a:tcPr>
                </a:tc>
              </a:tr>
              <a:tr h="485775">
                <a:tc>
                  <a:txBody>
                    <a:bodyPr>
                      <a:noAutofit/>
                    </a:bodyPr>
                    <a:lstStyle/>
                    <a:p>
                      <a:r>
                        <a:rPr sz="2025" b="1">
                          <a:solidFill>
                            <a:srgbClr val="183D30"/>
                          </a:solidFill>
                          <a:latin typeface="Helvetica Neue"/>
                          <a:ea typeface="Helvetica Neue"/>
                          <a:cs typeface="Helvetica Neue"/>
                        </a:rPr>
                        <a:t>Task checklist: 3/5</a:t>
                      </a:r>
                    </a:p>
                  </a:txBody>
                  <a:tcPr marL="91440" marR="91440" marT="45720" marB="45720">
                    <a:solidFill>
                      <a:srgbClr val="F5F3EC"/>
                    </a:solidFill>
                  </a:tcPr>
                </a:tc>
                <a:tc>
                  <a:txBody>
                    <a:bodyPr>
                      <a:noAutofit/>
                    </a:bodyPr>
                    <a:lstStyle/>
                    <a:p>
                      <a:r>
                        <a:rPr sz="2025" b="1">
                          <a:solidFill>
                            <a:srgbClr val="183D30"/>
                          </a:solidFill>
                          <a:latin typeface="Helvetica Neue"/>
                          <a:ea typeface="Helvetica Neue"/>
                          <a:cs typeface="Helvetica Neue"/>
                        </a:rPr>
                        <a:t>Task checklist: 4/5</a:t>
                      </a:r>
                    </a:p>
                  </a:txBody>
                  <a:tcPr marL="91440" marR="91440" marT="45720" marB="45720">
                    <a:solidFill>
                      <a:srgbClr val="F5F3EC"/>
                    </a:solidFill>
                  </a:tcPr>
                </a:tc>
              </a:tr>
              <a:tr h="485775">
                <a:tc>
                  <a:txBody>
                    <a:bodyPr>
                      <a:noAutofit/>
                    </a:bodyPr>
                    <a:lstStyle/>
                    <a:p>
                      <a:r>
                        <a:rPr sz="2025" b="0">
                          <a:solidFill>
                            <a:srgbClr val="183D30"/>
                          </a:solidFill>
                          <a:latin typeface="Helvetica Neue"/>
                          <a:ea typeface="Helvetica Neue"/>
                          <a:cs typeface="Helvetica Neue"/>
                        </a:rPr>
                        <a:t>Median: 4.64 seconds</a:t>
                      </a:r>
                    </a:p>
                  </a:txBody>
                  <a:tcPr marL="91440" marR="91440" marT="45720" marB="45720">
                    <a:solidFill>
                      <a:srgbClr val="F5F3EC"/>
                    </a:solidFill>
                  </a:tcPr>
                </a:tc>
                <a:tc>
                  <a:txBody>
                    <a:bodyPr>
                      <a:noAutofit/>
                    </a:bodyPr>
                    <a:lstStyle/>
                    <a:p>
                      <a:r>
                        <a:rPr sz="2025" b="0">
                          <a:solidFill>
                            <a:srgbClr val="183D30"/>
                          </a:solidFill>
                          <a:latin typeface="Helvetica Neue"/>
                          <a:ea typeface="Helvetica Neue"/>
                          <a:cs typeface="Helvetica Neue"/>
                        </a:rPr>
                        <a:t>Median: 5.35 seconds</a:t>
                      </a:r>
                    </a:p>
                  </a:txBody>
                  <a:tcPr marL="91440" marR="91440" marT="45720" marB="45720">
                    <a:solidFill>
                      <a:srgbClr val="F5F3EC"/>
                    </a:solidFill>
                  </a:tcPr>
                </a:tc>
              </a:tr>
              <a:tr h="485775">
                <a:tc>
                  <a:txBody>
                    <a:bodyPr>
                      <a:noAutofit/>
                    </a:bodyPr>
                    <a:lstStyle/>
                    <a:p>
                      <a:r>
                        <a:rPr sz="2025" b="0">
                          <a:solidFill>
                            <a:srgbClr val="183D30"/>
                          </a:solidFill>
                          <a:latin typeface="Helvetica Neue"/>
                          <a:ea typeface="Helvetica Neue"/>
                          <a:cs typeface="Helvetica Neue"/>
                        </a:rPr>
                        <a:t>Range: 3.67–6.31 seconds</a:t>
                      </a:r>
                    </a:p>
                  </a:txBody>
                  <a:tcPr marL="91440" marR="91440" marT="45720" marB="45720">
                    <a:solidFill>
                      <a:srgbClr val="F5F3EC"/>
                    </a:solidFill>
                  </a:tcPr>
                </a:tc>
                <a:tc>
                  <a:txBody>
                    <a:bodyPr>
                      <a:noAutofit/>
                    </a:bodyPr>
                    <a:lstStyle/>
                    <a:p>
                      <a:r>
                        <a:rPr sz="2025" b="0">
                          <a:solidFill>
                            <a:srgbClr val="183D30"/>
                          </a:solidFill>
                          <a:latin typeface="Helvetica Neue"/>
                          <a:ea typeface="Helvetica Neue"/>
                          <a:cs typeface="Helvetica Neue"/>
                        </a:rPr>
                        <a:t>Range: 3.33–7.23 seconds</a:t>
                      </a:r>
                    </a:p>
                  </a:txBody>
                  <a:tcPr marL="91440" marR="91440" marT="45720" marB="45720">
                    <a:solidFill>
                      <a:srgbClr val="F5F3EC"/>
                    </a:solidFill>
                  </a:tcPr>
                </a:tc>
              </a:tr>
              <a:tr h="485775">
                <a:tc>
                  <a:txBody>
                    <a:bodyPr>
                      <a:noAutofit/>
                    </a:bodyPr>
                    <a:lstStyle/>
                    <a:p>
                      <a:r>
                        <a:rPr sz="2025" b="0">
                          <a:solidFill>
                            <a:srgbClr val="183D30"/>
                          </a:solidFill>
                          <a:latin typeface="Helvetica Neue"/>
                          <a:ea typeface="Helvetica Neue"/>
                          <a:cs typeface="Helvetica Neue"/>
                        </a:rPr>
                        <a:t>5 requests at high effort</a:t>
                      </a:r>
                    </a:p>
                  </a:txBody>
                  <a:tcPr marL="91440" marR="91440" marT="45720" marB="45720">
                    <a:solidFill>
                      <a:srgbClr val="F5F3EC"/>
                    </a:solidFill>
                  </a:tcPr>
                </a:tc>
                <a:tc>
                  <a:txBody>
                    <a:bodyPr>
                      <a:noAutofit/>
                    </a:bodyPr>
                    <a:lstStyle/>
                    <a:p>
                      <a:r>
                        <a:rPr sz="2025" b="0">
                          <a:solidFill>
                            <a:srgbClr val="183D30"/>
                          </a:solidFill>
                          <a:latin typeface="Helvetica Neue"/>
                          <a:ea typeface="Helvetica Neue"/>
                          <a:cs typeface="Helvetica Neue"/>
                        </a:rPr>
                        <a:t>5 requests at high effort</a:t>
                      </a:r>
                    </a:p>
                  </a:txBody>
                  <a:tcPr marL="91440" marR="91440" marT="45720" marB="45720">
                    <a:solidFill>
                      <a:srgbClr val="F5F3EC"/>
                    </a:solidFill>
                  </a:tcPr>
                </a:tc>
              </a:tr>
            </a:tbl>
          </a:graphicData>
        </a:graphic>
      </p:graphicFrame>
      <p:sp>
        <p:nvSpPr>
          <p:cNvPr id="4" name="">
            <a:extLst xmlns:a="http://schemas.openxmlformats.org/drawingml/2006/main">
              <a:ext uri="{FF2B5EF4-FFF2-40B4-BE49-F238E27FC236}">
                <a16:creationId xmlns:a16="http://schemas.microsoft.com/office/drawing/2014/main" id="{85CDBD33-754E-4E69-840A-304F3D3A5EFE}"/>
              </a:ext>
            </a:extLst>
          </p:cNvPr>
          <p:cNvSpPr>
            <a:spLocks xmlns:a="http://schemas.openxmlformats.org/drawingml/2006/main" noGrp="1"/>
          </p:cNvSpPr>
          <p:nvPr/>
        </p:nvSpPr>
        <p:spPr>
          <a:xfrm xmlns:a="http://schemas.openxmlformats.org/drawingml/2006/main">
            <a:off x="723900" y="5429250"/>
            <a:ext cx="10744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75B"/>
                </a:solidFill>
                <a:latin typeface="Helvetica Neue"/>
                <a:ea typeface="Helvetica Neue"/>
                <a:cs typeface="Helvetica Neue"/>
              </a:defRPr>
            </a:pPr>
            <a:r>
              <a:rPr sz="1875" b="0">
                <a:solidFill>
                  <a:srgbClr val="53675B"/>
                </a:solidFill>
                <a:latin typeface="Helvetica Neue"/>
                <a:ea typeface="Helvetica Neue"/>
                <a:cs typeface="Helvetica Neue"/>
              </a:rPr>
              <a:t>Small pilot, one request per fixture. Static specification review.</a:t>
            </a:r>
          </a:p>
          <a:p xmlns:a="http://schemas.openxmlformats.org/drawingml/2006/main">
            <a:pPr>
              <a:buNone/>
              <a:defRPr sz="1875" b="0">
                <a:solidFill>
                  <a:srgbClr val="53675B"/>
                </a:solidFill>
                <a:latin typeface="Helvetica Neue"/>
                <a:ea typeface="Helvetica Neue"/>
                <a:cs typeface="Helvetica Neue"/>
              </a:defRPr>
            </a:pPr>
            <a:r>
              <a:rPr sz="1875" b="0">
                <a:solidFill>
                  <a:srgbClr val="53675B"/>
                </a:solidFill>
                <a:latin typeface="Helvetica Neue"/>
                <a:ea typeface="Helvetica Neue"/>
                <a:cs typeface="Helvetica Neue"/>
              </a:rPr>
              <a:t>Flash met one more checklist; GLM-5.3 had lower median latency.</a:t>
            </a:r>
          </a:p>
        </p:txBody>
      </p:sp>
    </p:spTree>
    <p:extLst>
      <p:ext uri="{BB962C8B-B14F-4D97-AF65-F5344CB8AC3E}">
        <p14:creationId xmlns:p14="http://schemas.microsoft.com/office/powerpoint/2010/main" val="1134148648"/>
      </p:ext>
    </p:extLst>
  </p:cSld>
</p:sld>
</file>

<file path=ppt/slides/slide6.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A586A82-DC83-49EB-81E4-F8E122DA2A0B}"/>
              </a:ext>
            </a:extLst>
          </p:cNvPr>
          <p:cNvSpPr>
            <a:spLocks xmlns:a="http://schemas.openxmlformats.org/drawingml/2006/main" noGrp="1"/>
          </p:cNvSpPr>
          <p:nvPr/>
        </p:nvSpPr>
        <p:spPr>
          <a:xfrm xmlns:a="http://schemas.openxmlformats.org/drawingml/2006/main">
            <a:off x="685800" y="4953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83D30"/>
                </a:solidFill>
                <a:latin typeface="Helvetica Neue"/>
                <a:ea typeface="Helvetica Neue"/>
                <a:cs typeface="Helvetica Neue"/>
              </a:defRPr>
            </a:pPr>
            <a:r>
              <a:rPr sz="3600" b="1">
                <a:solidFill>
                  <a:srgbClr val="183D30"/>
                </a:solidFill>
                <a:latin typeface="Helvetica Neue"/>
                <a:ea typeface="Helvetica Neue"/>
                <a:cs typeface="Helvetica Neue"/>
              </a:rPr>
              <a:t>Responsible design</a:t>
            </a:r>
          </a:p>
        </p:txBody>
      </p:sp>
      <p:sp>
        <p:nvSpPr>
          <p:cNvPr id="2" name="">
            <a:extLst xmlns:a="http://schemas.openxmlformats.org/drawingml/2006/main">
              <a:ext uri="{FF2B5EF4-FFF2-40B4-BE49-F238E27FC236}">
                <a16:creationId xmlns:a16="http://schemas.microsoft.com/office/drawing/2014/main" id="{C0EB436F-AF46-4FD7-9836-CE342AE0DF66}"/>
              </a:ext>
            </a:extLst>
          </p:cNvPr>
          <p:cNvSpPr>
            <a:spLocks xmlns:a="http://schemas.openxmlformats.org/drawingml/2006/main" noGrp="1"/>
          </p:cNvSpPr>
          <p:nvPr/>
        </p:nvSpPr>
        <p:spPr>
          <a:xfrm xmlns:a="http://schemas.openxmlformats.org/drawingml/2006/main">
            <a:off x="723900" y="2000250"/>
            <a:ext cx="4953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276A50"/>
                </a:solidFill>
                <a:latin typeface="Helvetica Neue"/>
                <a:ea typeface="Helvetica Neue"/>
                <a:cs typeface="Helvetica Neue"/>
              </a:defRPr>
            </a:pPr>
            <a:r>
              <a:rPr sz="2625" b="1">
                <a:solidFill>
                  <a:srgbClr val="276A50"/>
                </a:solidFill>
                <a:latin typeface="Helvetica Neue"/>
                <a:ea typeface="Helvetica Neue"/>
                <a:cs typeface="Helvetica Neue"/>
              </a:rPr>
              <a:t>Bounded generation</a:t>
            </a:r>
          </a:p>
        </p:txBody>
      </p:sp>
      <p:sp>
        <p:nvSpPr>
          <p:cNvPr id="3" name="">
            <a:extLst xmlns:a="http://schemas.openxmlformats.org/drawingml/2006/main">
              <a:ext uri="{FF2B5EF4-FFF2-40B4-BE49-F238E27FC236}">
                <a16:creationId xmlns:a16="http://schemas.microsoft.com/office/drawing/2014/main" id="{8A807267-D48C-416B-9CFF-D3D75A9E5E3B}"/>
              </a:ext>
            </a:extLst>
          </p:cNvPr>
          <p:cNvSpPr>
            <a:spLocks xmlns:a="http://schemas.openxmlformats.org/drawingml/2006/main" noGrp="1"/>
          </p:cNvSpPr>
          <p:nvPr/>
        </p:nvSpPr>
        <p:spPr>
          <a:xfrm xmlns:a="http://schemas.openxmlformats.org/drawingml/2006/main">
            <a:off x="723900" y="2819400"/>
            <a:ext cx="5000625"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30"/>
                </a:solidFill>
                <a:latin typeface="Helvetica Neue"/>
                <a:ea typeface="Helvetica Neue"/>
                <a:cs typeface="Helvetica Neue"/>
              </a:defRPr>
            </a:pPr>
            <a:r>
              <a:rPr sz="2175" b="0">
                <a:solidFill>
                  <a:srgbClr val="183D30"/>
                </a:solidFill>
                <a:latin typeface="Helvetica Neue"/>
                <a:ea typeface="Helvetica Neue"/>
                <a:cs typeface="Helvetica Neue"/>
              </a:rPr>
              <a:t>Validate JSON against</a:t>
            </a:r>
          </a:p>
          <a:p xmlns:a="http://schemas.openxmlformats.org/drawingml/2006/main">
            <a:pPr>
              <a:buNone/>
              <a:defRPr sz="2175" b="0">
                <a:solidFill>
                  <a:srgbClr val="183D30"/>
                </a:solidFill>
                <a:latin typeface="Helvetica Neue"/>
                <a:ea typeface="Helvetica Neue"/>
                <a:cs typeface="Helvetica Neue"/>
              </a:defRPr>
            </a:pPr>
            <a:r>
              <a:rPr sz="2175" b="0">
                <a:solidFill>
                  <a:srgbClr val="183D30"/>
                </a:solidFill>
                <a:latin typeface="Helvetica Neue"/>
                <a:ea typeface="Helvetica Neue"/>
                <a:cs typeface="Helvetica Neue"/>
              </a:rPr>
              <a:t>the sheet’s actual columns.</a:t>
            </a:r>
          </a:p>
          <a:p xmlns:a="http://schemas.openxmlformats.org/drawingml/2006/main">
            <a:r>
              <a:t/>
            </a:r>
          </a:p>
          <a:p xmlns:a="http://schemas.openxmlformats.org/drawingml/2006/main">
            <a:pPr>
              <a:buNone/>
              <a:defRPr sz="2175" b="0">
                <a:solidFill>
                  <a:srgbClr val="183D30"/>
                </a:solidFill>
                <a:latin typeface="Helvetica Neue"/>
                <a:ea typeface="Helvetica Neue"/>
                <a:cs typeface="Helvetica Neue"/>
              </a:defRPr>
            </a:pPr>
            <a:r>
              <a:rPr sz="2175" b="0">
                <a:solidFill>
                  <a:srgbClr val="183D30"/>
                </a:solidFill>
                <a:latin typeface="Helvetica Neue"/>
                <a:ea typeface="Helvetica Neue"/>
                <a:cs typeface="Helvetica Neue"/>
              </a:rPr>
              <a:t>Enforce the app’s row</a:t>
            </a:r>
          </a:p>
          <a:p xmlns:a="http://schemas.openxmlformats.org/drawingml/2006/main">
            <a:pPr>
              <a:buNone/>
              <a:defRPr sz="2175" b="0">
                <a:solidFill>
                  <a:srgbClr val="183D30"/>
                </a:solidFill>
                <a:latin typeface="Helvetica Neue"/>
                <a:ea typeface="Helvetica Neue"/>
                <a:cs typeface="Helvetica Neue"/>
              </a:defRPr>
            </a:pPr>
            <a:r>
              <a:rPr sz="2175" b="0">
                <a:solidFill>
                  <a:srgbClr val="183D30"/>
                </a:solidFill>
                <a:latin typeface="Helvetica Neue"/>
                <a:ea typeface="Helvetica Neue"/>
                <a:cs typeface="Helvetica Neue"/>
              </a:rPr>
              <a:t>and editable-field rules.</a:t>
            </a:r>
          </a:p>
        </p:txBody>
      </p:sp>
      <p:sp>
        <p:nvSpPr>
          <p:cNvPr id="4" name="">
            <a:extLst xmlns:a="http://schemas.openxmlformats.org/drawingml/2006/main">
              <a:ext uri="{FF2B5EF4-FFF2-40B4-BE49-F238E27FC236}">
                <a16:creationId xmlns:a16="http://schemas.microsoft.com/office/drawing/2014/main" id="{00B78F60-94FF-4359-B7C2-F3E31B04C092}"/>
              </a:ext>
            </a:extLst>
          </p:cNvPr>
          <p:cNvSpPr>
            <a:spLocks xmlns:a="http://schemas.openxmlformats.org/drawingml/2006/main" noGrp="1"/>
          </p:cNvSpPr>
          <p:nvPr/>
        </p:nvSpPr>
        <p:spPr>
          <a:xfrm xmlns:a="http://schemas.openxmlformats.org/drawingml/2006/main">
            <a:off x="6667500" y="20002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276A50"/>
                </a:solidFill>
                <a:latin typeface="Helvetica Neue"/>
                <a:ea typeface="Helvetica Neue"/>
                <a:cs typeface="Helvetica Neue"/>
              </a:defRPr>
            </a:pPr>
            <a:r>
              <a:rPr sz="2400" b="1">
                <a:solidFill>
                  <a:srgbClr val="276A50"/>
                </a:solidFill>
                <a:latin typeface="Helvetica Neue"/>
                <a:ea typeface="Helvetica Neue"/>
                <a:cs typeface="Helvetica Neue"/>
              </a:rPr>
              <a:t>Clear data handling</a:t>
            </a:r>
          </a:p>
        </p:txBody>
      </p:sp>
      <p:sp>
        <p:nvSpPr>
          <p:cNvPr id="5" name="">
            <a:extLst xmlns:a="http://schemas.openxmlformats.org/drawingml/2006/main">
              <a:ext uri="{FF2B5EF4-FFF2-40B4-BE49-F238E27FC236}">
                <a16:creationId xmlns:a16="http://schemas.microsoft.com/office/drawing/2014/main" id="{0F85DC31-F6A5-4FC5-85AA-EBECC4971DC2}"/>
              </a:ext>
            </a:extLst>
          </p:cNvPr>
          <p:cNvSpPr>
            <a:spLocks xmlns:a="http://schemas.openxmlformats.org/drawingml/2006/main" noGrp="1"/>
          </p:cNvSpPr>
          <p:nvPr/>
        </p:nvSpPr>
        <p:spPr>
          <a:xfrm xmlns:a="http://schemas.openxmlformats.org/drawingml/2006/main">
            <a:off x="6667500" y="2819400"/>
            <a:ext cx="4810125"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3D30"/>
                </a:solidFill>
                <a:latin typeface="Helvetica Neue"/>
                <a:ea typeface="Helvetica Neue"/>
                <a:cs typeface="Helvetica Neue"/>
              </a:defRPr>
            </a:pPr>
            <a:r>
              <a:rPr sz="2100" b="0">
                <a:solidFill>
                  <a:srgbClr val="183D30"/>
                </a:solidFill>
                <a:latin typeface="Helvetica Neue"/>
                <a:ea typeface="Helvetica Neue"/>
                <a:cs typeface="Helvetica Neue"/>
              </a:rPr>
              <a:t>Backend: identity, OAuth tokens</a:t>
            </a:r>
          </a:p>
          <a:p xmlns:a="http://schemas.openxmlformats.org/drawingml/2006/main">
            <a:pPr>
              <a:buNone/>
              <a:defRPr sz="2100" b="0">
                <a:solidFill>
                  <a:srgbClr val="183D30"/>
                </a:solidFill>
                <a:latin typeface="Helvetica Neue"/>
                <a:ea typeface="Helvetica Neue"/>
                <a:cs typeface="Helvetica Neue"/>
              </a:defRPr>
            </a:pPr>
            <a:r>
              <a:rPr sz="2100" b="0">
                <a:solidFill>
                  <a:srgbClr val="183D30"/>
                </a:solidFill>
                <a:latin typeface="Helvetica Neue"/>
                <a:ea typeface="Helvetica Neue"/>
                <a:cs typeface="Helvetica Neue"/>
              </a:rPr>
              <a:t>and cached sheet samples.</a:t>
            </a:r>
          </a:p>
          <a:p xmlns:a="http://schemas.openxmlformats.org/drawingml/2006/main">
            <a:r>
              <a:t/>
            </a:r>
          </a:p>
          <a:p xmlns:a="http://schemas.openxmlformats.org/drawingml/2006/main">
            <a:pPr>
              <a:buNone/>
              <a:defRPr sz="2100" b="0">
                <a:solidFill>
                  <a:srgbClr val="183D30"/>
                </a:solidFill>
                <a:latin typeface="Helvetica Neue"/>
                <a:ea typeface="Helvetica Neue"/>
                <a:cs typeface="Helvetica Neue"/>
              </a:defRPr>
            </a:pPr>
            <a:r>
              <a:rPr sz="2100" b="0">
                <a:solidFill>
                  <a:srgbClr val="183D30"/>
                </a:solidFill>
                <a:latin typeface="Helvetica Neue"/>
                <a:ea typeface="Helvetica Neue"/>
                <a:cs typeface="Helvetica Neue"/>
              </a:rPr>
              <a:t>Nebius: schema, sample values</a:t>
            </a:r>
          </a:p>
          <a:p xmlns:a="http://schemas.openxmlformats.org/drawingml/2006/main">
            <a:pPr>
              <a:buNone/>
              <a:defRPr sz="2100" b="0">
                <a:solidFill>
                  <a:srgbClr val="183D30"/>
                </a:solidFill>
                <a:latin typeface="Helvetica Neue"/>
                <a:ea typeface="Helvetica Neue"/>
                <a:cs typeface="Helvetica Neue"/>
              </a:defRPr>
            </a:pPr>
            <a:r>
              <a:rPr sz="2100" b="0">
                <a:solidFill>
                  <a:srgbClr val="183D30"/>
                </a:solidFill>
                <a:latin typeface="Helvetica Neue"/>
                <a:ea typeface="Helvetica Neue"/>
                <a:cs typeface="Helvetica Neue"/>
              </a:rPr>
              <a:t>and builder instructions.</a:t>
            </a:r>
          </a:p>
        </p:txBody>
      </p:sp>
      <p:sp>
        <p:nvSpPr>
          <p:cNvPr id="6" name="">
            <a:extLst xmlns:a="http://schemas.openxmlformats.org/drawingml/2006/main">
              <a:ext uri="{FF2B5EF4-FFF2-40B4-BE49-F238E27FC236}">
                <a16:creationId xmlns:a16="http://schemas.microsoft.com/office/drawing/2014/main" id="{3A429E27-E3CA-40AC-A6E0-194C7840755A}"/>
              </a:ext>
            </a:extLst>
          </p:cNvPr>
          <p:cNvSpPr>
            <a:spLocks xmlns:a="http://schemas.openxmlformats.org/drawingml/2006/main" noGrp="1"/>
          </p:cNvSpPr>
          <p:nvPr/>
        </p:nvSpPr>
        <p:spPr>
          <a:xfrm xmlns:a="http://schemas.openxmlformats.org/drawingml/2006/main">
            <a:off x="723900" y="5505450"/>
            <a:ext cx="10763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75B"/>
                </a:solidFill>
                <a:latin typeface="Helvetica Neue"/>
                <a:ea typeface="Helvetica Neue"/>
                <a:cs typeface="Helvetica Neue"/>
              </a:defRPr>
            </a:pPr>
            <a:r>
              <a:rPr sz="1950" b="0">
                <a:solidFill>
                  <a:srgbClr val="53675B"/>
                </a:solidFill>
                <a:latin typeface="Helvetica Neue"/>
                <a:ea typeface="Helvetica Neue"/>
                <a:cs typeface="Helvetica Neue"/>
              </a:rPr>
              <a:t>Builders can revise or restore an app configuration.</a:t>
            </a:r>
          </a:p>
          <a:p xmlns:a="http://schemas.openxmlformats.org/drawingml/2006/main">
            <a:pPr>
              <a:buNone/>
              <a:defRPr sz="1950" b="0">
                <a:solidFill>
                  <a:srgbClr val="53675B"/>
                </a:solidFill>
                <a:latin typeface="Helvetica Neue"/>
                <a:ea typeface="Helvetica Neue"/>
                <a:cs typeface="Helvetica Neue"/>
              </a:defRPr>
            </a:pPr>
            <a:r>
              <a:rPr sz="1950" b="0">
                <a:solidFill>
                  <a:srgbClr val="53675B"/>
                </a:solidFill>
                <a:latin typeface="Helvetica Neue"/>
                <a:ea typeface="Helvetica Neue"/>
                <a:cs typeface="Helvetica Neue"/>
              </a:rPr>
              <a:t>Saved spreadsheet edits require separate correction.</a:t>
            </a:r>
          </a:p>
        </p:txBody>
      </p:sp>
    </p:spTree>
    <p:extLst>
      <p:ext uri="{BB962C8B-B14F-4D97-AF65-F5344CB8AC3E}">
        <p14:creationId xmlns:p14="http://schemas.microsoft.com/office/powerpoint/2010/main" val="1192920566"/>
      </p:ext>
    </p:extLst>
  </p:cSld>
</p:sld>
</file>

<file path=ppt/slides/slide7.xml><?xml version="1.0" encoding="utf-8"?>
<p:sld xmlns:p="http://schemas.openxmlformats.org/presentationml/2006/main">
  <p:cSld>
    <p:bg>
      <p:bgPr>
        <a:solidFill xmlns:a="http://schemas.openxmlformats.org/drawingml/2006/main">
          <a:srgbClr val="183D3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D82524-01E9-4471-9B37-9E5F2790FEA6}"/>
              </a:ext>
            </a:extLst>
          </p:cNvPr>
          <p:cNvSpPr>
            <a:spLocks xmlns:a="http://schemas.openxmlformats.org/drawingml/2006/main" noGrp="1"/>
          </p:cNvSpPr>
          <p:nvPr/>
        </p:nvSpPr>
        <p:spPr>
          <a:xfrm xmlns:a="http://schemas.openxmlformats.org/drawingml/2006/main">
            <a:off x="685800" y="4953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5F3EC"/>
                </a:solidFill>
                <a:latin typeface="Helvetica Neue"/>
                <a:ea typeface="Helvetica Neue"/>
                <a:cs typeface="Helvetica Neue"/>
              </a:defRPr>
            </a:pPr>
            <a:r>
              <a:rPr sz="3450" b="1">
                <a:solidFill>
                  <a:srgbClr val="F5F3EC"/>
                </a:solidFill>
                <a:latin typeface="Helvetica Neue"/>
                <a:ea typeface="Helvetica Neue"/>
                <a:cs typeface="Helvetica Neue"/>
              </a:rPr>
              <a:t>Start with Ops. Expand across the company.</a:t>
            </a:r>
          </a:p>
        </p:txBody>
      </p:sp>
      <p:sp>
        <p:nvSpPr>
          <p:cNvPr id="2" name="">
            <a:extLst xmlns:a="http://schemas.openxmlformats.org/drawingml/2006/main">
              <a:ext uri="{FF2B5EF4-FFF2-40B4-BE49-F238E27FC236}">
                <a16:creationId xmlns:a16="http://schemas.microsoft.com/office/drawing/2014/main" id="{34A0488C-DBB5-4BFD-B173-BF0BF6865A3A}"/>
              </a:ext>
            </a:extLst>
          </p:cNvPr>
          <p:cNvSpPr>
            <a:spLocks xmlns:a="http://schemas.openxmlformats.org/drawingml/2006/main" noGrp="1"/>
          </p:cNvSpPr>
          <p:nvPr/>
        </p:nvSpPr>
        <p:spPr>
          <a:xfrm xmlns:a="http://schemas.openxmlformats.org/drawingml/2006/main">
            <a:off x="723900" y="2009775"/>
            <a:ext cx="4953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C2D7C7"/>
                </a:solidFill>
                <a:latin typeface="Helvetica Neue"/>
                <a:ea typeface="Helvetica Neue"/>
                <a:cs typeface="Helvetica Neue"/>
              </a:defRPr>
            </a:pPr>
            <a:r>
              <a:rPr sz="2250" b="1">
                <a:solidFill>
                  <a:srgbClr val="C2D7C7"/>
                </a:solidFill>
                <a:latin typeface="Helvetica Neue"/>
                <a:ea typeface="Helvetica Neue"/>
                <a:cs typeface="Helvetica Neue"/>
              </a:rPr>
              <a:t>Google Workspace ecosystem</a:t>
            </a:r>
          </a:p>
        </p:txBody>
      </p:sp>
      <p:sp>
        <p:nvSpPr>
          <p:cNvPr id="3" name="">
            <a:extLst xmlns:a="http://schemas.openxmlformats.org/drawingml/2006/main">
              <a:ext uri="{FF2B5EF4-FFF2-40B4-BE49-F238E27FC236}">
                <a16:creationId xmlns:a16="http://schemas.microsoft.com/office/drawing/2014/main" id="{A7A97417-239B-437E-9902-24534D46E259}"/>
              </a:ext>
            </a:extLst>
          </p:cNvPr>
          <p:cNvSpPr>
            <a:spLocks xmlns:a="http://schemas.openxmlformats.org/drawingml/2006/main" noGrp="1"/>
          </p:cNvSpPr>
          <p:nvPr/>
        </p:nvSpPr>
        <p:spPr>
          <a:xfrm xmlns:a="http://schemas.openxmlformats.org/drawingml/2006/main">
            <a:off x="723900" y="2676525"/>
            <a:ext cx="503872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450" b="1">
                <a:solidFill>
                  <a:srgbClr val="F5F3EC"/>
                </a:solidFill>
                <a:latin typeface="Helvetica Neue"/>
                <a:ea typeface="Helvetica Neue"/>
                <a:cs typeface="Helvetica Neue"/>
              </a:defRPr>
            </a:pPr>
            <a:r>
              <a:rPr sz="6450" b="1">
                <a:solidFill>
                  <a:srgbClr val="F5F3EC"/>
                </a:solidFill>
                <a:latin typeface="Helvetica Neue"/>
                <a:ea typeface="Helvetica Neue"/>
                <a:cs typeface="Helvetica Neue"/>
              </a:rPr>
              <a:t>11M+</a:t>
            </a:r>
          </a:p>
        </p:txBody>
      </p:sp>
      <p:sp>
        <p:nvSpPr>
          <p:cNvPr id="4" name="">
            <a:extLst xmlns:a="http://schemas.openxmlformats.org/drawingml/2006/main">
              <a:ext uri="{FF2B5EF4-FFF2-40B4-BE49-F238E27FC236}">
                <a16:creationId xmlns:a16="http://schemas.microsoft.com/office/drawing/2014/main" id="{DC11A6CC-7ABB-4DE6-B2C8-60CD471F3525}"/>
              </a:ext>
            </a:extLst>
          </p:cNvPr>
          <p:cNvSpPr>
            <a:spLocks xmlns:a="http://schemas.openxmlformats.org/drawingml/2006/main" noGrp="1"/>
          </p:cNvSpPr>
          <p:nvPr/>
        </p:nvSpPr>
        <p:spPr>
          <a:xfrm xmlns:a="http://schemas.openxmlformats.org/drawingml/2006/main">
            <a:off x="6667500" y="2009775"/>
            <a:ext cx="4857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C2D7C7"/>
                </a:solidFill>
                <a:latin typeface="Helvetica Neue"/>
                <a:ea typeface="Helvetica Neue"/>
                <a:cs typeface="Helvetica Neue"/>
              </a:defRPr>
            </a:pPr>
            <a:r>
              <a:rPr sz="2250" b="1">
                <a:solidFill>
                  <a:srgbClr val="C2D7C7"/>
                </a:solidFill>
                <a:latin typeface="Helvetica Neue"/>
                <a:ea typeface="Helvetica Neue"/>
                <a:cs typeface="Helvetica Neue"/>
              </a:rPr>
              <a:t>First customer and buyer</a:t>
            </a:r>
          </a:p>
        </p:txBody>
      </p:sp>
      <p:sp>
        <p:nvSpPr>
          <p:cNvPr id="5" name="">
            <a:extLst xmlns:a="http://schemas.openxmlformats.org/drawingml/2006/main">
              <a:ext uri="{FF2B5EF4-FFF2-40B4-BE49-F238E27FC236}">
                <a16:creationId xmlns:a16="http://schemas.microsoft.com/office/drawing/2014/main" id="{BF40B1F5-BE44-428C-8361-0FBB36F7DB73}"/>
              </a:ext>
            </a:extLst>
          </p:cNvPr>
          <p:cNvSpPr>
            <a:spLocks xmlns:a="http://schemas.openxmlformats.org/drawingml/2006/main" noGrp="1"/>
          </p:cNvSpPr>
          <p:nvPr/>
        </p:nvSpPr>
        <p:spPr>
          <a:xfrm xmlns:a="http://schemas.openxmlformats.org/drawingml/2006/main">
            <a:off x="6667500" y="2800350"/>
            <a:ext cx="48101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5F3EC"/>
                </a:solidFill>
                <a:latin typeface="Helvetica Neue"/>
                <a:ea typeface="Helvetica Neue"/>
                <a:cs typeface="Helvetica Neue"/>
              </a:defRPr>
            </a:pPr>
            <a:r>
              <a:rPr sz="2325" b="0">
                <a:solidFill>
                  <a:srgbClr val="F5F3EC"/>
                </a:solidFill>
                <a:latin typeface="Helvetica Neue"/>
                <a:ea typeface="Helvetica Neue"/>
                <a:cs typeface="Helvetica Neue"/>
              </a:rPr>
              <a:t>Ops teams with recurring</a:t>
            </a:r>
          </a:p>
          <a:p xmlns:a="http://schemas.openxmlformats.org/drawingml/2006/main">
            <a:pPr>
              <a:buNone/>
              <a:defRPr sz="2325" b="0">
                <a:solidFill>
                  <a:srgbClr val="F5F3EC"/>
                </a:solidFill>
                <a:latin typeface="Helvetica Neue"/>
                <a:ea typeface="Helvetica Neue"/>
                <a:cs typeface="Helvetica Neue"/>
              </a:defRPr>
            </a:pPr>
            <a:r>
              <a:rPr sz="2325" b="0">
                <a:solidFill>
                  <a:srgbClr val="F5F3EC"/>
                </a:solidFill>
                <a:latin typeface="Helvetica Neue"/>
                <a:ea typeface="Helvetica Neue"/>
                <a:cs typeface="Helvetica Neue"/>
              </a:rPr>
              <a:t>spreadsheet handoffs.</a:t>
            </a:r>
          </a:p>
          <a:p xmlns:a="http://schemas.openxmlformats.org/drawingml/2006/main">
            <a:pPr>
              <a:buNone/>
              <a:defRPr sz="2325" b="0">
                <a:solidFill>
                  <a:srgbClr val="F5F3EC"/>
                </a:solidFill>
                <a:latin typeface="Helvetica Neue"/>
                <a:ea typeface="Helvetica Neue"/>
                <a:cs typeface="Helvetica Neue"/>
              </a:defRPr>
            </a:pPr>
            <a:r>
              <a:rPr sz="2325" b="0">
                <a:solidFill>
                  <a:srgbClr val="F5F3EC"/>
                </a:solidFill>
                <a:latin typeface="Helvetica Neue"/>
                <a:ea typeface="Helvetica Neue"/>
                <a:cs typeface="Helvetica Neue"/>
              </a:rPr>
              <a:t>Buyer: the workflow owner.</a:t>
            </a:r>
          </a:p>
        </p:txBody>
      </p:sp>
      <p:sp>
        <p:nvSpPr>
          <p:cNvPr id="6" name="">
            <a:extLst xmlns:a="http://schemas.openxmlformats.org/drawingml/2006/main">
              <a:ext uri="{FF2B5EF4-FFF2-40B4-BE49-F238E27FC236}">
                <a16:creationId xmlns:a16="http://schemas.microsoft.com/office/drawing/2014/main" id="{A529FE40-B46B-432C-8971-DC6F77B14F56}"/>
              </a:ext>
            </a:extLst>
          </p:cNvPr>
          <p:cNvSpPr>
            <a:spLocks xmlns:a="http://schemas.openxmlformats.org/drawingml/2006/main" noGrp="1"/>
          </p:cNvSpPr>
          <p:nvPr/>
        </p:nvSpPr>
        <p:spPr>
          <a:xfrm xmlns:a="http://schemas.openxmlformats.org/drawingml/2006/main">
            <a:off x="723900" y="474345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F5F3EC"/>
                </a:solidFill>
                <a:latin typeface="Helvetica Neue"/>
                <a:ea typeface="Helvetica Neue"/>
                <a:cs typeface="Helvetica Neue"/>
              </a:defRPr>
            </a:pPr>
            <a:r>
              <a:rPr sz="2625" b="1">
                <a:solidFill>
                  <a:srgbClr val="F5F3EC"/>
                </a:solidFill>
                <a:latin typeface="Helvetica Neue"/>
                <a:ea typeface="Helvetica Neue"/>
                <a:cs typeface="Helvetica Neue"/>
              </a:rPr>
              <a:t>Team subscription. More workflows per customer.</a:t>
            </a:r>
          </a:p>
        </p:txBody>
      </p:sp>
      <p:sp>
        <p:nvSpPr>
          <p:cNvPr id="7" name="">
            <a:extLst xmlns:a="http://schemas.openxmlformats.org/drawingml/2006/main">
              <a:ext uri="{FF2B5EF4-FFF2-40B4-BE49-F238E27FC236}">
                <a16:creationId xmlns:a16="http://schemas.microsoft.com/office/drawing/2014/main" id="{E9065118-6FAB-41FD-AA87-91BBABE735BC}"/>
              </a:ext>
            </a:extLst>
          </p:cNvPr>
          <p:cNvSpPr>
            <a:spLocks xmlns:a="http://schemas.openxmlformats.org/drawingml/2006/main" noGrp="1"/>
          </p:cNvSpPr>
          <p:nvPr/>
        </p:nvSpPr>
        <p:spPr>
          <a:xfrm xmlns:a="http://schemas.openxmlformats.org/drawingml/2006/main">
            <a:off x="723900" y="57721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C2D7C7"/>
                </a:solidFill>
                <a:latin typeface="Helvetica Neue"/>
                <a:ea typeface="Helvetica Neue"/>
                <a:cs typeface="Helvetica Neue"/>
              </a:defRPr>
            </a:pPr>
            <a:r>
              <a:rPr sz="1800" b="0">
                <a:solidFill>
                  <a:srgbClr val="C2D7C7"/>
                </a:solidFill>
                <a:latin typeface="Helvetica Neue"/>
                <a:ea typeface="Helvetica Neue"/>
                <a:cs typeface="Helvetica Neue"/>
              </a:rPr>
              <a:t>Next proof: repeat use and willingness to pay.</a:t>
            </a:r>
          </a:p>
          <a:p xmlns:a="http://schemas.openxmlformats.org/drawingml/2006/main">
            <a:pPr>
              <a:buNone/>
              <a:defRPr sz="1800" b="0">
                <a:solidFill>
                  <a:srgbClr val="C2D7C7"/>
                </a:solidFill>
                <a:latin typeface="Helvetica Neue"/>
                <a:ea typeface="Helvetica Neue"/>
                <a:cs typeface="Helvetica Neue"/>
              </a:defRPr>
            </a:pPr>
            <a:r>
              <a:rPr sz="1800" b="0">
                <a:solidFill>
                  <a:srgbClr val="C2D7C7"/>
                </a:solidFill>
                <a:latin typeface="Helvetica Neue"/>
                <a:ea typeface="Helvetica Neue"/>
                <a:cs typeface="Helvetica Neue"/>
              </a:rPr>
              <a:t>Google Workspace scale is context, not our addressable market.</a:t>
            </a:r>
          </a:p>
        </p:txBody>
      </p:sp>
      <p:sp>
        <p:nvSpPr>
          <p:cNvPr id="9" name="">
            <a:extLst xmlns:a="http://schemas.openxmlformats.org/drawingml/2006/main">
              <a:ext uri="{FF2B5EF4-FFF2-40B4-BE49-F238E27FC236}">
                <a16:creationId xmlns:a16="http://schemas.microsoft.com/office/drawing/2014/main" id="{EAC059B4-CC85-4FC4-80D6-7C7E0410E179}"/>
              </a:ext>
            </a:extLst>
          </p:cNvPr>
          <p:cNvSpPr>
            <a:spLocks xmlns:a="http://schemas.openxmlformats.org/drawingml/2006/main" noGrp="1"/>
          </p:cNvSpPr>
          <p:nvPr/>
        </p:nvSpPr>
        <p:spPr>
          <a:xfrm xmlns:a="http://schemas.openxmlformats.org/drawingml/2006/main">
            <a:off x="723900" y="3867150"/>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a:solidFill>
                  <a:srgbClr val="C2D7C7"/>
                </a:solidFill>
                <a:latin typeface="Helvetica Neue"/>
                <a:ea typeface="Helvetica Neue"/>
                <a:cs typeface="Helvetica Neue"/>
              </a:defRPr>
            </a:pPr>
            <a:r>
              <a:rPr sz="1875">
                <a:solidFill>
                  <a:srgbClr val="C2D7C7"/>
                </a:solidFill>
                <a:latin typeface="Helvetica Neue"/>
                <a:ea typeface="Helvetica Neue"/>
                <a:cs typeface="Helvetica Neue"/>
              </a:rPr>
              <a:t>customers reported in July 2025</a:t>
            </a:r>
          </a:p>
        </p:txBody>
      </p:sp>
    </p:spTree>
    <p:extLst>
      <p:ext uri="{BB962C8B-B14F-4D97-AF65-F5344CB8AC3E}">
        <p14:creationId xmlns:p14="http://schemas.microsoft.com/office/powerpoint/2010/main" val="3005842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2026-09-23T11:57:03.3080000Z</dcterms:created>
  <dcterms:modified xsi:type="dcterms:W3CDTF">2026-09-23T11:57:03.3080000Z</dcterms:modified>
</coreProperties>
</file>