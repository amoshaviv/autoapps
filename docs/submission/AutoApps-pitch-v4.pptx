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52a0c928634848" /><Relationship Type="http://schemas.openxmlformats.org/officeDocument/2006/relationships/extended-properties" Target="/docProps/app.xml" Id="R8732910366774478" /><Relationship Type="http://schemas.openxmlformats.org/officeDocument/2006/relationships/officeDocument" Target="/ppt/presentation.xml" Id="Rbc063b8d66034bfe" /></Relationships>
</file>

<file path=ppt/presentation.xml><?xml version="1.0" encoding="utf-8"?>
<p:presentation xmlns:p="http://schemas.openxmlformats.org/presentationml/2006/main">
  <p:sldMasterIdLst>
    <p:sldMasterId xmlns:r="http://schemas.openxmlformats.org/officeDocument/2006/relationships" id="2147483648" r:id="R548a7eb672a04d5b"/>
  </p:sldMasterIdLst>
  <p:notesMasterIdLst>
    <p:notesMasterId xmlns:r="http://schemas.openxmlformats.org/officeDocument/2006/relationships" r:id="Rebd15feffead4025"/>
  </p:notesMasterIdLst>
  <p:sldIdLst>
    <p:sldId xmlns:r="http://schemas.openxmlformats.org/officeDocument/2006/relationships" id="256" r:id="R959c3c3a5c0c4489"/>
    <p:sldId xmlns:r="http://schemas.openxmlformats.org/officeDocument/2006/relationships" id="257" r:id="Re15ae44772da481d"/>
    <p:sldId xmlns:r="http://schemas.openxmlformats.org/officeDocument/2006/relationships" id="258" r:id="Rd3a7c43247884209"/>
    <p:sldId xmlns:r="http://schemas.openxmlformats.org/officeDocument/2006/relationships" id="259" r:id="R8c19d0d960954977"/>
    <p:sldId xmlns:r="http://schemas.openxmlformats.org/officeDocument/2006/relationships" id="260" r:id="R0fd491c367864f54"/>
    <p:sldId xmlns:r="http://schemas.openxmlformats.org/officeDocument/2006/relationships" id="261" r:id="Rfb2f02eab5fe4955"/>
    <p:sldId xmlns:r="http://schemas.openxmlformats.org/officeDocument/2006/relationships" id="262" r:id="R5eab7e2da85547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5f0f70b2704432" /><Relationship Type="http://schemas.openxmlformats.org/officeDocument/2006/relationships/slideMaster" Target="/ppt/slideMasters/slideMaster1.xml" Id="R548a7eb672a04d5b" /><Relationship Type="http://schemas.openxmlformats.org/officeDocument/2006/relationships/notesMaster" Target="/ppt/notesMasters/notesMaster1.xml" Id="Rebd15feffead4025" /><Relationship Type="http://schemas.openxmlformats.org/officeDocument/2006/relationships/presProps" Target="/ppt/presProps.xml" Id="Rdf3b761882b245d8" /><Relationship Type="http://schemas.openxmlformats.org/officeDocument/2006/relationships/tableStyles" Target="/ppt/tableStyles.xml" Id="Re2859c24e597450d" /><Relationship Type="http://schemas.openxmlformats.org/officeDocument/2006/relationships/slide" Target="/ppt/slides/slide1.xml" Id="R959c3c3a5c0c4489" /><Relationship Type="http://schemas.openxmlformats.org/officeDocument/2006/relationships/slide" Target="/ppt/slides/slide2.xml" Id="Re15ae44772da481d" /><Relationship Type="http://schemas.openxmlformats.org/officeDocument/2006/relationships/slide" Target="/ppt/slides/slide3.xml" Id="Rd3a7c43247884209" /><Relationship Type="http://schemas.openxmlformats.org/officeDocument/2006/relationships/slide" Target="/ppt/slides/slide4.xml" Id="R8c19d0d960954977" /><Relationship Type="http://schemas.openxmlformats.org/officeDocument/2006/relationships/slide" Target="/ppt/slides/slide5.xml" Id="R0fd491c367864f54" /><Relationship Type="http://schemas.openxmlformats.org/officeDocument/2006/relationships/slide" Target="/ppt/slides/slide6.xml" Id="Rfb2f02eab5fe4955" /><Relationship Type="http://schemas.openxmlformats.org/officeDocument/2006/relationships/slide" Target="/ppt/slides/slide7.xml" Id="R5eab7e2da85547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b4ba57bed942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f593dbdee34236" /><Relationship Type="http://schemas.openxmlformats.org/officeDocument/2006/relationships/notesMaster" Target="/ppt/notesMasters/notesMaster1.xml" Id="Rf0f8ec89eb6c4c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5c99dd18c648cf" /><Relationship Type="http://schemas.openxmlformats.org/officeDocument/2006/relationships/notesMaster" Target="/ppt/notesMasters/notesMaster1.xml" Id="R0a5cc5be105049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f9e6ebcb544e23" /><Relationship Type="http://schemas.openxmlformats.org/officeDocument/2006/relationships/notesMaster" Target="/ppt/notesMasters/notesMaster1.xml" Id="R1072de37469d4d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24aacf1ac604c39" /><Relationship Type="http://schemas.openxmlformats.org/officeDocument/2006/relationships/notesMaster" Target="/ppt/notesMasters/notesMaster1.xml" Id="Rfbe0f725765d46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e48cfd94c0f14be1" /><Relationship Type="http://schemas.openxmlformats.org/officeDocument/2006/relationships/notesMaster" Target="/ppt/notesMasters/notesMaster1.xml" Id="R414adc76fdf34b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3125f3f61145c5" /><Relationship Type="http://schemas.openxmlformats.org/officeDocument/2006/relationships/notesMaster" Target="/ppt/notesMasters/notesMaster1.xml" Id="R10982def905148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75b7cb436143c5" /><Relationship Type="http://schemas.openxmlformats.org/officeDocument/2006/relationships/notesMaster" Target="/ppt/notesMasters/notesMaster1.xml" Id="Rea97761a08a640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 AutoApps is Lovable for the enterprise. It reads the business context you already have, suggests useful apps, and generates the one you choose. We start with Google Sheets.</a:t>
            </a:r>
          </a:p>
          <a:p xmlns:a="http://schemas.openxmlformats.org/drawingml/2006/main">
            <a:r>
              <a:t/>
            </a:r>
          </a:p>
          <a:p xmlns:a="http://schemas.openxmlformats.org/drawingml/2006/main">
            <a:r>
              <a:t>The Lovable comparison is positioning, not a feature-parity, affiliation, or enterprise-readiness claim. Broader business contexts are the direction; Google Sheets is the current source. Cover layout and positioning follow Amos’s AutoApps-pitch-draft copy.key embedded preview. The subtitle reflects his subsequent request to emphasize automatic suggestions and generation from context. The brand spelling has been corrected from Loveable to Lovable.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0:15–0:50. Engineers already use AI to build software. Business teams should be able to build their own tools too. But giving everyone a chat box is only the beginning. McKinsey’s 2026 survey reports 47 percent scaling chatbots across the enterprise, versus about twenty percent scaling AI agents. Our opportunity is to make useful software emerge from the work people already do, using existing data, with reliable behavior and clear access rules.</a:t>
            </a:r>
          </a:p>
          <a:p xmlns:a="http://schemas.openxmlformats.org/drawingml/2006/main">
            <a:r>
              <a:t/>
            </a:r>
          </a:p>
          <a:p xmlns:a="http://schemas.openxmlformats.org/drawingml/2006/main">
            <a:r>
              <a:t>Source: https://www.mckinsey.com/capabilities/quantumblack/our-insights/the-state-of-ai , 2026 survey, accessed 23 September 2026. Exact seven-word quote: “chatbots are the most widely scaled”. These are organizational scaling reports, not individual employee adoption rates or proof of demand for AutoApps. Product design requirements reflect Amos’s positioning.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0:50–1:25. AutoApps automatically generates ephemeral business applications on top of existing software. By ephemeral, we mean a focused app for a task or business cycle. It reads the context and offers a useful starting point. The user chooses an idea and we generate the app. They do not need to learn Claude Code or build a custom integration. They keep working with the data source they already use, and can refine the app in chat. The vision is software that appears when needed and understands the user’s context and permissions.</a:t>
            </a:r>
          </a:p>
          <a:p xmlns:a="http://schemas.openxmlformats.org/drawingml/2006/main">
            <a:r>
              <a:t/>
            </a:r>
          </a:p>
          <a:p xmlns:a="http://schemas.openxmlformats.org/drawingml/2006/main">
            <a:r>
              <a:t>Current scope: Google Sheets, OAuth authorization, built-in connector, web builder and Chrome extension entry point. Initial authorization/setup still exists. The prototype enforces its configured organization, row and field rules. It does not prove universal inheritance of source-system permissions. Ephemeral describes intended use duration, not an implemented automatic-expiry/deletion capability. Source: docs/PRD.md, docs/TRACKER.md, frontend/lib/apps/runtime.ts.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1:25–2:45, including a 65-second live demo. Finance has a budget sheet with owners, missing forecasts and received submissions. Instead of asking someone to build software, AutoApps reads that context and proposes a budget collection app. Each owner gets a focused form and the forecast goes back into the original sheet. The app serves this cycle while the data remains useful afterward.</a:t>
            </a:r>
          </a:p>
          <a:p xmlns:a="http://schemas.openxmlformats.org/drawingml/2006/main">
            <a:r>
              <a:t/>
            </a:r>
          </a:p>
          <a:p xmlns:a="http://schemas.openxmlformats.org/drawingml/2006/main">
            <a:r>
              <a:t>Demo: 10 seconds show the synthetic sheet, 10 show the context-derived suggestions, 15 generate and preview the selected app, 10 open the prepared consumer session, 15 save an update, 5 show the changed cell. Show suggestions before any custom prompt. If generation takes too long, explicitly identify a pre-generated app and keep the live write-back. Verify consumer access and the full stage-browser path beforehand. The distinct-account rehearsal remains pending in the reviewed tracker. The diagram is an illustrative scenario, not a product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2:45–3:40. Nebius Token Factory serves both open models in the product. We extract sheet structure and sample values. GLM-5.3-Flash proposes apps, and GLM-5.3 generates and edits a bounded JSON specification. We validate exact sheet columns and retry invalid output once. The runtime enforces the app’s configured row and field rules. Nebius receives selected schema, samples and builder prompts.</a:t>
            </a:r>
          </a:p>
          <a:p xmlns:a="http://schemas.openxmlformats.org/drawingml/2006/main">
            <a:r>
              <a:t/>
            </a:r>
          </a:p>
          <a:p xmlns:a="http://schemas.openxmlformats.org/drawingml/2006/main">
            <a:r>
              <a:t>We compared five matched tasks at high effort. GLM-5.3 had a thirteen percent lower median latency, while Flash met one more task checklist. Both passed all schema checks. This is a small pilot, with a quality and latency tradeoff.</a:t>
            </a:r>
          </a:p>
          <a:p xmlns:a="http://schemas.openxmlformats.org/drawingml/2006/main">
            <a:r>
              <a:t/>
            </a:r>
          </a:p>
          <a:p xmlns:a="http://schemas.openxmlformats.org/drawingml/2006/main">
            <a:r>
              <a:t>Product defaults: zai-org/GLM-5.3-Flash low effort for suggestions and zai-org/GLM-5.3 high effort for generation/editing. Benchmark used high effort for both. Calculation: (5.352 - 4.640)/5.352 = 13.3%, rounded. Ten responses, one per fixture/model, static spec review, no end-to-end correctness claim or cost measurement. Evidence: docs/submission/evidence/README.md and results.json. Both missed a required task-table shape. GLM also missed an RSVP identity setting. Backend stores identity, OAuth tokens and cached samples. Generated policy needs review. Configuration restore does not undo sheet edits. Claude assisted product development, Codex assisted submission/evaluation. No closed-model inference in the reviewed product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3:40–4:25. Software developers are about one percent of U.S. employment. Business and financial operations alone account for about eleven-point-four million jobs. Our initial segment is Finance and Ops teams using Sheets for recurring workflows, with team subscriptions as the business-model hypothesis. The larger opportunity is making software useful for people outside development. Our Jevons thesis is that lower creation cost unlocks enough new uses that total software creation grows. Temporary apps for one task or cycle become economical. We still need to validate paid demand and price.</a:t>
            </a:r>
          </a:p>
          <a:p xmlns:a="http://schemas.openxmlformats.org/drawingml/2006/main">
            <a:r>
              <a:t/>
            </a:r>
          </a:p>
          <a:p xmlns:a="http://schemas.openxmlformats.org/drawingml/2006/main">
            <a:r>
              <a:t>Sources: BLS Occupational projections and worker characteristics, table 1.2, 2025–35, https://www.bls.gov/emp/tables/occupational-projections-and-characteristics.htm , accessed 23 September 2026. All jobs 170,280.8 thousand, software developers 1,717.8 thousand, business and financial operations 11,368.5 thousand. Developer share=1.0088%. Role counts are U.S. population context, not unique buyer counts, software revenue, global market share, or proven addressable customer counts. TAM would require eligible organizations/workflows multiplied by validated annual price. Jevons-style demand expansion is a thesis, not an inevitability: lower unit cost can increase total consumption when induced demand outweighs efficiency gains. AI analogy: Satya Nadella, 26 January 2025, https://news.microsoft.com/recent-news/page/3/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4:25–4:45. I’m Amos Haviv, an engineering leader at Booking.com. I have twenty years of experience building software and ten years leading teams. I co-created and maintained MEAN and wrote two books about it. Today my focus is developer productivity and AI-native software development. AutoApps brings that building power to business teams.</a:t>
            </a:r>
          </a:p>
          <a:p xmlns:a="http://schemas.openxmlformats.org/drawingml/2006/main">
            <a:r>
              <a:t/>
            </a:r>
          </a:p>
          <a:p xmlns:a="http://schemas.openxmlformats.org/drawingml/2006/main">
            <a:r>
              <a:t>Source and portrait: https://www.linkedin.com/in/amoshaviv/ , accessed 23 September 2026. Experience figures are self-reported in the About section. Employer reference supplies professional background and does not imply employer affiliation with or endorsement of AutoApps. Only public professional profile details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d59280b8d3494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6ae27cdf52410d" /><Relationship Type="http://schemas.openxmlformats.org/officeDocument/2006/relationships/slideLayout" Target="/ppt/slideLayouts/slideLayout1.xml" Id="R79f3fb48d8c1407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f3fb48d8c1407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2e1337f6b4d44b0" /><Relationship Type="http://schemas.openxmlformats.org/officeDocument/2006/relationships/notesSlide" Target="/ppt/notesSlides/notesSlide1.xml" Id="R4d198fbf0c3c42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67b8d454ea2431c" /><Relationship Type="http://schemas.openxmlformats.org/officeDocument/2006/relationships/notesSlide" Target="/ppt/notesSlides/notesSlide2.xml" Id="R91a57118714741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8d7098d04a841f6" /><Relationship Type="http://schemas.openxmlformats.org/officeDocument/2006/relationships/notesSlide" Target="/ppt/notesSlides/notesSlide3.xml" Id="R9394a5f265ad48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73a4513e470474e" /><Relationship Type="http://schemas.openxmlformats.org/officeDocument/2006/relationships/notesSlide" Target="/ppt/notesSlides/notesSlide4.xml" Id="R39b144f670c748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48fcf59a6fd4b23" /><Relationship Type="http://schemas.openxmlformats.org/officeDocument/2006/relationships/notesSlide" Target="/ppt/notesSlides/notesSlide5.xml" Id="Rb0125d89f6b244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aff12d484214c5b" /><Relationship Type="http://schemas.openxmlformats.org/officeDocument/2006/relationships/notesSlide" Target="/ppt/notesSlides/notesSlide6.xml" Id="R38d39990884642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3d05fe71d134115" /><Relationship Type="http://schemas.openxmlformats.org/officeDocument/2006/relationships/image" Target="/ppt/media/image.jpeg" Id="R923fe522048344f5" /><Relationship Type="http://schemas.openxmlformats.org/officeDocument/2006/relationships/notesSlide" Target="/ppt/notesSlides/notesSlide7.xml" Id="R00537f829d4a40f2" /></Relationships>
</file>

<file path=ppt/slides/slide1.xml><?xml version="1.0" encoding="utf-8"?>
<p:sld xmlns:p="http://schemas.openxmlformats.org/presentationml/2006/main">
  <p:cSld>
    <p:bg>
      <p:bgPr>
        <a:solidFill xmlns:a="http://schemas.openxmlformats.org/drawingml/2006/main">
          <a:srgbClr val="183D3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F6A3230-2FA9-41D9-A4D3-4A24C9C36F91}"/>
              </a:ext>
            </a:extLst>
          </p:cNvPr>
          <p:cNvSpPr>
            <a:spLocks xmlns:a="http://schemas.openxmlformats.org/drawingml/2006/main" noGrp="1"/>
          </p:cNvSpPr>
          <p:nvPr/>
        </p:nvSpPr>
        <p:spPr>
          <a:xfrm xmlns:a="http://schemas.openxmlformats.org/drawingml/2006/main">
            <a:off x="685800" y="619125"/>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C2D7C7"/>
                </a:solidFill>
                <a:latin typeface="Helvetica Neue"/>
                <a:ea typeface="Helvetica Neue"/>
                <a:cs typeface="Helvetica Neue"/>
              </a:defRPr>
            </a:pPr>
            <a:r>
              <a:rPr sz="2850" b="1">
                <a:solidFill>
                  <a:srgbClr val="C2D7C7"/>
                </a:solidFill>
                <a:latin typeface="Helvetica Neue"/>
                <a:ea typeface="Helvetica Neue"/>
                <a:cs typeface="Helvetica Neue"/>
              </a:rPr>
              <a:t>AutoApps</a:t>
            </a:r>
          </a:p>
        </p:txBody>
      </p:sp>
      <p:sp>
        <p:nvSpPr>
          <p:cNvPr id="2" name="">
            <a:extLst xmlns:a="http://schemas.openxmlformats.org/drawingml/2006/main">
              <a:ext uri="{FF2B5EF4-FFF2-40B4-BE49-F238E27FC236}">
                <a16:creationId xmlns:a16="http://schemas.microsoft.com/office/drawing/2014/main" id="{92735057-B4CC-44EE-B534-94163E2D58ED}"/>
              </a:ext>
            </a:extLst>
          </p:cNvPr>
          <p:cNvSpPr>
            <a:spLocks xmlns:a="http://schemas.openxmlformats.org/drawingml/2006/main" noGrp="1"/>
          </p:cNvSpPr>
          <p:nvPr/>
        </p:nvSpPr>
        <p:spPr>
          <a:xfrm xmlns:a="http://schemas.openxmlformats.org/drawingml/2006/main">
            <a:off x="685800" y="1905000"/>
            <a:ext cx="10620375"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000" b="1">
                <a:solidFill>
                  <a:srgbClr val="F5F3EC"/>
                </a:solidFill>
                <a:latin typeface="Helvetica Neue"/>
                <a:ea typeface="Helvetica Neue"/>
                <a:cs typeface="Helvetica Neue"/>
              </a:defRPr>
            </a:pPr>
            <a:r>
              <a:rPr sz="6000" b="1">
                <a:solidFill>
                  <a:srgbClr val="F5F3EC"/>
                </a:solidFill>
                <a:latin typeface="Helvetica Neue"/>
                <a:ea typeface="Helvetica Neue"/>
                <a:cs typeface="Helvetica Neue"/>
              </a:rPr>
              <a:t>Lovable for the enterprise</a:t>
            </a:r>
          </a:p>
        </p:txBody>
      </p:sp>
      <p:sp>
        <p:nvSpPr>
          <p:cNvPr id="3" name="">
            <a:extLst xmlns:a="http://schemas.openxmlformats.org/drawingml/2006/main">
              <a:ext uri="{FF2B5EF4-FFF2-40B4-BE49-F238E27FC236}">
                <a16:creationId xmlns:a16="http://schemas.microsoft.com/office/drawing/2014/main" id="{10D89FB5-67EB-4970-A638-54883CB0D5BF}"/>
              </a:ext>
            </a:extLst>
          </p:cNvPr>
          <p:cNvSpPr>
            <a:spLocks xmlns:a="http://schemas.openxmlformats.org/drawingml/2006/main" noGrp="1"/>
          </p:cNvSpPr>
          <p:nvPr/>
        </p:nvSpPr>
        <p:spPr>
          <a:xfrm xmlns:a="http://schemas.openxmlformats.org/drawingml/2006/main">
            <a:off x="723900" y="432435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F5F3EC"/>
                </a:solidFill>
                <a:latin typeface="Helvetica Neue"/>
                <a:ea typeface="Helvetica Neue"/>
                <a:cs typeface="Helvetica Neue"/>
              </a:defRPr>
            </a:pPr>
            <a:r>
              <a:rPr sz="2400" b="1">
                <a:solidFill>
                  <a:srgbClr val="F5F3EC"/>
                </a:solidFill>
                <a:latin typeface="Helvetica Neue"/>
                <a:ea typeface="Helvetica Neue"/>
                <a:cs typeface="Helvetica Neue"/>
              </a:rPr>
              <a:t>AutoApps reads your business context to suggest</a:t>
            </a:r>
          </a:p>
          <a:p xmlns:a="http://schemas.openxmlformats.org/drawingml/2006/main">
            <a:pPr>
              <a:buNone/>
              <a:defRPr sz="2400" b="1">
                <a:solidFill>
                  <a:srgbClr val="F5F3EC"/>
                </a:solidFill>
                <a:latin typeface="Helvetica Neue"/>
                <a:ea typeface="Helvetica Neue"/>
                <a:cs typeface="Helvetica Neue"/>
              </a:defRPr>
            </a:pPr>
            <a:r>
              <a:rPr sz="2400" b="1">
                <a:solidFill>
                  <a:srgbClr val="F5F3EC"/>
                </a:solidFill>
                <a:latin typeface="Helvetica Neue"/>
                <a:ea typeface="Helvetica Neue"/>
                <a:cs typeface="Helvetica Neue"/>
              </a:rPr>
              <a:t>and generate useful apps. Starting with Google Sheets.</a:t>
            </a:r>
          </a:p>
        </p:txBody>
      </p:sp>
      <p:sp>
        <p:nvSpPr>
          <p:cNvPr id="4" name="">
            <a:extLst xmlns:a="http://schemas.openxmlformats.org/drawingml/2006/main">
              <a:ext uri="{FF2B5EF4-FFF2-40B4-BE49-F238E27FC236}">
                <a16:creationId xmlns:a16="http://schemas.microsoft.com/office/drawing/2014/main" id="{BF4A7BE8-7144-47B5-BBCC-4906AE0C3AC4}"/>
              </a:ext>
            </a:extLst>
          </p:cNvPr>
          <p:cNvSpPr>
            <a:spLocks xmlns:a="http://schemas.openxmlformats.org/drawingml/2006/main" noGrp="1"/>
          </p:cNvSpPr>
          <p:nvPr/>
        </p:nvSpPr>
        <p:spPr>
          <a:xfrm xmlns:a="http://schemas.openxmlformats.org/drawingml/2006/main">
            <a:off x="723900" y="5905500"/>
            <a:ext cx="1000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C2D7C7"/>
                </a:solidFill>
                <a:latin typeface="Helvetica Neue"/>
                <a:ea typeface="Helvetica Neue"/>
                <a:cs typeface="Helvetica Neue"/>
              </a:defRPr>
            </a:pPr>
            <a:r>
              <a:rPr sz="1575" b="0">
                <a:solidFill>
                  <a:srgbClr val="C2D7C7"/>
                </a:solidFill>
                <a:latin typeface="Helvetica Neue"/>
                <a:ea typeface="Helvetica Neue"/>
                <a:cs typeface="Helvetica Neue"/>
              </a:rPr>
              <a:t>Amos Haviv</a:t>
            </a:r>
          </a:p>
          <a:p xmlns:a="http://schemas.openxmlformats.org/drawingml/2006/main">
            <a:pPr>
              <a:buNone/>
              <a:defRPr sz="1575" b="0">
                <a:solidFill>
                  <a:srgbClr val="C2D7C7"/>
                </a:solidFill>
                <a:latin typeface="Helvetica Neue"/>
                <a:ea typeface="Helvetica Neue"/>
                <a:cs typeface="Helvetica Neue"/>
              </a:defRPr>
            </a:pPr>
            <a:r>
              <a:rPr sz="1575" b="0">
                <a:solidFill>
                  <a:srgbClr val="C2D7C7"/>
                </a:solidFill>
                <a:latin typeface="Helvetica Neue"/>
                <a:ea typeface="Helvetica Neue"/>
                <a:cs typeface="Helvetica Neue"/>
              </a:rPr>
              <a:t>Hackathon prototype, September 2026</a:t>
            </a:r>
          </a:p>
        </p:txBody>
      </p:sp>
    </p:spTree>
    <p:extLst>
      <p:ext uri="{BB962C8B-B14F-4D97-AF65-F5344CB8AC3E}">
        <p14:creationId xmlns:p14="http://schemas.microsoft.com/office/powerpoint/2010/main" val="1710217382"/>
      </p:ext>
    </p:extLst>
  </p:cSld>
</p:sld>
</file>

<file path=ppt/slides/slide2.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A6CE6F8-C055-4DC7-BF45-846624063671}"/>
              </a:ext>
            </a:extLst>
          </p:cNvPr>
          <p:cNvSpPr>
            <a:spLocks xmlns:a="http://schemas.openxmlformats.org/drawingml/2006/main" noGrp="1"/>
          </p:cNvSpPr>
          <p:nvPr/>
        </p:nvSpPr>
        <p:spPr>
          <a:xfrm xmlns:a="http://schemas.openxmlformats.org/drawingml/2006/main">
            <a:off x="685800" y="4572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3D30"/>
                </a:solidFill>
                <a:latin typeface="Helvetica Neue"/>
                <a:ea typeface="Helvetica Neue"/>
                <a:cs typeface="Helvetica Neue"/>
              </a:defRPr>
            </a:pPr>
            <a:r>
              <a:rPr sz="3600" b="1">
                <a:solidFill>
                  <a:srgbClr val="183D30"/>
                </a:solidFill>
                <a:latin typeface="Helvetica Neue"/>
                <a:ea typeface="Helvetica Neue"/>
                <a:cs typeface="Helvetica Neue"/>
              </a:rPr>
              <a:t>The Problem</a:t>
            </a:r>
          </a:p>
        </p:txBody>
      </p:sp>
      <p:sp>
        <p:nvSpPr>
          <p:cNvPr id="2" name="">
            <a:extLst xmlns:a="http://schemas.openxmlformats.org/drawingml/2006/main">
              <a:ext uri="{FF2B5EF4-FFF2-40B4-BE49-F238E27FC236}">
                <a16:creationId xmlns:a16="http://schemas.microsoft.com/office/drawing/2014/main" id="{FFE068C9-309D-4B2F-B495-6FF8D31F8EA4}"/>
              </a:ext>
            </a:extLst>
          </p:cNvPr>
          <p:cNvSpPr>
            <a:spLocks xmlns:a="http://schemas.openxmlformats.org/drawingml/2006/main" noGrp="1"/>
          </p:cNvSpPr>
          <p:nvPr/>
        </p:nvSpPr>
        <p:spPr>
          <a:xfrm xmlns:a="http://schemas.openxmlformats.org/drawingml/2006/main">
            <a:off x="723900" y="1743075"/>
            <a:ext cx="5476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3D30"/>
                </a:solidFill>
                <a:latin typeface="Helvetica Neue"/>
                <a:ea typeface="Helvetica Neue"/>
                <a:cs typeface="Helvetica Neue"/>
              </a:defRPr>
            </a:pPr>
            <a:r>
              <a:rPr sz="3000" b="1">
                <a:solidFill>
                  <a:srgbClr val="183D30"/>
                </a:solidFill>
                <a:latin typeface="Helvetica Neue"/>
                <a:ea typeface="Helvetica Neue"/>
                <a:cs typeface="Helvetica Neue"/>
              </a:rPr>
              <a:t>Engineers already use AI</a:t>
            </a:r>
          </a:p>
          <a:p xmlns:a="http://schemas.openxmlformats.org/drawingml/2006/main">
            <a:pPr>
              <a:defRPr sz="3000" b="1">
                <a:solidFill>
                  <a:srgbClr val="183D30"/>
                </a:solidFill>
                <a:latin typeface="Helvetica Neue"/>
                <a:ea typeface="Helvetica Neue"/>
                <a:cs typeface="Helvetica Neue"/>
              </a:defRPr>
            </a:pPr>
            <a:r>
              <a:rPr sz="3000" b="1">
                <a:solidFill>
                  <a:srgbClr val="183D30"/>
                </a:solidFill>
                <a:latin typeface="Helvetica Neue"/>
                <a:ea typeface="Helvetica Neue"/>
                <a:cs typeface="Helvetica Neue"/>
              </a:rPr>
              <a:t>to build software.</a:t>
            </a:r>
          </a:p>
        </p:txBody>
      </p:sp>
      <p:sp>
        <p:nvSpPr>
          <p:cNvPr id="3" name="">
            <a:extLst xmlns:a="http://schemas.openxmlformats.org/drawingml/2006/main">
              <a:ext uri="{FF2B5EF4-FFF2-40B4-BE49-F238E27FC236}">
                <a16:creationId xmlns:a16="http://schemas.microsoft.com/office/drawing/2014/main" id="{F1164116-31DD-42A9-957E-8CA44A8D7DA8}"/>
              </a:ext>
            </a:extLst>
          </p:cNvPr>
          <p:cNvSpPr>
            <a:spLocks xmlns:a="http://schemas.openxmlformats.org/drawingml/2006/main" noGrp="1"/>
          </p:cNvSpPr>
          <p:nvPr/>
        </p:nvSpPr>
        <p:spPr>
          <a:xfrm xmlns:a="http://schemas.openxmlformats.org/drawingml/2006/main">
            <a:off x="723900" y="3181350"/>
            <a:ext cx="5524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76A50"/>
                </a:solidFill>
                <a:latin typeface="Helvetica Neue"/>
                <a:ea typeface="Helvetica Neue"/>
                <a:cs typeface="Helvetica Neue"/>
              </a:defRPr>
            </a:pPr>
            <a:r>
              <a:rPr sz="2700" b="1">
                <a:solidFill>
                  <a:srgbClr val="276A50"/>
                </a:solidFill>
                <a:latin typeface="Helvetica Neue"/>
                <a:ea typeface="Helvetica Neue"/>
                <a:cs typeface="Helvetica Neue"/>
              </a:rPr>
              <a:t>Business teams should be able</a:t>
            </a:r>
          </a:p>
          <a:p xmlns:a="http://schemas.openxmlformats.org/drawingml/2006/main">
            <a:pPr>
              <a:defRPr sz="2700" b="1">
                <a:solidFill>
                  <a:srgbClr val="276A50"/>
                </a:solidFill>
                <a:latin typeface="Helvetica Neue"/>
                <a:ea typeface="Helvetica Neue"/>
                <a:cs typeface="Helvetica Neue"/>
              </a:defRPr>
            </a:pPr>
            <a:r>
              <a:rPr sz="2700" b="1">
                <a:solidFill>
                  <a:srgbClr val="276A50"/>
                </a:solidFill>
                <a:latin typeface="Helvetica Neue"/>
                <a:ea typeface="Helvetica Neue"/>
                <a:cs typeface="Helvetica Neue"/>
              </a:rPr>
              <a:t>to build their own tools too.</a:t>
            </a:r>
          </a:p>
        </p:txBody>
      </p:sp>
      <p:sp>
        <p:nvSpPr>
          <p:cNvPr id="4" name="">
            <a:extLst xmlns:a="http://schemas.openxmlformats.org/drawingml/2006/main">
              <a:ext uri="{FF2B5EF4-FFF2-40B4-BE49-F238E27FC236}">
                <a16:creationId xmlns:a16="http://schemas.microsoft.com/office/drawing/2014/main" id="{2B63AF92-0C18-48CB-8DE4-4771689D1025}"/>
              </a:ext>
            </a:extLst>
          </p:cNvPr>
          <p:cNvSpPr>
            <a:spLocks xmlns:a="http://schemas.openxmlformats.org/drawingml/2006/main" noGrp="1"/>
          </p:cNvSpPr>
          <p:nvPr/>
        </p:nvSpPr>
        <p:spPr>
          <a:xfrm xmlns:a="http://schemas.openxmlformats.org/drawingml/2006/main">
            <a:off x="723900" y="4772025"/>
            <a:ext cx="5619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75B"/>
                </a:solidFill>
                <a:latin typeface="Helvetica Neue"/>
                <a:ea typeface="Helvetica Neue"/>
                <a:cs typeface="Helvetica Neue"/>
              </a:defRPr>
            </a:pPr>
            <a:r>
              <a:rPr sz="2025" b="0">
                <a:solidFill>
                  <a:srgbClr val="53675B"/>
                </a:solidFill>
                <a:latin typeface="Helvetica Neue"/>
                <a:ea typeface="Helvetica Neue"/>
                <a:cs typeface="Helvetica Neue"/>
              </a:rPr>
              <a:t>Make it easy. Use existing data.</a:t>
            </a:r>
          </a:p>
          <a:p xmlns:a="http://schemas.openxmlformats.org/drawingml/2006/main">
            <a:pPr>
              <a:defRPr sz="2025" b="0">
                <a:solidFill>
                  <a:srgbClr val="53675B"/>
                </a:solidFill>
                <a:latin typeface="Helvetica Neue"/>
                <a:ea typeface="Helvetica Neue"/>
                <a:cs typeface="Helvetica Neue"/>
              </a:defRPr>
            </a:pPr>
            <a:r>
              <a:rPr sz="2025" b="0">
                <a:solidFill>
                  <a:srgbClr val="53675B"/>
                </a:solidFill>
                <a:latin typeface="Helvetica Neue"/>
                <a:ea typeface="Helvetica Neue"/>
                <a:cs typeface="Helvetica Neue"/>
              </a:rPr>
              <a:t>Create temporary experiences with</a:t>
            </a:r>
          </a:p>
          <a:p xmlns:a="http://schemas.openxmlformats.org/drawingml/2006/main">
            <a:pPr>
              <a:defRPr sz="2025" b="0">
                <a:solidFill>
                  <a:srgbClr val="53675B"/>
                </a:solidFill>
                <a:latin typeface="Helvetica Neue"/>
                <a:ea typeface="Helvetica Neue"/>
                <a:cs typeface="Helvetica Neue"/>
              </a:defRPr>
            </a:pPr>
            <a:r>
              <a:rPr sz="2025" b="0">
                <a:solidFill>
                  <a:srgbClr val="53675B"/>
                </a:solidFill>
                <a:latin typeface="Helvetica Neue"/>
                <a:ea typeface="Helvetica Neue"/>
                <a:cs typeface="Helvetica Neue"/>
              </a:rPr>
              <a:t>reliable behavior and clear access rules.</a:t>
            </a:r>
          </a:p>
        </p:txBody>
      </p:sp>
      <p:sp>
        <p:nvSpPr>
          <p:cNvPr id="5" name="">
            <a:extLst xmlns:a="http://schemas.openxmlformats.org/drawingml/2006/main">
              <a:ext uri="{FF2B5EF4-FFF2-40B4-BE49-F238E27FC236}">
                <a16:creationId xmlns:a16="http://schemas.microsoft.com/office/drawing/2014/main" id="{FC1E780D-C6F1-4DB3-813E-3C5D215085DA}"/>
              </a:ext>
            </a:extLst>
          </p:cNvPr>
          <p:cNvSpPr>
            <a:spLocks xmlns:a="http://schemas.openxmlformats.org/drawingml/2006/main" noGrp="1"/>
          </p:cNvSpPr>
          <p:nvPr/>
        </p:nvSpPr>
        <p:spPr>
          <a:xfrm xmlns:a="http://schemas.openxmlformats.org/drawingml/2006/main">
            <a:off x="7048500" y="1866900"/>
            <a:ext cx="4381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3D30"/>
                </a:solidFill>
                <a:latin typeface="Helvetica Neue"/>
                <a:ea typeface="Helvetica Neue"/>
                <a:cs typeface="Helvetica Neue"/>
              </a:defRPr>
            </a:pPr>
            <a:r>
              <a:rPr sz="3000" b="1">
                <a:solidFill>
                  <a:srgbClr val="183D30"/>
                </a:solidFill>
                <a:latin typeface="Helvetica Neue"/>
                <a:ea typeface="Helvetica Neue"/>
                <a:cs typeface="Helvetica Neue"/>
              </a:rPr>
              <a:t>“chatbots are the</a:t>
            </a:r>
          </a:p>
          <a:p xmlns:a="http://schemas.openxmlformats.org/drawingml/2006/main">
            <a:pPr>
              <a:defRPr sz="3000" b="1">
                <a:solidFill>
                  <a:srgbClr val="183D30"/>
                </a:solidFill>
                <a:latin typeface="Helvetica Neue"/>
                <a:ea typeface="Helvetica Neue"/>
                <a:cs typeface="Helvetica Neue"/>
              </a:defRPr>
            </a:pPr>
            <a:r>
              <a:rPr sz="3000" b="1">
                <a:solidFill>
                  <a:srgbClr val="183D30"/>
                </a:solidFill>
                <a:latin typeface="Helvetica Neue"/>
                <a:ea typeface="Helvetica Neue"/>
                <a:cs typeface="Helvetica Neue"/>
              </a:rPr>
              <a:t>most widely scaled”</a:t>
            </a:r>
          </a:p>
        </p:txBody>
      </p:sp>
      <p:sp>
        <p:nvSpPr>
          <p:cNvPr id="6" name="">
            <a:extLst xmlns:a="http://schemas.openxmlformats.org/drawingml/2006/main">
              <a:ext uri="{FF2B5EF4-FFF2-40B4-BE49-F238E27FC236}">
                <a16:creationId xmlns:a16="http://schemas.microsoft.com/office/drawing/2014/main" id="{04AAE5C8-FA17-4090-8597-6F592CCFD39D}"/>
              </a:ext>
            </a:extLst>
          </p:cNvPr>
          <p:cNvSpPr>
            <a:spLocks xmlns:a="http://schemas.openxmlformats.org/drawingml/2006/main" noGrp="1"/>
          </p:cNvSpPr>
          <p:nvPr/>
        </p:nvSpPr>
        <p:spPr>
          <a:xfrm xmlns:a="http://schemas.openxmlformats.org/drawingml/2006/main">
            <a:off x="7048500" y="3429000"/>
            <a:ext cx="3810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276A50"/>
                </a:solidFill>
                <a:latin typeface="Helvetica Neue"/>
                <a:ea typeface="Helvetica Neue"/>
                <a:cs typeface="Helvetica Neue"/>
              </a:defRPr>
            </a:pPr>
            <a:r>
              <a:rPr sz="6600" b="1">
                <a:solidFill>
                  <a:srgbClr val="276A50"/>
                </a:solidFill>
                <a:latin typeface="Helvetica Neue"/>
                <a:ea typeface="Helvetica Neue"/>
                <a:cs typeface="Helvetica Neue"/>
              </a:rPr>
              <a:t>47%</a:t>
            </a:r>
          </a:p>
        </p:txBody>
      </p:sp>
      <p:sp>
        <p:nvSpPr>
          <p:cNvPr id="7" name="">
            <a:extLst xmlns:a="http://schemas.openxmlformats.org/drawingml/2006/main">
              <a:ext uri="{FF2B5EF4-FFF2-40B4-BE49-F238E27FC236}">
                <a16:creationId xmlns:a16="http://schemas.microsoft.com/office/drawing/2014/main" id="{CCD84CF2-BB06-4652-B721-2EB71B8004E9}"/>
              </a:ext>
            </a:extLst>
          </p:cNvPr>
          <p:cNvSpPr>
            <a:spLocks xmlns:a="http://schemas.openxmlformats.org/drawingml/2006/main" noGrp="1"/>
          </p:cNvSpPr>
          <p:nvPr/>
        </p:nvSpPr>
        <p:spPr>
          <a:xfrm xmlns:a="http://schemas.openxmlformats.org/drawingml/2006/main">
            <a:off x="7048500" y="4591050"/>
            <a:ext cx="4457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75B"/>
                </a:solidFill>
                <a:latin typeface="Helvetica Neue"/>
                <a:ea typeface="Helvetica Neue"/>
                <a:cs typeface="Helvetica Neue"/>
              </a:defRPr>
            </a:pPr>
            <a:r>
              <a:rPr sz="1875" b="0">
                <a:solidFill>
                  <a:srgbClr val="53675B"/>
                </a:solidFill>
                <a:latin typeface="Helvetica Neue"/>
                <a:ea typeface="Helvetica Neue"/>
                <a:cs typeface="Helvetica Neue"/>
              </a:rPr>
              <a:t>report enterprise scaling of chatbots.</a:t>
            </a:r>
          </a:p>
          <a:p xmlns:a="http://schemas.openxmlformats.org/drawingml/2006/main">
            <a:pPr>
              <a:defRPr sz="1875" b="0">
                <a:solidFill>
                  <a:srgbClr val="53675B"/>
                </a:solidFill>
                <a:latin typeface="Helvetica Neue"/>
                <a:ea typeface="Helvetica Neue"/>
                <a:cs typeface="Helvetica Neue"/>
              </a:defRPr>
            </a:pPr>
            <a:r>
              <a:rPr sz="1875" b="0">
                <a:solidFill>
                  <a:srgbClr val="53675B"/>
                </a:solidFill>
                <a:latin typeface="Helvetica Neue"/>
                <a:ea typeface="Helvetica Neue"/>
                <a:cs typeface="Helvetica Neue"/>
              </a:rPr>
              <a:t>About 20% report scaling AI agents.</a:t>
            </a:r>
          </a:p>
        </p:txBody>
      </p:sp>
      <p:sp>
        <p:nvSpPr>
          <p:cNvPr id="8" name="">
            <a:extLst xmlns:a="http://schemas.openxmlformats.org/drawingml/2006/main">
              <a:ext uri="{FF2B5EF4-FFF2-40B4-BE49-F238E27FC236}">
                <a16:creationId xmlns:a16="http://schemas.microsoft.com/office/drawing/2014/main" id="{C7E9DB69-E7CA-4E44-A4AE-67330F19E3BE}"/>
              </a:ext>
            </a:extLst>
          </p:cNvPr>
          <p:cNvSpPr>
            <a:spLocks xmlns:a="http://schemas.openxmlformats.org/drawingml/2006/main" noGrp="1"/>
          </p:cNvSpPr>
          <p:nvPr/>
        </p:nvSpPr>
        <p:spPr>
          <a:xfrm xmlns:a="http://schemas.openxmlformats.org/drawingml/2006/main">
            <a:off x="7048500" y="5800725"/>
            <a:ext cx="4457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75B"/>
                </a:solidFill>
                <a:latin typeface="Helvetica Neue"/>
                <a:ea typeface="Helvetica Neue"/>
                <a:cs typeface="Helvetica Neue"/>
              </a:defRPr>
            </a:pPr>
            <a:r>
              <a:rPr sz="1500" b="0">
                <a:solidFill>
                  <a:srgbClr val="53675B"/>
                </a:solidFill>
                <a:latin typeface="Helvetica Neue"/>
                <a:ea typeface="Helvetica Neue"/>
                <a:cs typeface="Helvetica Neue"/>
              </a:rPr>
              <a:t>McKinsey, State of AI 2026</a:t>
            </a:r>
          </a:p>
          <a:p xmlns:a="http://schemas.openxmlformats.org/drawingml/2006/main">
            <a:pPr>
              <a:defRPr sz="1500" b="0">
                <a:solidFill>
                  <a:srgbClr val="53675B"/>
                </a:solidFill>
                <a:latin typeface="Helvetica Neue"/>
                <a:ea typeface="Helvetica Neue"/>
                <a:cs typeface="Helvetica Neue"/>
              </a:defRPr>
            </a:pPr>
            <a:r>
              <a:rPr sz="1500" b="0">
                <a:solidFill>
                  <a:srgbClr val="53675B"/>
                </a:solidFill>
                <a:latin typeface="Helvetica Neue"/>
                <a:ea typeface="Helvetica Neue"/>
                <a:cs typeface="Helvetica Neue"/>
              </a:rPr>
              <a:t>Share of survey respondents</a:t>
            </a:r>
          </a:p>
        </p:txBody>
      </p:sp>
    </p:spTree>
    <p:extLst>
      <p:ext uri="{BB962C8B-B14F-4D97-AF65-F5344CB8AC3E}">
        <p14:creationId xmlns:p14="http://schemas.microsoft.com/office/powerpoint/2010/main" val="1171895969"/>
      </p:ext>
    </p:extLst>
  </p:cSld>
</p:sld>
</file>

<file path=ppt/slides/slide3.xml><?xml version="1.0" encoding="utf-8"?>
<p:sld xmlns:p="http://schemas.openxmlformats.org/presentationml/2006/main">
  <p:cSld>
    <p:bg>
      <p:bgPr>
        <a:solidFill xmlns:a="http://schemas.openxmlformats.org/drawingml/2006/main">
          <a:srgbClr val="183D3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AD4356D-F387-4080-B79B-A73CC0C0B341}"/>
              </a:ext>
            </a:extLst>
          </p:cNvPr>
          <p:cNvSpPr>
            <a:spLocks xmlns:a="http://schemas.openxmlformats.org/drawingml/2006/main" noGrp="1"/>
          </p:cNvSpPr>
          <p:nvPr/>
        </p:nvSpPr>
        <p:spPr>
          <a:xfrm xmlns:a="http://schemas.openxmlformats.org/drawingml/2006/main">
            <a:off x="685800" y="4572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3EC"/>
                </a:solidFill>
                <a:latin typeface="Helvetica Neue"/>
                <a:ea typeface="Helvetica Neue"/>
                <a:cs typeface="Helvetica Neue"/>
              </a:defRPr>
            </a:pPr>
            <a:r>
              <a:rPr sz="3600" b="1">
                <a:solidFill>
                  <a:srgbClr val="F5F3EC"/>
                </a:solidFill>
                <a:latin typeface="Helvetica Neue"/>
                <a:ea typeface="Helvetica Neue"/>
                <a:cs typeface="Helvetica Neue"/>
              </a:rPr>
              <a:t>AutoApps</a:t>
            </a:r>
          </a:p>
        </p:txBody>
      </p:sp>
      <p:sp>
        <p:nvSpPr>
          <p:cNvPr id="2" name="">
            <a:extLst xmlns:a="http://schemas.openxmlformats.org/drawingml/2006/main">
              <a:ext uri="{FF2B5EF4-FFF2-40B4-BE49-F238E27FC236}">
                <a16:creationId xmlns:a16="http://schemas.microsoft.com/office/drawing/2014/main" id="{96DBBA8A-D702-4713-9E39-9B17E4AABB32}"/>
              </a:ext>
            </a:extLst>
          </p:cNvPr>
          <p:cNvSpPr>
            <a:spLocks xmlns:a="http://schemas.openxmlformats.org/drawingml/2006/main" noGrp="1"/>
          </p:cNvSpPr>
          <p:nvPr/>
        </p:nvSpPr>
        <p:spPr>
          <a:xfrm xmlns:a="http://schemas.openxmlformats.org/drawingml/2006/main">
            <a:off x="723900" y="1628775"/>
            <a:ext cx="10763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F5F3EC"/>
                </a:solidFill>
                <a:latin typeface="Helvetica Neue"/>
                <a:ea typeface="Helvetica Neue"/>
                <a:cs typeface="Helvetica Neue"/>
              </a:defRPr>
            </a:pPr>
            <a:r>
              <a:rPr sz="4125" b="1">
                <a:solidFill>
                  <a:srgbClr val="F5F3EC"/>
                </a:solidFill>
                <a:latin typeface="Helvetica Neue"/>
                <a:ea typeface="Helvetica Neue"/>
                <a:cs typeface="Helvetica Neue"/>
              </a:rPr>
              <a:t>Auto-generated business apps,</a:t>
            </a:r>
          </a:p>
          <a:p xmlns:a="http://schemas.openxmlformats.org/drawingml/2006/main">
            <a:pPr>
              <a:defRPr sz="4125" b="1">
                <a:solidFill>
                  <a:srgbClr val="F5F3EC"/>
                </a:solidFill>
                <a:latin typeface="Helvetica Neue"/>
                <a:ea typeface="Helvetica Neue"/>
                <a:cs typeface="Helvetica Neue"/>
              </a:defRPr>
            </a:pPr>
            <a:r>
              <a:rPr sz="4125" b="1">
                <a:solidFill>
                  <a:srgbClr val="F5F3EC"/>
                </a:solidFill>
                <a:latin typeface="Helvetica Neue"/>
                <a:ea typeface="Helvetica Neue"/>
                <a:cs typeface="Helvetica Neue"/>
              </a:rPr>
              <a:t>right where the work happens.</a:t>
            </a:r>
          </a:p>
        </p:txBody>
      </p:sp>
      <p:sp>
        <p:nvSpPr>
          <p:cNvPr id="3" name="">
            <a:extLst xmlns:a="http://schemas.openxmlformats.org/drawingml/2006/main">
              <a:ext uri="{FF2B5EF4-FFF2-40B4-BE49-F238E27FC236}">
                <a16:creationId xmlns:a16="http://schemas.microsoft.com/office/drawing/2014/main" id="{25977004-C43E-42A7-84F3-CA2DBA147552}"/>
              </a:ext>
            </a:extLst>
          </p:cNvPr>
          <p:cNvSpPr>
            <a:spLocks xmlns:a="http://schemas.openxmlformats.org/drawingml/2006/main" noGrp="1"/>
          </p:cNvSpPr>
          <p:nvPr/>
        </p:nvSpPr>
        <p:spPr>
          <a:xfrm xmlns:a="http://schemas.openxmlformats.org/drawingml/2006/main">
            <a:off x="723900" y="356235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2D7C7"/>
                </a:solidFill>
                <a:latin typeface="Helvetica Neue"/>
                <a:ea typeface="Helvetica Neue"/>
                <a:cs typeface="Helvetica Neue"/>
              </a:defRPr>
            </a:pPr>
            <a:r>
              <a:rPr sz="2250" b="1">
                <a:solidFill>
                  <a:srgbClr val="C2D7C7"/>
                </a:solidFill>
                <a:latin typeface="Helvetica Neue"/>
                <a:ea typeface="Helvetica Neue"/>
                <a:cs typeface="Helvetica Neue"/>
              </a:rPr>
              <a:t>Your existing context</a:t>
            </a:r>
          </a:p>
        </p:txBody>
      </p:sp>
      <p:sp>
        <p:nvSpPr>
          <p:cNvPr id="4" name="">
            <a:extLst xmlns:a="http://schemas.openxmlformats.org/drawingml/2006/main">
              <a:ext uri="{FF2B5EF4-FFF2-40B4-BE49-F238E27FC236}">
                <a16:creationId xmlns:a16="http://schemas.microsoft.com/office/drawing/2014/main" id="{0E0B2C4A-8708-44B5-B1C7-5BA5795342D8}"/>
              </a:ext>
            </a:extLst>
          </p:cNvPr>
          <p:cNvSpPr>
            <a:spLocks xmlns:a="http://schemas.openxmlformats.org/drawingml/2006/main" noGrp="1"/>
          </p:cNvSpPr>
          <p:nvPr/>
        </p:nvSpPr>
        <p:spPr>
          <a:xfrm xmlns:a="http://schemas.openxmlformats.org/drawingml/2006/main">
            <a:off x="723900" y="4229100"/>
            <a:ext cx="5238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5F3EC"/>
                </a:solidFill>
                <a:latin typeface="Helvetica Neue"/>
                <a:ea typeface="Helvetica Neue"/>
                <a:cs typeface="Helvetica Neue"/>
              </a:defRPr>
            </a:pPr>
            <a:r>
              <a:rPr sz="2175" b="0">
                <a:solidFill>
                  <a:srgbClr val="F5F3EC"/>
                </a:solidFill>
                <a:latin typeface="Helvetica Neue"/>
                <a:ea typeface="Helvetica Neue"/>
                <a:cs typeface="Helvetica Neue"/>
              </a:rPr>
              <a:t>Reads the sheet, understands the task,</a:t>
            </a:r>
          </a:p>
          <a:p xmlns:a="http://schemas.openxmlformats.org/drawingml/2006/main">
            <a:pPr>
              <a:defRPr sz="2175" b="0">
                <a:solidFill>
                  <a:srgbClr val="F5F3EC"/>
                </a:solidFill>
                <a:latin typeface="Helvetica Neue"/>
                <a:ea typeface="Helvetica Neue"/>
                <a:cs typeface="Helvetica Neue"/>
              </a:defRPr>
            </a:pPr>
            <a:r>
              <a:rPr sz="2175" b="0">
                <a:solidFill>
                  <a:srgbClr val="F5F3EC"/>
                </a:solidFill>
                <a:latin typeface="Helvetica Neue"/>
                <a:ea typeface="Helvetica Neue"/>
                <a:cs typeface="Helvetica Neue"/>
              </a:rPr>
              <a:t>and proposes an app you can use.</a:t>
            </a:r>
          </a:p>
        </p:txBody>
      </p:sp>
      <p:sp>
        <p:nvSpPr>
          <p:cNvPr id="5" name="">
            <a:extLst xmlns:a="http://schemas.openxmlformats.org/drawingml/2006/main">
              <a:ext uri="{FF2B5EF4-FFF2-40B4-BE49-F238E27FC236}">
                <a16:creationId xmlns:a16="http://schemas.microsoft.com/office/drawing/2014/main" id="{3EFD3F1E-262B-4BD1-A1E6-73E9918FF53F}"/>
              </a:ext>
            </a:extLst>
          </p:cNvPr>
          <p:cNvSpPr>
            <a:spLocks xmlns:a="http://schemas.openxmlformats.org/drawingml/2006/main" noGrp="1"/>
          </p:cNvSpPr>
          <p:nvPr/>
        </p:nvSpPr>
        <p:spPr>
          <a:xfrm xmlns:a="http://schemas.openxmlformats.org/drawingml/2006/main">
            <a:off x="6705600" y="356235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2D7C7"/>
                </a:solidFill>
                <a:latin typeface="Helvetica Neue"/>
                <a:ea typeface="Helvetica Neue"/>
                <a:cs typeface="Helvetica Neue"/>
              </a:defRPr>
            </a:pPr>
            <a:r>
              <a:rPr sz="2250" b="1">
                <a:solidFill>
                  <a:srgbClr val="C2D7C7"/>
                </a:solidFill>
                <a:latin typeface="Helvetica Neue"/>
                <a:ea typeface="Helvetica Neue"/>
                <a:cs typeface="Helvetica Neue"/>
              </a:rPr>
              <a:t>An app for the moment</a:t>
            </a:r>
          </a:p>
        </p:txBody>
      </p:sp>
      <p:sp>
        <p:nvSpPr>
          <p:cNvPr id="6" name="">
            <a:extLst xmlns:a="http://schemas.openxmlformats.org/drawingml/2006/main">
              <a:ext uri="{FF2B5EF4-FFF2-40B4-BE49-F238E27FC236}">
                <a16:creationId xmlns:a16="http://schemas.microsoft.com/office/drawing/2014/main" id="{A6DACB13-BB8B-4942-B559-B0DEB09B9D0E}"/>
              </a:ext>
            </a:extLst>
          </p:cNvPr>
          <p:cNvSpPr>
            <a:spLocks xmlns:a="http://schemas.openxmlformats.org/drawingml/2006/main" noGrp="1"/>
          </p:cNvSpPr>
          <p:nvPr/>
        </p:nvSpPr>
        <p:spPr>
          <a:xfrm xmlns:a="http://schemas.openxmlformats.org/drawingml/2006/main">
            <a:off x="6705600" y="4229100"/>
            <a:ext cx="48101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5F3EC"/>
                </a:solidFill>
                <a:latin typeface="Helvetica Neue"/>
                <a:ea typeface="Helvetica Neue"/>
                <a:cs typeface="Helvetica Neue"/>
              </a:defRPr>
            </a:pPr>
            <a:r>
              <a:rPr sz="2175" b="0">
                <a:solidFill>
                  <a:srgbClr val="F5F3EC"/>
                </a:solidFill>
                <a:latin typeface="Helvetica Neue"/>
                <a:ea typeface="Helvetica Neue"/>
                <a:cs typeface="Helvetica Neue"/>
              </a:rPr>
              <a:t>Ephemeral apps for a task or cycle.</a:t>
            </a:r>
          </a:p>
          <a:p xmlns:a="http://schemas.openxmlformats.org/drawingml/2006/main">
            <a:pPr>
              <a:defRPr sz="2175" b="0">
                <a:solidFill>
                  <a:srgbClr val="F5F3EC"/>
                </a:solidFill>
                <a:latin typeface="Helvetica Neue"/>
                <a:ea typeface="Helvetica Neue"/>
                <a:cs typeface="Helvetica Neue"/>
              </a:defRPr>
            </a:pPr>
            <a:r>
              <a:rPr sz="2175" b="0">
                <a:solidFill>
                  <a:srgbClr val="F5F3EC"/>
                </a:solidFill>
                <a:latin typeface="Helvetica Neue"/>
                <a:ea typeface="Helvetica Neue"/>
                <a:cs typeface="Helvetica Neue"/>
              </a:rPr>
              <a:t>The source system keeps the data.</a:t>
            </a:r>
          </a:p>
        </p:txBody>
      </p:sp>
      <p:sp>
        <p:nvSpPr>
          <p:cNvPr id="7" name="">
            <a:extLst xmlns:a="http://schemas.openxmlformats.org/drawingml/2006/main">
              <a:ext uri="{FF2B5EF4-FFF2-40B4-BE49-F238E27FC236}">
                <a16:creationId xmlns:a16="http://schemas.microsoft.com/office/drawing/2014/main" id="{2F86984C-3BDF-4887-957B-FA017450A426}"/>
              </a:ext>
            </a:extLst>
          </p:cNvPr>
          <p:cNvSpPr>
            <a:spLocks xmlns:a="http://schemas.openxmlformats.org/drawingml/2006/main" noGrp="1"/>
          </p:cNvSpPr>
          <p:nvPr/>
        </p:nvSpPr>
        <p:spPr>
          <a:xfrm xmlns:a="http://schemas.openxmlformats.org/drawingml/2006/main">
            <a:off x="723900" y="559117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5F3EC"/>
                </a:solidFill>
                <a:latin typeface="Helvetica Neue"/>
                <a:ea typeface="Helvetica Neue"/>
                <a:cs typeface="Helvetica Neue"/>
              </a:defRPr>
            </a:pPr>
            <a:r>
              <a:rPr sz="2325" b="1">
                <a:solidFill>
                  <a:srgbClr val="F5F3EC"/>
                </a:solidFill>
                <a:latin typeface="Helvetica Neue"/>
                <a:ea typeface="Helvetica Neue"/>
                <a:cs typeface="Helvetica Neue"/>
              </a:rPr>
              <a:t>No coding workflow to learn. No custom integration to build.</a:t>
            </a:r>
          </a:p>
        </p:txBody>
      </p:sp>
      <p:sp>
        <p:nvSpPr>
          <p:cNvPr id="8" name="">
            <a:extLst xmlns:a="http://schemas.openxmlformats.org/drawingml/2006/main">
              <a:ext uri="{FF2B5EF4-FFF2-40B4-BE49-F238E27FC236}">
                <a16:creationId xmlns:a16="http://schemas.microsoft.com/office/drawing/2014/main" id="{9EEFF5D0-8050-4CC7-BC18-FE0A9399CDC1}"/>
              </a:ext>
            </a:extLst>
          </p:cNvPr>
          <p:cNvSpPr>
            <a:spLocks xmlns:a="http://schemas.openxmlformats.org/drawingml/2006/main" noGrp="1"/>
          </p:cNvSpPr>
          <p:nvPr/>
        </p:nvSpPr>
        <p:spPr>
          <a:xfrm xmlns:a="http://schemas.openxmlformats.org/drawingml/2006/main">
            <a:off x="723900" y="61722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C2D7C7"/>
                </a:solidFill>
                <a:latin typeface="Helvetica Neue"/>
                <a:ea typeface="Helvetica Neue"/>
                <a:cs typeface="Helvetica Neue"/>
              </a:defRPr>
            </a:pPr>
            <a:r>
              <a:rPr sz="1575" b="0">
                <a:solidFill>
                  <a:srgbClr val="C2D7C7"/>
                </a:solidFill>
                <a:latin typeface="Helvetica Neue"/>
                <a:ea typeface="Helvetica Neue"/>
                <a:cs typeface="Helvetica Neue"/>
              </a:rPr>
              <a:t>Starting with Google Sheets. Authorized access and app-specific row and field rules.</a:t>
            </a:r>
          </a:p>
        </p:txBody>
      </p:sp>
    </p:spTree>
    <p:extLst>
      <p:ext uri="{BB962C8B-B14F-4D97-AF65-F5344CB8AC3E}">
        <p14:creationId xmlns:p14="http://schemas.microsoft.com/office/powerpoint/2010/main" val="1504162967"/>
      </p:ext>
    </p:extLst>
  </p:cSld>
</p:sld>
</file>

<file path=ppt/slides/slide4.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C706714-8E5C-4F50-BDCD-394F1D052118}"/>
              </a:ext>
            </a:extLst>
          </p:cNvPr>
          <p:cNvSpPr>
            <a:spLocks xmlns:a="http://schemas.openxmlformats.org/drawingml/2006/main" noGrp="1"/>
          </p:cNvSpPr>
          <p:nvPr/>
        </p:nvSpPr>
        <p:spPr>
          <a:xfrm xmlns:a="http://schemas.openxmlformats.org/drawingml/2006/main">
            <a:off x="685800" y="4572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3D30"/>
                </a:solidFill>
                <a:latin typeface="Helvetica Neue"/>
                <a:ea typeface="Helvetica Neue"/>
                <a:cs typeface="Helvetica Neue"/>
              </a:defRPr>
            </a:pPr>
            <a:r>
              <a:rPr sz="3600" b="1">
                <a:solidFill>
                  <a:srgbClr val="183D30"/>
                </a:solidFill>
                <a:latin typeface="Helvetica Neue"/>
                <a:ea typeface="Helvetica Neue"/>
                <a:cs typeface="Helvetica Neue"/>
              </a:rPr>
              <a:t>Example: the quarterly budget cycle</a:t>
            </a:r>
          </a:p>
        </p:txBody>
      </p:sp>
      <p:sp>
        <p:nvSpPr>
          <p:cNvPr id="2" name="">
            <a:extLst xmlns:a="http://schemas.openxmlformats.org/drawingml/2006/main">
              <a:ext uri="{FF2B5EF4-FFF2-40B4-BE49-F238E27FC236}">
                <a16:creationId xmlns:a16="http://schemas.microsoft.com/office/drawing/2014/main" id="{91BEA654-3FBA-48E4-AFB0-0C79376DCCE0}"/>
              </a:ext>
            </a:extLst>
          </p:cNvPr>
          <p:cNvSpPr>
            <a:spLocks xmlns:a="http://schemas.openxmlformats.org/drawingml/2006/main" noGrp="1"/>
          </p:cNvSpPr>
          <p:nvPr/>
        </p:nvSpPr>
        <p:spPr>
          <a:xfrm xmlns:a="http://schemas.openxmlformats.org/drawingml/2006/main">
            <a:off x="723900" y="1381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76A50"/>
                </a:solidFill>
                <a:latin typeface="Helvetica Neue"/>
                <a:ea typeface="Helvetica Neue"/>
                <a:cs typeface="Helvetica Neue"/>
              </a:defRPr>
            </a:pPr>
            <a:r>
              <a:rPr sz="2325" b="1">
                <a:solidFill>
                  <a:srgbClr val="276A50"/>
                </a:solidFill>
                <a:latin typeface="Helvetica Neue"/>
                <a:ea typeface="Helvetica Neue"/>
                <a:cs typeface="Helvetica Neue"/>
              </a:rPr>
              <a:t>Finance needs updated forecasts from every budget owner.</a:t>
            </a:r>
          </a:p>
        </p:txBody>
      </p:sp>
      <p:sp>
        <p:nvSpPr>
          <p:cNvPr id="3" name="">
            <a:extLst xmlns:a="http://schemas.openxmlformats.org/drawingml/2006/main">
              <a:ext uri="{FF2B5EF4-FFF2-40B4-BE49-F238E27FC236}">
                <a16:creationId xmlns:a16="http://schemas.microsoft.com/office/drawing/2014/main" id="{BBF7AFDC-8492-4BE3-9548-34FD7691C6B6}"/>
              </a:ext>
            </a:extLst>
          </p:cNvPr>
          <p:cNvSpPr>
            <a:spLocks xmlns:a="http://schemas.openxmlformats.org/drawingml/2006/main" noGrp="1"/>
          </p:cNvSpPr>
          <p:nvPr/>
        </p:nvSpPr>
        <p:spPr>
          <a:xfrm xmlns:a="http://schemas.openxmlformats.org/drawingml/2006/main">
            <a:off x="723900" y="2238375"/>
            <a:ext cx="5238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D30"/>
                </a:solidFill>
                <a:latin typeface="Helvetica Neue"/>
                <a:ea typeface="Helvetica Neue"/>
                <a:cs typeface="Helvetica Neue"/>
              </a:defRPr>
            </a:pPr>
            <a:r>
              <a:rPr sz="2175" b="1">
                <a:solidFill>
                  <a:srgbClr val="183D30"/>
                </a:solidFill>
                <a:latin typeface="Helvetica Neue"/>
                <a:ea typeface="Helvetica Neue"/>
                <a:cs typeface="Helvetica Neue"/>
              </a:rPr>
              <a:t>The context already exists</a:t>
            </a:r>
          </a:p>
        </p:txBody>
      </p:sp>
      <p:graphicFrame>
        <p:nvGraphicFramePr>
          <p:cNvPr id="13" name=""/>
          <p:cNvGraphicFramePr/>
          <p:nvPr/>
        </p:nvGraphicFramePr>
        <p:xfrm>
          <a:off xmlns:a="http://schemas.openxmlformats.org/drawingml/2006/main" x="723900" y="2962275"/>
          <a:ext xmlns:a="http://schemas.openxmlformats.org/drawingml/2006/main" cx="5238750" cy="1866900"/>
        </p:xfrm>
        <a:graphic xmlns:a="http://schemas.openxmlformats.org/drawingml/2006/main">
          <a:graphicData uri="http://schemas.openxmlformats.org/drawingml/2006/table">
            <a:tbl>
              <a:tblPr/>
              <a:tblGrid>
                <a:gridCol w="1809750"/>
                <a:gridCol w="1714500"/>
                <a:gridCol w="1714500"/>
              </a:tblGrid>
              <a:tr h="466725">
                <a:tc>
                  <a:txBody>
                    <a:bodyPr>
                      <a:noAutofit/>
                    </a:bodyPr>
                    <a:lstStyle/>
                    <a:p>
                      <a:r>
                        <a:rPr sz="1650" b="1">
                          <a:solidFill>
                            <a:srgbClr val="F5F3EC"/>
                          </a:solidFill>
                          <a:latin typeface="Helvetica Neue"/>
                          <a:ea typeface="Helvetica Neue"/>
                          <a:cs typeface="Helvetica Neue"/>
                        </a:rPr>
                        <a:t>Owner</a:t>
                      </a:r>
                    </a:p>
                  </a:txBody>
                  <a:tcPr marL="91440" marR="91440" marT="45720" marB="45720">
                    <a:solidFill>
                      <a:srgbClr val="183D30"/>
                    </a:solidFill>
                  </a:tcPr>
                </a:tc>
                <a:tc>
                  <a:txBody>
                    <a:bodyPr>
                      <a:noAutofit/>
                    </a:bodyPr>
                    <a:lstStyle/>
                    <a:p>
                      <a:r>
                        <a:rPr sz="1650" b="1">
                          <a:solidFill>
                            <a:srgbClr val="F5F3EC"/>
                          </a:solidFill>
                          <a:latin typeface="Helvetica Neue"/>
                          <a:ea typeface="Helvetica Neue"/>
                          <a:cs typeface="Helvetica Neue"/>
                        </a:rPr>
                        <a:t>Q1 forecast</a:t>
                      </a:r>
                    </a:p>
                  </a:txBody>
                  <a:tcPr marL="91440" marR="91440" marT="45720" marB="45720">
                    <a:solidFill>
                      <a:srgbClr val="183D30"/>
                    </a:solidFill>
                  </a:tcPr>
                </a:tc>
                <a:tc>
                  <a:txBody>
                    <a:bodyPr>
                      <a:noAutofit/>
                    </a:bodyPr>
                    <a:lstStyle/>
                    <a:p>
                      <a:r>
                        <a:rPr sz="1650" b="1">
                          <a:solidFill>
                            <a:srgbClr val="F5F3EC"/>
                          </a:solidFill>
                          <a:latin typeface="Helvetica Neue"/>
                          <a:ea typeface="Helvetica Neue"/>
                          <a:cs typeface="Helvetica Neue"/>
                        </a:rPr>
                        <a:t>Status</a:t>
                      </a:r>
                    </a:p>
                  </a:txBody>
                  <a:tcPr marL="91440" marR="91440" marT="45720" marB="45720">
                    <a:solidFill>
                      <a:srgbClr val="183D30"/>
                    </a:solidFill>
                  </a:tcPr>
                </a:tc>
              </a:tr>
              <a:tr h="466725">
                <a:tc>
                  <a:txBody>
                    <a:bodyPr>
                      <a:noAutofit/>
                    </a:bodyPr>
                    <a:lstStyle/>
                    <a:p>
                      <a:r>
                        <a:rPr sz="1650" b="0">
                          <a:solidFill>
                            <a:srgbClr val="183D30"/>
                          </a:solidFill>
                          <a:latin typeface="Helvetica Neue"/>
                          <a:ea typeface="Helvetica Neue"/>
                          <a:cs typeface="Helvetica Neue"/>
                        </a:rPr>
                        <a:t>Alex</a:t>
                      </a:r>
                    </a:p>
                  </a:txBody>
                  <a:tcPr marL="91440" marR="91440" marT="45720" marB="45720">
                    <a:solidFill>
                      <a:srgbClr val="F5F3EC"/>
                    </a:solidFill>
                  </a:tcPr>
                </a:tc>
                <a:tc>
                  <a:txBody>
                    <a:bodyPr>
                      <a:noAutofit/>
                    </a:bodyPr>
                    <a:lstStyle/>
                    <a:p>
                      <a:r>
                        <a:rPr sz="1650" b="0">
                          <a:solidFill>
                            <a:srgbClr val="183D30"/>
                          </a:solidFill>
                          <a:latin typeface="Helvetica Neue"/>
                          <a:ea typeface="Helvetica Neue"/>
                          <a:cs typeface="Helvetica Neue"/>
                        </a:rPr>
                        <a:t>—</a:t>
                      </a:r>
                    </a:p>
                  </a:txBody>
                  <a:tcPr marL="91440" marR="91440" marT="45720" marB="45720">
                    <a:solidFill>
                      <a:srgbClr val="F5F3EC"/>
                    </a:solidFill>
                  </a:tcPr>
                </a:tc>
                <a:tc>
                  <a:txBody>
                    <a:bodyPr>
                      <a:noAutofit/>
                    </a:bodyPr>
                    <a:lstStyle/>
                    <a:p>
                      <a:r>
                        <a:rPr sz="1650" b="0">
                          <a:solidFill>
                            <a:srgbClr val="183D30"/>
                          </a:solidFill>
                          <a:latin typeface="Helvetica Neue"/>
                          <a:ea typeface="Helvetica Neue"/>
                          <a:cs typeface="Helvetica Neue"/>
                        </a:rPr>
                        <a:t>Missing</a:t>
                      </a:r>
                    </a:p>
                  </a:txBody>
                  <a:tcPr marL="91440" marR="91440" marT="45720" marB="45720">
                    <a:solidFill>
                      <a:srgbClr val="F5F3EC"/>
                    </a:solidFill>
                  </a:tcPr>
                </a:tc>
              </a:tr>
              <a:tr h="466725">
                <a:tc>
                  <a:txBody>
                    <a:bodyPr>
                      <a:noAutofit/>
                    </a:bodyPr>
                    <a:lstStyle/>
                    <a:p>
                      <a:r>
                        <a:rPr sz="1650" b="0">
                          <a:solidFill>
                            <a:srgbClr val="183D30"/>
                          </a:solidFill>
                          <a:latin typeface="Helvetica Neue"/>
                          <a:ea typeface="Helvetica Neue"/>
                          <a:cs typeface="Helvetica Neue"/>
                        </a:rPr>
                        <a:t>Sam</a:t>
                      </a:r>
                    </a:p>
                  </a:txBody>
                  <a:tcPr marL="91440" marR="91440" marT="45720" marB="45720">
                    <a:solidFill>
                      <a:srgbClr val="F5F3EC"/>
                    </a:solidFill>
                  </a:tcPr>
                </a:tc>
                <a:tc>
                  <a:txBody>
                    <a:bodyPr>
                      <a:noAutofit/>
                    </a:bodyPr>
                    <a:lstStyle/>
                    <a:p>
                      <a:r>
                        <a:rPr sz="1650" b="0">
                          <a:solidFill>
                            <a:srgbClr val="183D30"/>
                          </a:solidFill>
                          <a:latin typeface="Helvetica Neue"/>
                          <a:ea typeface="Helvetica Neue"/>
                          <a:cs typeface="Helvetica Neue"/>
                        </a:rPr>
                        <a:t>€24,000</a:t>
                      </a:r>
                    </a:p>
                  </a:txBody>
                  <a:tcPr marL="91440" marR="91440" marT="45720" marB="45720">
                    <a:solidFill>
                      <a:srgbClr val="F5F3EC"/>
                    </a:solidFill>
                  </a:tcPr>
                </a:tc>
                <a:tc>
                  <a:txBody>
                    <a:bodyPr>
                      <a:noAutofit/>
                    </a:bodyPr>
                    <a:lstStyle/>
                    <a:p>
                      <a:r>
                        <a:rPr sz="1650" b="0">
                          <a:solidFill>
                            <a:srgbClr val="183D30"/>
                          </a:solidFill>
                          <a:latin typeface="Helvetica Neue"/>
                          <a:ea typeface="Helvetica Neue"/>
                          <a:cs typeface="Helvetica Neue"/>
                        </a:rPr>
                        <a:t>Received</a:t>
                      </a:r>
                    </a:p>
                  </a:txBody>
                  <a:tcPr marL="91440" marR="91440" marT="45720" marB="45720">
                    <a:solidFill>
                      <a:srgbClr val="F5F3EC"/>
                    </a:solidFill>
                  </a:tcPr>
                </a:tc>
              </a:tr>
              <a:tr h="466725">
                <a:tc>
                  <a:txBody>
                    <a:bodyPr>
                      <a:noAutofit/>
                    </a:bodyPr>
                    <a:lstStyle/>
                    <a:p>
                      <a:r>
                        <a:rPr sz="1650" b="0">
                          <a:solidFill>
                            <a:srgbClr val="183D30"/>
                          </a:solidFill>
                          <a:latin typeface="Helvetica Neue"/>
                          <a:ea typeface="Helvetica Neue"/>
                          <a:cs typeface="Helvetica Neue"/>
                        </a:rPr>
                        <a:t>Jordan</a:t>
                      </a:r>
                    </a:p>
                  </a:txBody>
                  <a:tcPr marL="91440" marR="91440" marT="45720" marB="45720">
                    <a:solidFill>
                      <a:srgbClr val="F5F3EC"/>
                    </a:solidFill>
                  </a:tcPr>
                </a:tc>
                <a:tc>
                  <a:txBody>
                    <a:bodyPr>
                      <a:noAutofit/>
                    </a:bodyPr>
                    <a:lstStyle/>
                    <a:p>
                      <a:r>
                        <a:rPr sz="1650" b="0">
                          <a:solidFill>
                            <a:srgbClr val="183D30"/>
                          </a:solidFill>
                          <a:latin typeface="Helvetica Neue"/>
                          <a:ea typeface="Helvetica Neue"/>
                          <a:cs typeface="Helvetica Neue"/>
                        </a:rPr>
                        <a:t>—</a:t>
                      </a:r>
                    </a:p>
                  </a:txBody>
                  <a:tcPr marL="91440" marR="91440" marT="45720" marB="45720">
                    <a:solidFill>
                      <a:srgbClr val="F5F3EC"/>
                    </a:solidFill>
                  </a:tcPr>
                </a:tc>
                <a:tc>
                  <a:txBody>
                    <a:bodyPr>
                      <a:noAutofit/>
                    </a:bodyPr>
                    <a:lstStyle/>
                    <a:p>
                      <a:r>
                        <a:rPr sz="1650" b="0">
                          <a:solidFill>
                            <a:srgbClr val="183D30"/>
                          </a:solidFill>
                          <a:latin typeface="Helvetica Neue"/>
                          <a:ea typeface="Helvetica Neue"/>
                          <a:cs typeface="Helvetica Neue"/>
                        </a:rPr>
                        <a:t>Missing</a:t>
                      </a:r>
                    </a:p>
                  </a:txBody>
                  <a:tcPr marL="91440" marR="91440" marT="45720" marB="45720">
                    <a:solidFill>
                      <a:srgbClr val="F5F3EC"/>
                    </a:solidFill>
                  </a:tcPr>
                </a:tc>
              </a:tr>
            </a:tbl>
          </a:graphicData>
        </a:graphic>
      </p:graphicFrame>
      <p:sp>
        <p:nvSpPr>
          <p:cNvPr id="5" name="">
            <a:extLst xmlns:a="http://schemas.openxmlformats.org/drawingml/2006/main">
              <a:ext uri="{FF2B5EF4-FFF2-40B4-BE49-F238E27FC236}">
                <a16:creationId xmlns:a16="http://schemas.microsoft.com/office/drawing/2014/main" id="{947D3695-37A0-43BC-A9D5-721D3DEF2F96}"/>
              </a:ext>
            </a:extLst>
          </p:cNvPr>
          <p:cNvSpPr>
            <a:spLocks xmlns:a="http://schemas.openxmlformats.org/drawingml/2006/main" noGrp="1"/>
          </p:cNvSpPr>
          <p:nvPr/>
        </p:nvSpPr>
        <p:spPr>
          <a:xfrm xmlns:a="http://schemas.openxmlformats.org/drawingml/2006/main">
            <a:off x="723900" y="49720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75B"/>
                </a:solidFill>
                <a:latin typeface="Helvetica Neue"/>
                <a:ea typeface="Helvetica Neue"/>
                <a:cs typeface="Helvetica Neue"/>
              </a:defRPr>
            </a:pPr>
            <a:r>
              <a:rPr sz="1500" b="0">
                <a:solidFill>
                  <a:srgbClr val="53675B"/>
                </a:solidFill>
                <a:latin typeface="Helvetica Neue"/>
                <a:ea typeface="Helvetica Neue"/>
                <a:cs typeface="Helvetica Neue"/>
              </a:rPr>
              <a:t>Illustrative sheet with synthetic data</a:t>
            </a:r>
          </a:p>
        </p:txBody>
      </p:sp>
      <p:sp>
        <p:nvSpPr>
          <p:cNvPr id="6" name="">
            <a:extLst xmlns:a="http://schemas.openxmlformats.org/drawingml/2006/main">
              <a:ext uri="{FF2B5EF4-FFF2-40B4-BE49-F238E27FC236}">
                <a16:creationId xmlns:a16="http://schemas.microsoft.com/office/drawing/2014/main" id="{16AB7981-CE56-4A9B-B6E4-ACBA6B3D5E85}"/>
              </a:ext>
            </a:extLst>
          </p:cNvPr>
          <p:cNvSpPr>
            <a:spLocks xmlns:a="http://schemas.openxmlformats.org/drawingml/2006/main" noGrp="1"/>
          </p:cNvSpPr>
          <p:nvPr/>
        </p:nvSpPr>
        <p:spPr>
          <a:xfrm xmlns:a="http://schemas.openxmlformats.org/drawingml/2006/main">
            <a:off x="6762750" y="22383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D30"/>
                </a:solidFill>
                <a:latin typeface="Helvetica Neue"/>
                <a:ea typeface="Helvetica Neue"/>
                <a:cs typeface="Helvetica Neue"/>
              </a:defRPr>
            </a:pPr>
            <a:r>
              <a:rPr sz="2175" b="1">
                <a:solidFill>
                  <a:srgbClr val="183D30"/>
                </a:solidFill>
                <a:latin typeface="Helvetica Neue"/>
                <a:ea typeface="Helvetica Neue"/>
                <a:cs typeface="Helvetica Neue"/>
              </a:rPr>
              <a:t>AutoApps generates the experience</a:t>
            </a:r>
          </a:p>
        </p:txBody>
      </p:sp>
      <p:sp>
        <p:nvSpPr>
          <p:cNvPr id="7" name="">
            <a:extLst xmlns:a="http://schemas.openxmlformats.org/drawingml/2006/main">
              <a:ext uri="{FF2B5EF4-FFF2-40B4-BE49-F238E27FC236}">
                <a16:creationId xmlns:a16="http://schemas.microsoft.com/office/drawing/2014/main" id="{E1B28D87-B7E7-4902-8A49-36F6187B75D4}"/>
              </a:ext>
            </a:extLst>
          </p:cNvPr>
          <p:cNvSpPr>
            <a:spLocks xmlns:a="http://schemas.openxmlformats.org/drawingml/2006/main" noGrp="1"/>
          </p:cNvSpPr>
          <p:nvPr/>
        </p:nvSpPr>
        <p:spPr>
          <a:xfrm xmlns:a="http://schemas.openxmlformats.org/drawingml/2006/main">
            <a:off x="6762750" y="3105150"/>
            <a:ext cx="476250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D30"/>
                </a:solidFill>
                <a:latin typeface="Helvetica Neue"/>
                <a:ea typeface="Helvetica Neue"/>
                <a:cs typeface="Helvetica Neue"/>
              </a:defRPr>
            </a:pPr>
            <a:r>
              <a:rPr sz="1950" b="0">
                <a:solidFill>
                  <a:srgbClr val="183D30"/>
                </a:solidFill>
                <a:latin typeface="Helvetica Neue"/>
                <a:ea typeface="Helvetica Neue"/>
                <a:cs typeface="Helvetica Neue"/>
              </a:rPr>
              <a:t>01  Suggest a budget collection app</a:t>
            </a:r>
          </a:p>
          <a:p xmlns:a="http://schemas.openxmlformats.org/drawingml/2006/main">
            <a:r>
              <a:t/>
            </a:r>
          </a:p>
          <a:p xmlns:a="http://schemas.openxmlformats.org/drawingml/2006/main">
            <a:pPr>
              <a:defRPr sz="1950" b="0">
                <a:solidFill>
                  <a:srgbClr val="183D30"/>
                </a:solidFill>
                <a:latin typeface="Helvetica Neue"/>
                <a:ea typeface="Helvetica Neue"/>
                <a:cs typeface="Helvetica Neue"/>
              </a:defRPr>
            </a:pPr>
            <a:r>
              <a:rPr sz="1950" b="0">
                <a:solidFill>
                  <a:srgbClr val="183D30"/>
                </a:solidFill>
                <a:latin typeface="Helvetica Neue"/>
                <a:ea typeface="Helvetica Neue"/>
                <a:cs typeface="Helvetica Neue"/>
              </a:rPr>
              <a:t>02  Give owners a focused input form</a:t>
            </a:r>
          </a:p>
          <a:p xmlns:a="http://schemas.openxmlformats.org/drawingml/2006/main">
            <a:r>
              <a:t/>
            </a:r>
          </a:p>
          <a:p xmlns:a="http://schemas.openxmlformats.org/drawingml/2006/main">
            <a:pPr>
              <a:defRPr sz="1950" b="0">
                <a:solidFill>
                  <a:srgbClr val="183D30"/>
                </a:solidFill>
                <a:latin typeface="Helvetica Neue"/>
                <a:ea typeface="Helvetica Neue"/>
                <a:cs typeface="Helvetica Neue"/>
              </a:defRPr>
            </a:pPr>
            <a:r>
              <a:rPr sz="1950" b="0">
                <a:solidFill>
                  <a:srgbClr val="183D30"/>
                </a:solidFill>
                <a:latin typeface="Helvetica Neue"/>
                <a:ea typeface="Helvetica Neue"/>
                <a:cs typeface="Helvetica Neue"/>
              </a:rPr>
              <a:t>03  Save forecasts to the original sheet</a:t>
            </a:r>
          </a:p>
        </p:txBody>
      </p:sp>
      <p:sp>
        <p:nvSpPr>
          <p:cNvPr id="8" name="">
            <a:extLst xmlns:a="http://schemas.openxmlformats.org/drawingml/2006/main">
              <a:ext uri="{FF2B5EF4-FFF2-40B4-BE49-F238E27FC236}">
                <a16:creationId xmlns:a16="http://schemas.microsoft.com/office/drawing/2014/main" id="{663E2022-C06A-406D-9A0E-3E9B3C0B474B}"/>
              </a:ext>
            </a:extLst>
          </p:cNvPr>
          <p:cNvSpPr>
            <a:spLocks xmlns:a="http://schemas.openxmlformats.org/drawingml/2006/main" noGrp="1"/>
          </p:cNvSpPr>
          <p:nvPr/>
        </p:nvSpPr>
        <p:spPr>
          <a:xfrm xmlns:a="http://schemas.openxmlformats.org/drawingml/2006/main">
            <a:off x="723900" y="55911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83D30"/>
                </a:solidFill>
                <a:latin typeface="Helvetica Neue"/>
                <a:ea typeface="Helvetica Neue"/>
                <a:cs typeface="Helvetica Neue"/>
              </a:defRPr>
            </a:pPr>
            <a:r>
              <a:rPr sz="2475" b="1">
                <a:solidFill>
                  <a:srgbClr val="183D30"/>
                </a:solidFill>
                <a:latin typeface="Helvetica Neue"/>
                <a:ea typeface="Helvetica Neue"/>
                <a:cs typeface="Helvetica Neue"/>
              </a:rPr>
              <a:t>One app for this budget cycle. One source of truth.</a:t>
            </a:r>
          </a:p>
        </p:txBody>
      </p:sp>
      <p:sp>
        <p:nvSpPr>
          <p:cNvPr id="9" name="">
            <a:extLst xmlns:a="http://schemas.openxmlformats.org/drawingml/2006/main">
              <a:ext uri="{FF2B5EF4-FFF2-40B4-BE49-F238E27FC236}">
                <a16:creationId xmlns:a16="http://schemas.microsoft.com/office/drawing/2014/main" id="{8A55BBF1-F37C-4F92-9DE1-4366B6405445}"/>
              </a:ext>
            </a:extLst>
          </p:cNvPr>
          <p:cNvSpPr>
            <a:spLocks xmlns:a="http://schemas.openxmlformats.org/drawingml/2006/main" noGrp="1"/>
          </p:cNvSpPr>
          <p:nvPr/>
        </p:nvSpPr>
        <p:spPr>
          <a:xfrm xmlns:a="http://schemas.openxmlformats.org/drawingml/2006/main">
            <a:off x="723900" y="61912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75B"/>
                </a:solidFill>
                <a:latin typeface="Helvetica Neue"/>
                <a:ea typeface="Helvetica Neue"/>
                <a:cs typeface="Helvetica Neue"/>
              </a:defRPr>
            </a:pPr>
            <a:r>
              <a:rPr sz="1575" b="0">
                <a:solidFill>
                  <a:srgbClr val="53675B"/>
                </a:solidFill>
                <a:latin typeface="Helvetica Neue"/>
                <a:ea typeface="Helvetica Neue"/>
                <a:cs typeface="Helvetica Neue"/>
              </a:rPr>
              <a:t>Live demo: open the sheet, select the suggested app, submit an update, show the changed cell.</a:t>
            </a:r>
          </a:p>
        </p:txBody>
      </p:sp>
    </p:spTree>
    <p:extLst>
      <p:ext uri="{BB962C8B-B14F-4D97-AF65-F5344CB8AC3E}">
        <p14:creationId xmlns:p14="http://schemas.microsoft.com/office/powerpoint/2010/main" val="889514066"/>
      </p:ext>
    </p:extLst>
  </p:cSld>
</p:sld>
</file>

<file path=ppt/slides/slide5.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758BA95-6C6B-4F10-A3A8-A328C728B767}"/>
              </a:ext>
            </a:extLst>
          </p:cNvPr>
          <p:cNvSpPr>
            <a:spLocks xmlns:a="http://schemas.openxmlformats.org/drawingml/2006/main" noGrp="1"/>
          </p:cNvSpPr>
          <p:nvPr/>
        </p:nvSpPr>
        <p:spPr>
          <a:xfrm xmlns:a="http://schemas.openxmlformats.org/drawingml/2006/main">
            <a:off x="685800" y="4572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3D30"/>
                </a:solidFill>
                <a:latin typeface="Helvetica Neue"/>
                <a:ea typeface="Helvetica Neue"/>
                <a:cs typeface="Helvetica Neue"/>
              </a:defRPr>
            </a:pPr>
            <a:r>
              <a:rPr sz="3600" b="1">
                <a:solidFill>
                  <a:srgbClr val="183D30"/>
                </a:solidFill>
                <a:latin typeface="Helvetica Neue"/>
                <a:ea typeface="Helvetica Neue"/>
                <a:cs typeface="Helvetica Neue"/>
              </a:rPr>
              <a:t>How it works</a:t>
            </a:r>
          </a:p>
        </p:txBody>
      </p:sp>
      <p:sp>
        <p:nvSpPr>
          <p:cNvPr id="2" name="">
            <a:extLst xmlns:a="http://schemas.openxmlformats.org/drawingml/2006/main">
              <a:ext uri="{FF2B5EF4-FFF2-40B4-BE49-F238E27FC236}">
                <a16:creationId xmlns:a16="http://schemas.microsoft.com/office/drawing/2014/main" id="{E93C67CC-1C1D-45B2-BEBE-C8A30351E996}"/>
              </a:ext>
            </a:extLst>
          </p:cNvPr>
          <p:cNvSpPr>
            <a:spLocks xmlns:a="http://schemas.openxmlformats.org/drawingml/2006/main" noGrp="1"/>
          </p:cNvSpPr>
          <p:nvPr/>
        </p:nvSpPr>
        <p:spPr>
          <a:xfrm xmlns:a="http://schemas.openxmlformats.org/drawingml/2006/main">
            <a:off x="723900" y="13430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76A50"/>
                </a:solidFill>
                <a:latin typeface="Helvetica Neue"/>
                <a:ea typeface="Helvetica Neue"/>
                <a:cs typeface="Helvetica Neue"/>
              </a:defRPr>
            </a:pPr>
            <a:r>
              <a:rPr sz="2850" b="1">
                <a:solidFill>
                  <a:srgbClr val="276A50"/>
                </a:solidFill>
                <a:latin typeface="Helvetica Neue"/>
                <a:ea typeface="Helvetica Neue"/>
                <a:cs typeface="Helvetica Neue"/>
              </a:rPr>
              <a:t>Open models on Nebius Token Factory</a:t>
            </a:r>
          </a:p>
        </p:txBody>
      </p:sp>
      <p:sp>
        <p:nvSpPr>
          <p:cNvPr id="3" name="">
            <a:extLst xmlns:a="http://schemas.openxmlformats.org/drawingml/2006/main">
              <a:ext uri="{FF2B5EF4-FFF2-40B4-BE49-F238E27FC236}">
                <a16:creationId xmlns:a16="http://schemas.microsoft.com/office/drawing/2014/main" id="{EB619036-E961-43A4-A98D-283FE6F9E99C}"/>
              </a:ext>
            </a:extLst>
          </p:cNvPr>
          <p:cNvSpPr>
            <a:spLocks xmlns:a="http://schemas.openxmlformats.org/drawingml/2006/main" noGrp="1"/>
          </p:cNvSpPr>
          <p:nvPr/>
        </p:nvSpPr>
        <p:spPr>
          <a:xfrm xmlns:a="http://schemas.openxmlformats.org/drawingml/2006/main">
            <a:off x="723900" y="2305050"/>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D30"/>
                </a:solidFill>
                <a:latin typeface="Helvetica Neue"/>
                <a:ea typeface="Helvetica Neue"/>
                <a:cs typeface="Helvetica Neue"/>
              </a:defRPr>
            </a:pPr>
            <a:r>
              <a:rPr sz="2175" b="1">
                <a:solidFill>
                  <a:srgbClr val="183D30"/>
                </a:solidFill>
                <a:latin typeface="Helvetica Neue"/>
                <a:ea typeface="Helvetica Neue"/>
                <a:cs typeface="Helvetica Neue"/>
              </a:rPr>
              <a:t>Understand the context</a:t>
            </a:r>
          </a:p>
        </p:txBody>
      </p:sp>
      <p:sp>
        <p:nvSpPr>
          <p:cNvPr id="4" name="">
            <a:extLst xmlns:a="http://schemas.openxmlformats.org/drawingml/2006/main">
              <a:ext uri="{FF2B5EF4-FFF2-40B4-BE49-F238E27FC236}">
                <a16:creationId xmlns:a16="http://schemas.microsoft.com/office/drawing/2014/main" id="{D147E0B7-3C87-4ABA-9F25-DDAC989B5472}"/>
              </a:ext>
            </a:extLst>
          </p:cNvPr>
          <p:cNvSpPr>
            <a:spLocks xmlns:a="http://schemas.openxmlformats.org/drawingml/2006/main" noGrp="1"/>
          </p:cNvSpPr>
          <p:nvPr/>
        </p:nvSpPr>
        <p:spPr>
          <a:xfrm xmlns:a="http://schemas.openxmlformats.org/drawingml/2006/main">
            <a:off x="723900" y="287655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D30"/>
                </a:solidFill>
                <a:latin typeface="Helvetica Neue"/>
                <a:ea typeface="Helvetica Neue"/>
                <a:cs typeface="Helvetica Neue"/>
              </a:defRPr>
            </a:pPr>
            <a:r>
              <a:rPr sz="2025" b="0">
                <a:solidFill>
                  <a:srgbClr val="183D30"/>
                </a:solidFill>
                <a:latin typeface="Helvetica Neue"/>
                <a:ea typeface="Helvetica Neue"/>
                <a:cs typeface="Helvetica Neue"/>
              </a:rPr>
              <a:t>Sheet schema and sample values</a:t>
            </a:r>
          </a:p>
          <a:p xmlns:a="http://schemas.openxmlformats.org/drawingml/2006/main">
            <a:pPr>
              <a:defRPr sz="2025" b="0">
                <a:solidFill>
                  <a:srgbClr val="183D30"/>
                </a:solidFill>
                <a:latin typeface="Helvetica Neue"/>
                <a:ea typeface="Helvetica Neue"/>
                <a:cs typeface="Helvetica Neue"/>
              </a:defRPr>
            </a:pPr>
            <a:r>
              <a:rPr sz="2025" b="0">
                <a:solidFill>
                  <a:srgbClr val="183D30"/>
                </a:solidFill>
                <a:latin typeface="Helvetica Neue"/>
                <a:ea typeface="Helvetica Neue"/>
                <a:cs typeface="Helvetica Neue"/>
              </a:rPr>
              <a:t>GLM-5.3-Flash suggests useful apps</a:t>
            </a:r>
          </a:p>
        </p:txBody>
      </p:sp>
      <p:sp>
        <p:nvSpPr>
          <p:cNvPr id="5" name="">
            <a:extLst xmlns:a="http://schemas.openxmlformats.org/drawingml/2006/main">
              <a:ext uri="{FF2B5EF4-FFF2-40B4-BE49-F238E27FC236}">
                <a16:creationId xmlns:a16="http://schemas.microsoft.com/office/drawing/2014/main" id="{62E717A4-577A-4D4A-A45D-A1ADB78DA02B}"/>
              </a:ext>
            </a:extLst>
          </p:cNvPr>
          <p:cNvSpPr>
            <a:spLocks xmlns:a="http://schemas.openxmlformats.org/drawingml/2006/main" noGrp="1"/>
          </p:cNvSpPr>
          <p:nvPr/>
        </p:nvSpPr>
        <p:spPr>
          <a:xfrm xmlns:a="http://schemas.openxmlformats.org/drawingml/2006/main">
            <a:off x="6705600" y="2305050"/>
            <a:ext cx="4819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D30"/>
                </a:solidFill>
                <a:latin typeface="Helvetica Neue"/>
                <a:ea typeface="Helvetica Neue"/>
                <a:cs typeface="Helvetica Neue"/>
              </a:defRPr>
            </a:pPr>
            <a:r>
              <a:rPr sz="2175" b="1">
                <a:solidFill>
                  <a:srgbClr val="183D30"/>
                </a:solidFill>
                <a:latin typeface="Helvetica Neue"/>
                <a:ea typeface="Helvetica Neue"/>
                <a:cs typeface="Helvetica Neue"/>
              </a:rPr>
              <a:t>Generate a bounded app</a:t>
            </a:r>
          </a:p>
        </p:txBody>
      </p:sp>
      <p:sp>
        <p:nvSpPr>
          <p:cNvPr id="6" name="">
            <a:extLst xmlns:a="http://schemas.openxmlformats.org/drawingml/2006/main">
              <a:ext uri="{FF2B5EF4-FFF2-40B4-BE49-F238E27FC236}">
                <a16:creationId xmlns:a16="http://schemas.microsoft.com/office/drawing/2014/main" id="{6ED3F60F-1071-409B-A6C5-6C1154E99B35}"/>
              </a:ext>
            </a:extLst>
          </p:cNvPr>
          <p:cNvSpPr>
            <a:spLocks xmlns:a="http://schemas.openxmlformats.org/drawingml/2006/main" noGrp="1"/>
          </p:cNvSpPr>
          <p:nvPr/>
        </p:nvSpPr>
        <p:spPr>
          <a:xfrm xmlns:a="http://schemas.openxmlformats.org/drawingml/2006/main">
            <a:off x="6705600" y="2876550"/>
            <a:ext cx="4819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D30"/>
                </a:solidFill>
                <a:latin typeface="Helvetica Neue"/>
                <a:ea typeface="Helvetica Neue"/>
                <a:cs typeface="Helvetica Neue"/>
              </a:defRPr>
            </a:pPr>
            <a:r>
              <a:rPr sz="2025" b="0">
                <a:solidFill>
                  <a:srgbClr val="183D30"/>
                </a:solidFill>
                <a:latin typeface="Helvetica Neue"/>
                <a:ea typeface="Helvetica Neue"/>
                <a:cs typeface="Helvetica Neue"/>
              </a:rPr>
              <a:t>GLM-5.3 generates the specification</a:t>
            </a:r>
          </a:p>
          <a:p xmlns:a="http://schemas.openxmlformats.org/drawingml/2006/main">
            <a:pPr>
              <a:defRPr sz="2025" b="0">
                <a:solidFill>
                  <a:srgbClr val="183D30"/>
                </a:solidFill>
                <a:latin typeface="Helvetica Neue"/>
                <a:ea typeface="Helvetica Neue"/>
                <a:cs typeface="Helvetica Neue"/>
              </a:defRPr>
            </a:pPr>
            <a:r>
              <a:rPr sz="2025" b="0">
                <a:solidFill>
                  <a:srgbClr val="183D30"/>
                </a:solidFill>
                <a:latin typeface="Helvetica Neue"/>
                <a:ea typeface="Helvetica Neue"/>
                <a:cs typeface="Helvetica Neue"/>
              </a:rPr>
              <a:t>Validation and runtime enforce its rules</a:t>
            </a:r>
          </a:p>
        </p:txBody>
      </p:sp>
      <p:graphicFrame>
        <p:nvGraphicFramePr>
          <p:cNvPr id="17" name=""/>
          <p:cNvGraphicFramePr/>
          <p:nvPr/>
        </p:nvGraphicFramePr>
        <p:xfrm>
          <a:off xmlns:a="http://schemas.openxmlformats.org/drawingml/2006/main" x="723900" y="3981450"/>
          <a:ext xmlns:a="http://schemas.openxmlformats.org/drawingml/2006/main" cx="10744200" cy="1257300"/>
        </p:xfrm>
        <a:graphic xmlns:a="http://schemas.openxmlformats.org/drawingml/2006/main">
          <a:graphicData uri="http://schemas.openxmlformats.org/drawingml/2006/table">
            <a:tbl>
              <a:tblPr/>
              <a:tblGrid>
                <a:gridCol w="4095750"/>
                <a:gridCol w="3324225"/>
                <a:gridCol w="3324225"/>
              </a:tblGrid>
              <a:tr h="419100">
                <a:tc>
                  <a:txBody>
                    <a:bodyPr>
                      <a:noAutofit/>
                    </a:bodyPr>
                    <a:lstStyle/>
                    <a:p>
                      <a:r>
                        <a:rPr sz="1650" b="1">
                          <a:solidFill>
                            <a:srgbClr val="F5F3EC"/>
                          </a:solidFill>
                          <a:latin typeface="Helvetica Neue"/>
                          <a:ea typeface="Helvetica Neue"/>
                          <a:cs typeface="Helvetica Neue"/>
                        </a:rPr>
                        <a:t>Matched-task pilot</a:t>
                      </a:r>
                    </a:p>
                  </a:txBody>
                  <a:tcPr marL="91440" marR="91440" marT="45720" marB="45720">
                    <a:solidFill>
                      <a:srgbClr val="183D30"/>
                    </a:solidFill>
                  </a:tcPr>
                </a:tc>
                <a:tc>
                  <a:txBody>
                    <a:bodyPr>
                      <a:noAutofit/>
                    </a:bodyPr>
                    <a:lstStyle/>
                    <a:p>
                      <a:r>
                        <a:rPr sz="1650" b="1">
                          <a:solidFill>
                            <a:srgbClr val="F5F3EC"/>
                          </a:solidFill>
                          <a:latin typeface="Helvetica Neue"/>
                          <a:ea typeface="Helvetica Neue"/>
                          <a:cs typeface="Helvetica Neue"/>
                        </a:rPr>
                        <a:t>GLM-5.3</a:t>
                      </a:r>
                    </a:p>
                  </a:txBody>
                  <a:tcPr marL="91440" marR="91440" marT="45720" marB="45720">
                    <a:solidFill>
                      <a:srgbClr val="183D30"/>
                    </a:solidFill>
                  </a:tcPr>
                </a:tc>
                <a:tc>
                  <a:txBody>
                    <a:bodyPr>
                      <a:noAutofit/>
                    </a:bodyPr>
                    <a:lstStyle/>
                    <a:p>
                      <a:r>
                        <a:rPr sz="1650" b="1">
                          <a:solidFill>
                            <a:srgbClr val="F5F3EC"/>
                          </a:solidFill>
                          <a:latin typeface="Helvetica Neue"/>
                          <a:ea typeface="Helvetica Neue"/>
                          <a:cs typeface="Helvetica Neue"/>
                        </a:rPr>
                        <a:t>Flash baseline</a:t>
                      </a:r>
                    </a:p>
                  </a:txBody>
                  <a:tcPr marL="91440" marR="91440" marT="45720" marB="45720">
                    <a:solidFill>
                      <a:srgbClr val="183D30"/>
                    </a:solidFill>
                  </a:tcPr>
                </a:tc>
              </a:tr>
              <a:tr h="419100">
                <a:tc>
                  <a:txBody>
                    <a:bodyPr>
                      <a:noAutofit/>
                    </a:bodyPr>
                    <a:lstStyle/>
                    <a:p>
                      <a:r>
                        <a:rPr sz="1650" b="0">
                          <a:solidFill>
                            <a:srgbClr val="183D30"/>
                          </a:solidFill>
                          <a:latin typeface="Helvetica Neue"/>
                          <a:ea typeface="Helvetica Neue"/>
                          <a:cs typeface="Helvetica Neue"/>
                        </a:rPr>
                        <a:t>Task checklist</a:t>
                      </a:r>
                    </a:p>
                  </a:txBody>
                  <a:tcPr marL="91440" marR="91440" marT="45720" marB="45720">
                    <a:solidFill>
                      <a:srgbClr val="F5F3EC"/>
                    </a:solidFill>
                  </a:tcPr>
                </a:tc>
                <a:tc>
                  <a:txBody>
                    <a:bodyPr>
                      <a:noAutofit/>
                    </a:bodyPr>
                    <a:lstStyle/>
                    <a:p>
                      <a:r>
                        <a:rPr sz="1650" b="0">
                          <a:solidFill>
                            <a:srgbClr val="183D30"/>
                          </a:solidFill>
                          <a:latin typeface="Helvetica Neue"/>
                          <a:ea typeface="Helvetica Neue"/>
                          <a:cs typeface="Helvetica Neue"/>
                        </a:rPr>
                        <a:t>3/5</a:t>
                      </a:r>
                    </a:p>
                  </a:txBody>
                  <a:tcPr marL="91440" marR="91440" marT="45720" marB="45720">
                    <a:solidFill>
                      <a:srgbClr val="F5F3EC"/>
                    </a:solidFill>
                  </a:tcPr>
                </a:tc>
                <a:tc>
                  <a:txBody>
                    <a:bodyPr>
                      <a:noAutofit/>
                    </a:bodyPr>
                    <a:lstStyle/>
                    <a:p>
                      <a:r>
                        <a:rPr sz="1650" b="0">
                          <a:solidFill>
                            <a:srgbClr val="183D30"/>
                          </a:solidFill>
                          <a:latin typeface="Helvetica Neue"/>
                          <a:ea typeface="Helvetica Neue"/>
                          <a:cs typeface="Helvetica Neue"/>
                        </a:rPr>
                        <a:t>4/5</a:t>
                      </a:r>
                    </a:p>
                  </a:txBody>
                  <a:tcPr marL="91440" marR="91440" marT="45720" marB="45720">
                    <a:solidFill>
                      <a:srgbClr val="F5F3EC"/>
                    </a:solidFill>
                  </a:tcPr>
                </a:tc>
              </a:tr>
              <a:tr h="419100">
                <a:tc>
                  <a:txBody>
                    <a:bodyPr>
                      <a:noAutofit/>
                    </a:bodyPr>
                    <a:lstStyle/>
                    <a:p>
                      <a:r>
                        <a:rPr sz="1650" b="0">
                          <a:solidFill>
                            <a:srgbClr val="183D30"/>
                          </a:solidFill>
                          <a:latin typeface="Helvetica Neue"/>
                          <a:ea typeface="Helvetica Neue"/>
                          <a:cs typeface="Helvetica Neue"/>
                        </a:rPr>
                        <a:t>Median latency</a:t>
                      </a:r>
                    </a:p>
                  </a:txBody>
                  <a:tcPr marL="91440" marR="91440" marT="45720" marB="45720">
                    <a:solidFill>
                      <a:srgbClr val="F5F3EC"/>
                    </a:solidFill>
                  </a:tcPr>
                </a:tc>
                <a:tc>
                  <a:txBody>
                    <a:bodyPr>
                      <a:noAutofit/>
                    </a:bodyPr>
                    <a:lstStyle/>
                    <a:p>
                      <a:r>
                        <a:rPr sz="1650" b="0">
                          <a:solidFill>
                            <a:srgbClr val="183D30"/>
                          </a:solidFill>
                          <a:latin typeface="Helvetica Neue"/>
                          <a:ea typeface="Helvetica Neue"/>
                          <a:cs typeface="Helvetica Neue"/>
                        </a:rPr>
                        <a:t>4.64 s</a:t>
                      </a:r>
                    </a:p>
                  </a:txBody>
                  <a:tcPr marL="91440" marR="91440" marT="45720" marB="45720">
                    <a:solidFill>
                      <a:srgbClr val="F5F3EC"/>
                    </a:solidFill>
                  </a:tcPr>
                </a:tc>
                <a:tc>
                  <a:txBody>
                    <a:bodyPr>
                      <a:noAutofit/>
                    </a:bodyPr>
                    <a:lstStyle/>
                    <a:p>
                      <a:r>
                        <a:rPr sz="1650" b="0">
                          <a:solidFill>
                            <a:srgbClr val="183D30"/>
                          </a:solidFill>
                          <a:latin typeface="Helvetica Neue"/>
                          <a:ea typeface="Helvetica Neue"/>
                          <a:cs typeface="Helvetica Neue"/>
                        </a:rPr>
                        <a:t>5.35 s</a:t>
                      </a:r>
                    </a:p>
                  </a:txBody>
                  <a:tcPr marL="91440" marR="91440" marT="45720" marB="45720">
                    <a:solidFill>
                      <a:srgbClr val="F5F3EC"/>
                    </a:solidFill>
                  </a:tcPr>
                </a:tc>
              </a:tr>
            </a:tbl>
          </a:graphicData>
        </a:graphic>
      </p:graphicFrame>
      <p:sp>
        <p:nvSpPr>
          <p:cNvPr id="8" name="">
            <a:extLst xmlns:a="http://schemas.openxmlformats.org/drawingml/2006/main">
              <a:ext uri="{FF2B5EF4-FFF2-40B4-BE49-F238E27FC236}">
                <a16:creationId xmlns:a16="http://schemas.microsoft.com/office/drawing/2014/main" id="{2294C7F3-FC3B-4FB5-B18B-F9C152446645}"/>
              </a:ext>
            </a:extLst>
          </p:cNvPr>
          <p:cNvSpPr>
            <a:spLocks xmlns:a="http://schemas.openxmlformats.org/drawingml/2006/main" noGrp="1"/>
          </p:cNvSpPr>
          <p:nvPr/>
        </p:nvSpPr>
        <p:spPr>
          <a:xfrm xmlns:a="http://schemas.openxmlformats.org/drawingml/2006/main">
            <a:off x="723900" y="536257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75B"/>
                </a:solidFill>
                <a:latin typeface="Helvetica Neue"/>
                <a:ea typeface="Helvetica Neue"/>
                <a:cs typeface="Helvetica Neue"/>
              </a:defRPr>
            </a:pPr>
            <a:r>
              <a:rPr sz="1725" b="0">
                <a:solidFill>
                  <a:srgbClr val="53675B"/>
                </a:solidFill>
                <a:latin typeface="Helvetica Neue"/>
                <a:ea typeface="Helvetica Neue"/>
                <a:cs typeface="Helvetica Neue"/>
              </a:rPr>
              <a:t>13% lower median latency for GLM-5.3. Flash passed one more task checklist.</a:t>
            </a:r>
          </a:p>
        </p:txBody>
      </p:sp>
      <p:sp>
        <p:nvSpPr>
          <p:cNvPr id="9" name="">
            <a:extLst xmlns:a="http://schemas.openxmlformats.org/drawingml/2006/main">
              <a:ext uri="{FF2B5EF4-FFF2-40B4-BE49-F238E27FC236}">
                <a16:creationId xmlns:a16="http://schemas.microsoft.com/office/drawing/2014/main" id="{EC89FE33-7F96-4639-9F11-3A7CB1D9F020}"/>
              </a:ext>
            </a:extLst>
          </p:cNvPr>
          <p:cNvSpPr>
            <a:spLocks xmlns:a="http://schemas.openxmlformats.org/drawingml/2006/main" noGrp="1"/>
          </p:cNvSpPr>
          <p:nvPr/>
        </p:nvSpPr>
        <p:spPr>
          <a:xfrm xmlns:a="http://schemas.openxmlformats.org/drawingml/2006/main">
            <a:off x="723900" y="581977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75B"/>
                </a:solidFill>
                <a:latin typeface="Helvetica Neue"/>
                <a:ea typeface="Helvetica Neue"/>
                <a:cs typeface="Helvetica Neue"/>
              </a:defRPr>
            </a:pPr>
            <a:r>
              <a:rPr sz="1575" b="0">
                <a:solidFill>
                  <a:srgbClr val="53675B"/>
                </a:solidFill>
                <a:latin typeface="Helvetica Neue"/>
                <a:ea typeface="Helvetica Neue"/>
                <a:cs typeface="Helvetica Neue"/>
              </a:rPr>
              <a:t>Safety: exact-column validation and row/field controls. Nebius receives schema, samples and prompts.</a:t>
            </a:r>
          </a:p>
        </p:txBody>
      </p:sp>
      <p:sp>
        <p:nvSpPr>
          <p:cNvPr id="10" name="">
            <a:extLst xmlns:a="http://schemas.openxmlformats.org/drawingml/2006/main">
              <a:ext uri="{FF2B5EF4-FFF2-40B4-BE49-F238E27FC236}">
                <a16:creationId xmlns:a16="http://schemas.microsoft.com/office/drawing/2014/main" id="{728B55C0-87FA-4875-ABF0-9BB1567F53CE}"/>
              </a:ext>
            </a:extLst>
          </p:cNvPr>
          <p:cNvSpPr>
            <a:spLocks xmlns:a="http://schemas.openxmlformats.org/drawingml/2006/main" noGrp="1"/>
          </p:cNvSpPr>
          <p:nvPr/>
        </p:nvSpPr>
        <p:spPr>
          <a:xfrm xmlns:a="http://schemas.openxmlformats.org/drawingml/2006/main">
            <a:off x="723900" y="628650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75B"/>
                </a:solidFill>
                <a:latin typeface="Helvetica Neue"/>
                <a:ea typeface="Helvetica Neue"/>
                <a:cs typeface="Helvetica Neue"/>
              </a:defRPr>
            </a:pPr>
            <a:r>
              <a:rPr sz="1425" b="0">
                <a:solidFill>
                  <a:srgbClr val="53675B"/>
                </a:solidFill>
                <a:latin typeface="Helvetica Neue"/>
                <a:ea typeface="Helvetica Neue"/>
                <a:cs typeface="Helvetica Neue"/>
              </a:rPr>
              <a:t>Five tasks, one run per model, both high effort. Static spec review. Both passed all schema checks.</a:t>
            </a:r>
          </a:p>
        </p:txBody>
      </p:sp>
    </p:spTree>
    <p:extLst>
      <p:ext uri="{BB962C8B-B14F-4D97-AF65-F5344CB8AC3E}">
        <p14:creationId xmlns:p14="http://schemas.microsoft.com/office/powerpoint/2010/main" val="1691035152"/>
      </p:ext>
    </p:extLst>
  </p:cSld>
</p:sld>
</file>

<file path=ppt/slides/slide6.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9BE9C0C-4A91-4C0F-A535-0C92964F1CB9}"/>
              </a:ext>
            </a:extLst>
          </p:cNvPr>
          <p:cNvSpPr>
            <a:spLocks xmlns:a="http://schemas.openxmlformats.org/drawingml/2006/main" noGrp="1"/>
          </p:cNvSpPr>
          <p:nvPr/>
        </p:nvSpPr>
        <p:spPr>
          <a:xfrm xmlns:a="http://schemas.openxmlformats.org/drawingml/2006/main">
            <a:off x="685800" y="4572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3D30"/>
                </a:solidFill>
                <a:latin typeface="Helvetica Neue"/>
                <a:ea typeface="Helvetica Neue"/>
                <a:cs typeface="Helvetica Neue"/>
              </a:defRPr>
            </a:pPr>
            <a:r>
              <a:rPr sz="3600" b="1">
                <a:solidFill>
                  <a:srgbClr val="183D30"/>
                </a:solidFill>
                <a:latin typeface="Helvetica Neue"/>
                <a:ea typeface="Helvetica Neue"/>
                <a:cs typeface="Helvetica Neue"/>
              </a:rPr>
              <a:t>The market extends beyond software teams</a:t>
            </a:r>
          </a:p>
        </p:txBody>
      </p:sp>
      <p:sp>
        <p:nvSpPr>
          <p:cNvPr id="2" name="">
            <a:extLst xmlns:a="http://schemas.openxmlformats.org/drawingml/2006/main">
              <a:ext uri="{FF2B5EF4-FFF2-40B4-BE49-F238E27FC236}">
                <a16:creationId xmlns:a16="http://schemas.microsoft.com/office/drawing/2014/main" id="{382CAEFD-BE7E-4D70-8004-2F48E5172E77}"/>
              </a:ext>
            </a:extLst>
          </p:cNvPr>
          <p:cNvSpPr>
            <a:spLocks xmlns:a="http://schemas.openxmlformats.org/drawingml/2006/main" noGrp="1"/>
          </p:cNvSpPr>
          <p:nvPr/>
        </p:nvSpPr>
        <p:spPr>
          <a:xfrm xmlns:a="http://schemas.openxmlformats.org/drawingml/2006/main">
            <a:off x="723900" y="1552575"/>
            <a:ext cx="5048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900" b="1">
                <a:solidFill>
                  <a:srgbClr val="276A50"/>
                </a:solidFill>
                <a:latin typeface="Helvetica Neue"/>
                <a:ea typeface="Helvetica Neue"/>
                <a:cs typeface="Helvetica Neue"/>
              </a:defRPr>
            </a:pPr>
            <a:r>
              <a:rPr sz="6900" b="1">
                <a:solidFill>
                  <a:srgbClr val="276A50"/>
                </a:solidFill>
                <a:latin typeface="Helvetica Neue"/>
                <a:ea typeface="Helvetica Neue"/>
                <a:cs typeface="Helvetica Neue"/>
              </a:rPr>
              <a:t>~1%</a:t>
            </a:r>
          </a:p>
        </p:txBody>
      </p:sp>
      <p:sp>
        <p:nvSpPr>
          <p:cNvPr id="3" name="">
            <a:extLst xmlns:a="http://schemas.openxmlformats.org/drawingml/2006/main">
              <a:ext uri="{FF2B5EF4-FFF2-40B4-BE49-F238E27FC236}">
                <a16:creationId xmlns:a16="http://schemas.microsoft.com/office/drawing/2014/main" id="{7BC1B6BE-765F-4F14-8B89-75E923CD10A6}"/>
              </a:ext>
            </a:extLst>
          </p:cNvPr>
          <p:cNvSpPr>
            <a:spLocks xmlns:a="http://schemas.openxmlformats.org/drawingml/2006/main" noGrp="1"/>
          </p:cNvSpPr>
          <p:nvPr/>
        </p:nvSpPr>
        <p:spPr>
          <a:xfrm xmlns:a="http://schemas.openxmlformats.org/drawingml/2006/main">
            <a:off x="723900" y="2867025"/>
            <a:ext cx="5381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D30"/>
                </a:solidFill>
                <a:latin typeface="Helvetica Neue"/>
                <a:ea typeface="Helvetica Neue"/>
                <a:cs typeface="Helvetica Neue"/>
              </a:defRPr>
            </a:pPr>
            <a:r>
              <a:rPr sz="2175" b="1">
                <a:solidFill>
                  <a:srgbClr val="183D30"/>
                </a:solidFill>
                <a:latin typeface="Helvetica Neue"/>
                <a:ea typeface="Helvetica Neue"/>
                <a:cs typeface="Helvetica Neue"/>
              </a:rPr>
              <a:t>of U.S. jobs are software developers</a:t>
            </a:r>
          </a:p>
        </p:txBody>
      </p:sp>
      <p:sp>
        <p:nvSpPr>
          <p:cNvPr id="4" name="">
            <a:extLst xmlns:a="http://schemas.openxmlformats.org/drawingml/2006/main">
              <a:ext uri="{FF2B5EF4-FFF2-40B4-BE49-F238E27FC236}">
                <a16:creationId xmlns:a16="http://schemas.microsoft.com/office/drawing/2014/main" id="{B1F1FF22-0C0A-45FF-9F1D-99A835E72DC5}"/>
              </a:ext>
            </a:extLst>
          </p:cNvPr>
          <p:cNvSpPr>
            <a:spLocks xmlns:a="http://schemas.openxmlformats.org/drawingml/2006/main" noGrp="1"/>
          </p:cNvSpPr>
          <p:nvPr/>
        </p:nvSpPr>
        <p:spPr>
          <a:xfrm xmlns:a="http://schemas.openxmlformats.org/drawingml/2006/main">
            <a:off x="723900" y="3581400"/>
            <a:ext cx="5238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75B"/>
                </a:solidFill>
                <a:latin typeface="Helvetica Neue"/>
                <a:ea typeface="Helvetica Neue"/>
                <a:cs typeface="Helvetica Neue"/>
              </a:defRPr>
            </a:pPr>
            <a:r>
              <a:rPr sz="2025" b="0">
                <a:solidFill>
                  <a:srgbClr val="53675B"/>
                </a:solidFill>
                <a:latin typeface="Helvetica Neue"/>
                <a:ea typeface="Helvetica Neue"/>
                <a:cs typeface="Helvetica Neue"/>
              </a:rPr>
              <a:t>1.72M developers out of 170.28M jobs.</a:t>
            </a:r>
          </a:p>
          <a:p xmlns:a="http://schemas.openxmlformats.org/drawingml/2006/main">
            <a:pPr>
              <a:defRPr sz="2025" b="0">
                <a:solidFill>
                  <a:srgbClr val="53675B"/>
                </a:solidFill>
                <a:latin typeface="Helvetica Neue"/>
                <a:ea typeface="Helvetica Neue"/>
                <a:cs typeface="Helvetica Neue"/>
              </a:defRPr>
            </a:pPr>
            <a:r>
              <a:rPr sz="2025" b="0">
                <a:solidFill>
                  <a:srgbClr val="53675B"/>
                </a:solidFill>
                <a:latin typeface="Helvetica Neue"/>
                <a:ea typeface="Helvetica Neue"/>
                <a:cs typeface="Helvetica Neue"/>
              </a:rPr>
              <a:t>Most people work in other roles.</a:t>
            </a:r>
          </a:p>
        </p:txBody>
      </p:sp>
      <p:sp>
        <p:nvSpPr>
          <p:cNvPr id="5" name="">
            <a:extLst xmlns:a="http://schemas.openxmlformats.org/drawingml/2006/main">
              <a:ext uri="{FF2B5EF4-FFF2-40B4-BE49-F238E27FC236}">
                <a16:creationId xmlns:a16="http://schemas.microsoft.com/office/drawing/2014/main" id="{B66B4A2D-53B3-4D50-A5A4-24B6D9B4D28E}"/>
              </a:ext>
            </a:extLst>
          </p:cNvPr>
          <p:cNvSpPr>
            <a:spLocks xmlns:a="http://schemas.openxmlformats.org/drawingml/2006/main" noGrp="1"/>
          </p:cNvSpPr>
          <p:nvPr/>
        </p:nvSpPr>
        <p:spPr>
          <a:xfrm xmlns:a="http://schemas.openxmlformats.org/drawingml/2006/main">
            <a:off x="6762750" y="1676400"/>
            <a:ext cx="4572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83D30"/>
                </a:solidFill>
                <a:latin typeface="Helvetica Neue"/>
                <a:ea typeface="Helvetica Neue"/>
                <a:cs typeface="Helvetica Neue"/>
              </a:defRPr>
            </a:pPr>
            <a:r>
              <a:rPr sz="5400" b="1">
                <a:solidFill>
                  <a:srgbClr val="183D30"/>
                </a:solidFill>
                <a:latin typeface="Helvetica Neue"/>
                <a:ea typeface="Helvetica Neue"/>
                <a:cs typeface="Helvetica Neue"/>
              </a:rPr>
              <a:t>11.4M</a:t>
            </a:r>
          </a:p>
        </p:txBody>
      </p:sp>
      <p:sp>
        <p:nvSpPr>
          <p:cNvPr id="6" name="">
            <a:extLst xmlns:a="http://schemas.openxmlformats.org/drawingml/2006/main">
              <a:ext uri="{FF2B5EF4-FFF2-40B4-BE49-F238E27FC236}">
                <a16:creationId xmlns:a16="http://schemas.microsoft.com/office/drawing/2014/main" id="{93CD0115-1FC8-414D-BFAA-BA72C7F76CCF}"/>
              </a:ext>
            </a:extLst>
          </p:cNvPr>
          <p:cNvSpPr>
            <a:spLocks xmlns:a="http://schemas.openxmlformats.org/drawingml/2006/main" noGrp="1"/>
          </p:cNvSpPr>
          <p:nvPr/>
        </p:nvSpPr>
        <p:spPr>
          <a:xfrm xmlns:a="http://schemas.openxmlformats.org/drawingml/2006/main">
            <a:off x="6762750" y="2771775"/>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D30"/>
                </a:solidFill>
                <a:latin typeface="Helvetica Neue"/>
                <a:ea typeface="Helvetica Neue"/>
                <a:cs typeface="Helvetica Neue"/>
              </a:defRPr>
            </a:pPr>
            <a:r>
              <a:rPr sz="2250" b="1">
                <a:solidFill>
                  <a:srgbClr val="183D30"/>
                </a:solidFill>
                <a:latin typeface="Helvetica Neue"/>
                <a:ea typeface="Helvetica Neue"/>
                <a:cs typeface="Helvetica Neue"/>
              </a:rPr>
              <a:t>U.S. business and financial</a:t>
            </a:r>
          </a:p>
          <a:p xmlns:a="http://schemas.openxmlformats.org/drawingml/2006/main">
            <a:pPr>
              <a:defRPr sz="2250" b="1">
                <a:solidFill>
                  <a:srgbClr val="183D30"/>
                </a:solidFill>
                <a:latin typeface="Helvetica Neue"/>
                <a:ea typeface="Helvetica Neue"/>
                <a:cs typeface="Helvetica Neue"/>
              </a:defRPr>
            </a:pPr>
            <a:r>
              <a:rPr sz="2250" b="1">
                <a:solidFill>
                  <a:srgbClr val="183D30"/>
                </a:solidFill>
                <a:latin typeface="Helvetica Neue"/>
                <a:ea typeface="Helvetica Neue"/>
                <a:cs typeface="Helvetica Neue"/>
              </a:rPr>
              <a:t>operations jobs</a:t>
            </a:r>
          </a:p>
        </p:txBody>
      </p:sp>
      <p:sp>
        <p:nvSpPr>
          <p:cNvPr id="7" name="">
            <a:extLst xmlns:a="http://schemas.openxmlformats.org/drawingml/2006/main">
              <a:ext uri="{FF2B5EF4-FFF2-40B4-BE49-F238E27FC236}">
                <a16:creationId xmlns:a16="http://schemas.microsoft.com/office/drawing/2014/main" id="{31C354E0-9A62-4E77-A1CC-1593F2BFB909}"/>
              </a:ext>
            </a:extLst>
          </p:cNvPr>
          <p:cNvSpPr>
            <a:spLocks xmlns:a="http://schemas.openxmlformats.org/drawingml/2006/main" noGrp="1"/>
          </p:cNvSpPr>
          <p:nvPr/>
        </p:nvSpPr>
        <p:spPr>
          <a:xfrm xmlns:a="http://schemas.openxmlformats.org/drawingml/2006/main">
            <a:off x="6762750" y="3800475"/>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75B"/>
                </a:solidFill>
                <a:latin typeface="Helvetica Neue"/>
                <a:ea typeface="Helvetica Neue"/>
                <a:cs typeface="Helvetica Neue"/>
              </a:defRPr>
            </a:pPr>
            <a:r>
              <a:rPr sz="1950" b="0">
                <a:solidFill>
                  <a:srgbClr val="53675B"/>
                </a:solidFill>
                <a:latin typeface="Helvetica Neue"/>
                <a:ea typeface="Helvetica Neue"/>
                <a:cs typeface="Helvetica Neue"/>
              </a:rPr>
              <a:t>Initial segment: Finance and Ops teams</a:t>
            </a:r>
          </a:p>
          <a:p xmlns:a="http://schemas.openxmlformats.org/drawingml/2006/main">
            <a:pPr>
              <a:defRPr sz="1950" b="0">
                <a:solidFill>
                  <a:srgbClr val="53675B"/>
                </a:solidFill>
                <a:latin typeface="Helvetica Neue"/>
                <a:ea typeface="Helvetica Neue"/>
                <a:cs typeface="Helvetica Neue"/>
              </a:defRPr>
            </a:pPr>
            <a:r>
              <a:rPr sz="1950" b="0">
                <a:solidFill>
                  <a:srgbClr val="53675B"/>
                </a:solidFill>
                <a:latin typeface="Helvetica Neue"/>
                <a:ea typeface="Helvetica Neue"/>
                <a:cs typeface="Helvetica Neue"/>
              </a:rPr>
              <a:t>using Sheets for recurring workflows.</a:t>
            </a:r>
          </a:p>
          <a:p xmlns:a="http://schemas.openxmlformats.org/drawingml/2006/main">
            <a:pPr>
              <a:defRPr sz="1950" b="0">
                <a:solidFill>
                  <a:srgbClr val="53675B"/>
                </a:solidFill>
                <a:latin typeface="Helvetica Neue"/>
                <a:ea typeface="Helvetica Neue"/>
                <a:cs typeface="Helvetica Neue"/>
              </a:defRPr>
            </a:pPr>
            <a:r>
              <a:rPr sz="1950" b="0">
                <a:solidFill>
                  <a:srgbClr val="53675B"/>
                </a:solidFill>
                <a:latin typeface="Helvetica Neue"/>
                <a:ea typeface="Helvetica Neue"/>
                <a:cs typeface="Helvetica Neue"/>
              </a:rPr>
              <a:t>Business model: team subscriptions.</a:t>
            </a:r>
          </a:p>
        </p:txBody>
      </p:sp>
      <p:sp>
        <p:nvSpPr>
          <p:cNvPr id="8" name="">
            <a:extLst xmlns:a="http://schemas.openxmlformats.org/drawingml/2006/main">
              <a:ext uri="{FF2B5EF4-FFF2-40B4-BE49-F238E27FC236}">
                <a16:creationId xmlns:a16="http://schemas.microsoft.com/office/drawing/2014/main" id="{995EEECB-B072-4D68-977B-3AB983AF0E6E}"/>
              </a:ext>
            </a:extLst>
          </p:cNvPr>
          <p:cNvSpPr>
            <a:spLocks xmlns:a="http://schemas.openxmlformats.org/drawingml/2006/main" noGrp="1"/>
          </p:cNvSpPr>
          <p:nvPr/>
        </p:nvSpPr>
        <p:spPr>
          <a:xfrm xmlns:a="http://schemas.openxmlformats.org/drawingml/2006/main">
            <a:off x="723900" y="51625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83D30"/>
                </a:solidFill>
                <a:latin typeface="Helvetica Neue"/>
                <a:ea typeface="Helvetica Neue"/>
                <a:cs typeface="Helvetica Neue"/>
              </a:defRPr>
            </a:pPr>
            <a:r>
              <a:rPr sz="2325" b="1">
                <a:solidFill>
                  <a:srgbClr val="183D30"/>
                </a:solidFill>
                <a:latin typeface="Helvetica Neue"/>
                <a:ea typeface="Helvetica Neue"/>
                <a:cs typeface="Helvetica Neue"/>
              </a:rPr>
              <a:t>Jevons’ paradox, applied to software</a:t>
            </a:r>
          </a:p>
        </p:txBody>
      </p:sp>
      <p:sp>
        <p:nvSpPr>
          <p:cNvPr id="9" name="">
            <a:extLst xmlns:a="http://schemas.openxmlformats.org/drawingml/2006/main">
              <a:ext uri="{FF2B5EF4-FFF2-40B4-BE49-F238E27FC236}">
                <a16:creationId xmlns:a16="http://schemas.microsoft.com/office/drawing/2014/main" id="{2531CAE6-F4EC-4E83-8453-9FD929FC7730}"/>
              </a:ext>
            </a:extLst>
          </p:cNvPr>
          <p:cNvSpPr>
            <a:spLocks xmlns:a="http://schemas.openxmlformats.org/drawingml/2006/main" noGrp="1"/>
          </p:cNvSpPr>
          <p:nvPr/>
        </p:nvSpPr>
        <p:spPr>
          <a:xfrm xmlns:a="http://schemas.openxmlformats.org/drawingml/2006/main">
            <a:off x="723900" y="569595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D30"/>
                </a:solidFill>
                <a:latin typeface="Helvetica Neue"/>
                <a:ea typeface="Helvetica Neue"/>
                <a:cs typeface="Helvetica Neue"/>
              </a:defRPr>
            </a:pPr>
            <a:r>
              <a:rPr sz="2100" b="0">
                <a:solidFill>
                  <a:srgbClr val="183D30"/>
                </a:solidFill>
                <a:latin typeface="Helvetica Neue"/>
                <a:ea typeface="Helvetica Neue"/>
                <a:cs typeface="Helvetica Neue"/>
              </a:rPr>
              <a:t>Our thesis: cheaper, easier app creation enables more people to build more apps,</a:t>
            </a:r>
          </a:p>
          <a:p xmlns:a="http://schemas.openxmlformats.org/drawingml/2006/main">
            <a:pPr>
              <a:defRPr sz="2100" b="0">
                <a:solidFill>
                  <a:srgbClr val="183D30"/>
                </a:solidFill>
                <a:latin typeface="Helvetica Neue"/>
                <a:ea typeface="Helvetica Neue"/>
                <a:cs typeface="Helvetica Neue"/>
              </a:defRPr>
            </a:pPr>
            <a:r>
              <a:rPr sz="2100" b="0">
                <a:solidFill>
                  <a:srgbClr val="183D30"/>
                </a:solidFill>
                <a:latin typeface="Helvetica Neue"/>
                <a:ea typeface="Helvetica Neue"/>
                <a:cs typeface="Helvetica Neue"/>
              </a:rPr>
              <a:t>including tasks that never justified a software project.</a:t>
            </a:r>
          </a:p>
        </p:txBody>
      </p:sp>
      <p:sp>
        <p:nvSpPr>
          <p:cNvPr id="10" name="">
            <a:extLst xmlns:a="http://schemas.openxmlformats.org/drawingml/2006/main">
              <a:ext uri="{FF2B5EF4-FFF2-40B4-BE49-F238E27FC236}">
                <a16:creationId xmlns:a16="http://schemas.microsoft.com/office/drawing/2014/main" id="{8618DBDC-1885-4305-975B-EABAFEDE60B4}"/>
              </a:ext>
            </a:extLst>
          </p:cNvPr>
          <p:cNvSpPr>
            <a:spLocks xmlns:a="http://schemas.openxmlformats.org/drawingml/2006/main" noGrp="1"/>
          </p:cNvSpPr>
          <p:nvPr/>
        </p:nvSpPr>
        <p:spPr>
          <a:xfrm xmlns:a="http://schemas.openxmlformats.org/drawingml/2006/main">
            <a:off x="723900" y="650557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75B"/>
                </a:solidFill>
                <a:latin typeface="Helvetica Neue"/>
                <a:ea typeface="Helvetica Neue"/>
                <a:cs typeface="Helvetica Neue"/>
              </a:defRPr>
            </a:pPr>
            <a:r>
              <a:rPr sz="1200" b="0">
                <a:solidFill>
                  <a:srgbClr val="53675B"/>
                </a:solidFill>
                <a:latin typeface="Helvetica Neue"/>
                <a:ea typeface="Helvetica Neue"/>
                <a:cs typeface="Helvetica Neue"/>
              </a:rPr>
              <a:t>BLS 2025 employment. Role counts indicate scale, not a validated revenue TAM. Demand and pricing are hypotheses.</a:t>
            </a:r>
          </a:p>
        </p:txBody>
      </p:sp>
    </p:spTree>
    <p:extLst>
      <p:ext uri="{BB962C8B-B14F-4D97-AF65-F5344CB8AC3E}">
        <p14:creationId xmlns:p14="http://schemas.microsoft.com/office/powerpoint/2010/main" val="295970176"/>
      </p:ext>
    </p:extLst>
  </p:cSld>
</p:sld>
</file>

<file path=ppt/slides/slide7.xml><?xml version="1.0" encoding="utf-8"?>
<p:sld xmlns:p="http://schemas.openxmlformats.org/presentationml/2006/main">
  <p:cSld>
    <p:bg>
      <p:bgPr>
        <a:solidFill xmlns:a="http://schemas.openxmlformats.org/drawingml/2006/main">
          <a:srgbClr val="183D3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C9985D-C26F-4E66-8CAB-D0BE06447EB6}"/>
              </a:ext>
            </a:extLst>
          </p:cNvPr>
          <p:cNvSpPr>
            <a:spLocks xmlns:a="http://schemas.openxmlformats.org/drawingml/2006/main" noGrp="1"/>
          </p:cNvSpPr>
          <p:nvPr/>
        </p:nvSpPr>
        <p:spPr>
          <a:xfrm xmlns:a="http://schemas.openxmlformats.org/drawingml/2006/main">
            <a:off x="685800" y="4572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3EC"/>
                </a:solidFill>
                <a:latin typeface="Helvetica Neue"/>
                <a:ea typeface="Helvetica Neue"/>
                <a:cs typeface="Helvetica Neue"/>
              </a:defRPr>
            </a:pPr>
            <a:r>
              <a:rPr sz="3600" b="1">
                <a:solidFill>
                  <a:srgbClr val="F5F3EC"/>
                </a:solidFill>
                <a:latin typeface="Helvetica Neue"/>
                <a:ea typeface="Helvetica Neue"/>
                <a:cs typeface="Helvetica Neue"/>
              </a:rPr>
              <a:t>Amos Haviv</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23fe522048344f5"/>
          <a:stretch xmlns:a="http://schemas.openxmlformats.org/drawingml/2006/main"/>
        </p:blipFill>
        <p:spPr>
          <a:xfrm xmlns:a="http://schemas.openxmlformats.org/drawingml/2006/main">
            <a:off x="723900" y="1800225"/>
            <a:ext cx="3962400" cy="39624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826AE85-0A68-4ADF-8F85-D5B4BFB718AD}"/>
              </a:ext>
            </a:extLst>
          </p:cNvPr>
          <p:cNvSpPr>
            <a:spLocks xmlns:a="http://schemas.openxmlformats.org/drawingml/2006/main" noGrp="1"/>
          </p:cNvSpPr>
          <p:nvPr/>
        </p:nvSpPr>
        <p:spPr>
          <a:xfrm xmlns:a="http://schemas.openxmlformats.org/drawingml/2006/main">
            <a:off x="5286375" y="1838325"/>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5F3EC"/>
                </a:solidFill>
                <a:latin typeface="Helvetica Neue"/>
                <a:ea typeface="Helvetica Neue"/>
                <a:cs typeface="Helvetica Neue"/>
              </a:defRPr>
            </a:pPr>
            <a:r>
              <a:rPr sz="2625" b="1">
                <a:solidFill>
                  <a:srgbClr val="F5F3EC"/>
                </a:solidFill>
                <a:latin typeface="Helvetica Neue"/>
                <a:ea typeface="Helvetica Neue"/>
                <a:cs typeface="Helvetica Neue"/>
              </a:rPr>
              <a:t>Engineering leader at Booking.com</a:t>
            </a:r>
          </a:p>
        </p:txBody>
      </p:sp>
      <p:sp>
        <p:nvSpPr>
          <p:cNvPr id="4" name="">
            <a:extLst xmlns:a="http://schemas.openxmlformats.org/drawingml/2006/main">
              <a:ext uri="{FF2B5EF4-FFF2-40B4-BE49-F238E27FC236}">
                <a16:creationId xmlns:a16="http://schemas.microsoft.com/office/drawing/2014/main" id="{49E4C173-5483-48D6-8212-B8BE77FBC5CC}"/>
              </a:ext>
            </a:extLst>
          </p:cNvPr>
          <p:cNvSpPr>
            <a:spLocks xmlns:a="http://schemas.openxmlformats.org/drawingml/2006/main" noGrp="1"/>
          </p:cNvSpPr>
          <p:nvPr/>
        </p:nvSpPr>
        <p:spPr>
          <a:xfrm xmlns:a="http://schemas.openxmlformats.org/drawingml/2006/main">
            <a:off x="5286375" y="284797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5F3EC"/>
                </a:solidFill>
                <a:latin typeface="Helvetica Neue"/>
                <a:ea typeface="Helvetica Neue"/>
                <a:cs typeface="Helvetica Neue"/>
              </a:defRPr>
            </a:pPr>
            <a:r>
              <a:rPr sz="2175" b="0">
                <a:solidFill>
                  <a:srgbClr val="F5F3EC"/>
                </a:solidFill>
                <a:latin typeface="Helvetica Neue"/>
                <a:ea typeface="Helvetica Neue"/>
                <a:cs typeface="Helvetica Neue"/>
              </a:rPr>
              <a:t>20 years building and deploying software</a:t>
            </a:r>
          </a:p>
          <a:p xmlns:a="http://schemas.openxmlformats.org/drawingml/2006/main">
            <a:pPr>
              <a:defRPr sz="2175" b="0">
                <a:solidFill>
                  <a:srgbClr val="F5F3EC"/>
                </a:solidFill>
                <a:latin typeface="Helvetica Neue"/>
                <a:ea typeface="Helvetica Neue"/>
                <a:cs typeface="Helvetica Neue"/>
              </a:defRPr>
            </a:pPr>
            <a:r>
              <a:rPr sz="2175" b="0">
                <a:solidFill>
                  <a:srgbClr val="F5F3EC"/>
                </a:solidFill>
                <a:latin typeface="Helvetica Neue"/>
                <a:ea typeface="Helvetica Neue"/>
                <a:cs typeface="Helvetica Neue"/>
              </a:rPr>
              <a:t>10 years setting up and leading teams</a:t>
            </a:r>
          </a:p>
        </p:txBody>
      </p:sp>
      <p:sp>
        <p:nvSpPr>
          <p:cNvPr id="5" name="">
            <a:extLst xmlns:a="http://schemas.openxmlformats.org/drawingml/2006/main">
              <a:ext uri="{FF2B5EF4-FFF2-40B4-BE49-F238E27FC236}">
                <a16:creationId xmlns:a16="http://schemas.microsoft.com/office/drawing/2014/main" id="{ECE8CD1C-939B-4E23-B92E-0D1004838E5D}"/>
              </a:ext>
            </a:extLst>
          </p:cNvPr>
          <p:cNvSpPr>
            <a:spLocks xmlns:a="http://schemas.openxmlformats.org/drawingml/2006/main" noGrp="1"/>
          </p:cNvSpPr>
          <p:nvPr/>
        </p:nvSpPr>
        <p:spPr>
          <a:xfrm xmlns:a="http://schemas.openxmlformats.org/drawingml/2006/main">
            <a:off x="5286375" y="4191000"/>
            <a:ext cx="6191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5F3EC"/>
                </a:solidFill>
                <a:latin typeface="Helvetica Neue"/>
                <a:ea typeface="Helvetica Neue"/>
                <a:cs typeface="Helvetica Neue"/>
              </a:defRPr>
            </a:pPr>
            <a:r>
              <a:rPr sz="2175" b="0">
                <a:solidFill>
                  <a:srgbClr val="F5F3EC"/>
                </a:solidFill>
                <a:latin typeface="Helvetica Neue"/>
                <a:ea typeface="Helvetica Neue"/>
                <a:cs typeface="Helvetica Neue"/>
              </a:rPr>
              <a:t>Co-created and maintained MEAN</a:t>
            </a:r>
          </a:p>
          <a:p xmlns:a="http://schemas.openxmlformats.org/drawingml/2006/main">
            <a:pPr>
              <a:defRPr sz="2175" b="0">
                <a:solidFill>
                  <a:srgbClr val="F5F3EC"/>
                </a:solidFill>
                <a:latin typeface="Helvetica Neue"/>
                <a:ea typeface="Helvetica Neue"/>
                <a:cs typeface="Helvetica Neue"/>
              </a:defRPr>
            </a:pPr>
            <a:r>
              <a:rPr sz="2175" b="0">
                <a:solidFill>
                  <a:srgbClr val="F5F3EC"/>
                </a:solidFill>
                <a:latin typeface="Helvetica Neue"/>
                <a:ea typeface="Helvetica Neue"/>
                <a:cs typeface="Helvetica Neue"/>
              </a:rPr>
              <a:t>Author of two books on MEAN</a:t>
            </a:r>
          </a:p>
        </p:txBody>
      </p:sp>
      <p:sp>
        <p:nvSpPr>
          <p:cNvPr id="6" name="">
            <a:extLst xmlns:a="http://schemas.openxmlformats.org/drawingml/2006/main">
              <a:ext uri="{FF2B5EF4-FFF2-40B4-BE49-F238E27FC236}">
                <a16:creationId xmlns:a16="http://schemas.microsoft.com/office/drawing/2014/main" id="{AE49E06C-D3B3-401F-995D-3B87E4A07133}"/>
              </a:ext>
            </a:extLst>
          </p:cNvPr>
          <p:cNvSpPr>
            <a:spLocks xmlns:a="http://schemas.openxmlformats.org/drawingml/2006/main" noGrp="1"/>
          </p:cNvSpPr>
          <p:nvPr/>
        </p:nvSpPr>
        <p:spPr>
          <a:xfrm xmlns:a="http://schemas.openxmlformats.org/drawingml/2006/main">
            <a:off x="5286375" y="5419725"/>
            <a:ext cx="6191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C2D7C7"/>
                </a:solidFill>
                <a:latin typeface="Helvetica Neue"/>
                <a:ea typeface="Helvetica Neue"/>
                <a:cs typeface="Helvetica Neue"/>
              </a:defRPr>
            </a:pPr>
            <a:r>
              <a:rPr sz="2175" b="0">
                <a:solidFill>
                  <a:srgbClr val="C2D7C7"/>
                </a:solidFill>
                <a:latin typeface="Helvetica Neue"/>
                <a:ea typeface="Helvetica Neue"/>
                <a:cs typeface="Helvetica Neue"/>
              </a:rPr>
              <a:t>Focused on developer productivity</a:t>
            </a:r>
          </a:p>
          <a:p xmlns:a="http://schemas.openxmlformats.org/drawingml/2006/main">
            <a:pPr>
              <a:defRPr sz="2175" b="0">
                <a:solidFill>
                  <a:srgbClr val="C2D7C7"/>
                </a:solidFill>
                <a:latin typeface="Helvetica Neue"/>
                <a:ea typeface="Helvetica Neue"/>
                <a:cs typeface="Helvetica Neue"/>
              </a:defRPr>
            </a:pPr>
            <a:r>
              <a:rPr sz="2175" b="0">
                <a:solidFill>
                  <a:srgbClr val="C2D7C7"/>
                </a:solidFill>
                <a:latin typeface="Helvetica Neue"/>
                <a:ea typeface="Helvetica Neue"/>
                <a:cs typeface="Helvetica Neue"/>
              </a:rPr>
              <a:t>and AI-native software development</a:t>
            </a:r>
          </a:p>
        </p:txBody>
      </p:sp>
      <p:sp>
        <p:nvSpPr>
          <p:cNvPr id="7" name="">
            <a:extLst xmlns:a="http://schemas.openxmlformats.org/drawingml/2006/main">
              <a:ext uri="{FF2B5EF4-FFF2-40B4-BE49-F238E27FC236}">
                <a16:creationId xmlns:a16="http://schemas.microsoft.com/office/drawing/2014/main" id="{6956CF29-C674-4CF5-A6D8-56165E53CB35}"/>
              </a:ext>
            </a:extLst>
          </p:cNvPr>
          <p:cNvSpPr>
            <a:spLocks xmlns:a="http://schemas.openxmlformats.org/drawingml/2006/main" noGrp="1"/>
          </p:cNvSpPr>
          <p:nvPr/>
        </p:nvSpPr>
        <p:spPr>
          <a:xfrm xmlns:a="http://schemas.openxmlformats.org/drawingml/2006/main">
            <a:off x="723900" y="6191250"/>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C2D7C7"/>
                </a:solidFill>
                <a:latin typeface="Helvetica Neue"/>
                <a:ea typeface="Helvetica Neue"/>
                <a:cs typeface="Helvetica Neue"/>
              </a:defRPr>
            </a:pPr>
            <a:r>
              <a:rPr sz="1650" b="0">
                <a:solidFill>
                  <a:srgbClr val="C2D7C7"/>
                </a:solidFill>
                <a:latin typeface="Helvetica Neue"/>
                <a:ea typeface="Helvetica Neue"/>
                <a:cs typeface="Helvetica Neue"/>
              </a:rPr>
              <a:t>linkedin.com/in/amoshaviv</a:t>
            </a:r>
          </a:p>
        </p:txBody>
      </p:sp>
    </p:spTree>
    <p:extLst>
      <p:ext uri="{BB962C8B-B14F-4D97-AF65-F5344CB8AC3E}">
        <p14:creationId xmlns:p14="http://schemas.microsoft.com/office/powerpoint/2010/main" val="5360176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2026-09-23T12:48:55.9080000Z</dcterms:created>
  <dcterms:modified xsi:type="dcterms:W3CDTF">2026-09-23T12:48:55.9080000Z</dcterms:modified>
</coreProperties>
</file>