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a0b79e1fee429a" /><Relationship Type="http://schemas.openxmlformats.org/officeDocument/2006/relationships/extended-properties" Target="/docProps/app.xml" Id="Rf61e76febcc54051" /><Relationship Type="http://schemas.openxmlformats.org/officeDocument/2006/relationships/officeDocument" Target="/ppt/presentation.xml" Id="Rb5b2e505cf284c32" /></Relationships>
</file>

<file path=ppt/presentation.xml><?xml version="1.0" encoding="utf-8"?>
<p:presentation xmlns:p="http://schemas.openxmlformats.org/presentationml/2006/main">
  <p:sldMasterIdLst>
    <p:sldMasterId xmlns:r="http://schemas.openxmlformats.org/officeDocument/2006/relationships" id="2147483648" r:id="R920ff48067c843ff"/>
  </p:sldMasterIdLst>
  <p:notesMasterIdLst>
    <p:notesMasterId xmlns:r="http://schemas.openxmlformats.org/officeDocument/2006/relationships" r:id="R4c655bcd7b2445b9"/>
  </p:notesMasterIdLst>
  <p:sldIdLst>
    <p:sldId xmlns:r="http://schemas.openxmlformats.org/officeDocument/2006/relationships" id="256" r:id="R69c40369bc6b45ac"/>
    <p:sldId xmlns:r="http://schemas.openxmlformats.org/officeDocument/2006/relationships" id="257" r:id="Rb4a6dd276a364623"/>
    <p:sldId xmlns:r="http://schemas.openxmlformats.org/officeDocument/2006/relationships" id="258" r:id="R15e71f8a2b984d89"/>
    <p:sldId xmlns:r="http://schemas.openxmlformats.org/officeDocument/2006/relationships" id="259" r:id="Rdc875905f20642cc"/>
    <p:sldId xmlns:r="http://schemas.openxmlformats.org/officeDocument/2006/relationships" id="260" r:id="R2102227e504e4c89"/>
    <p:sldId xmlns:r="http://schemas.openxmlformats.org/officeDocument/2006/relationships" id="261" r:id="Rca0956ee7d8a4246"/>
    <p:sldId xmlns:r="http://schemas.openxmlformats.org/officeDocument/2006/relationships" id="262" r:id="Red4eb216f5844f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608dbb3ea64cbf" /><Relationship Type="http://schemas.openxmlformats.org/officeDocument/2006/relationships/slideMaster" Target="/ppt/slideMasters/slideMaster1.xml" Id="R920ff48067c843ff" /><Relationship Type="http://schemas.openxmlformats.org/officeDocument/2006/relationships/notesMaster" Target="/ppt/notesMasters/notesMaster1.xml" Id="R4c655bcd7b2445b9" /><Relationship Type="http://schemas.openxmlformats.org/officeDocument/2006/relationships/presProps" Target="/ppt/presProps.xml" Id="Rccea31ec20ab4e87" /><Relationship Type="http://schemas.openxmlformats.org/officeDocument/2006/relationships/tableStyles" Target="/ppt/tableStyles.xml" Id="Rcf978cc8be9641e2" /><Relationship Type="http://schemas.openxmlformats.org/officeDocument/2006/relationships/slide" Target="/ppt/slides/slide1.xml" Id="R69c40369bc6b45ac" /><Relationship Type="http://schemas.openxmlformats.org/officeDocument/2006/relationships/slide" Target="/ppt/slides/slide2.xml" Id="Rb4a6dd276a364623" /><Relationship Type="http://schemas.openxmlformats.org/officeDocument/2006/relationships/slide" Target="/ppt/slides/slide3.xml" Id="R15e71f8a2b984d89" /><Relationship Type="http://schemas.openxmlformats.org/officeDocument/2006/relationships/slide" Target="/ppt/slides/slide4.xml" Id="Rdc875905f20642cc" /><Relationship Type="http://schemas.openxmlformats.org/officeDocument/2006/relationships/slide" Target="/ppt/slides/slide5.xml" Id="R2102227e504e4c89" /><Relationship Type="http://schemas.openxmlformats.org/officeDocument/2006/relationships/slide" Target="/ppt/slides/slide6.xml" Id="Rca0956ee7d8a4246" /><Relationship Type="http://schemas.openxmlformats.org/officeDocument/2006/relationships/slide" Target="/ppt/slides/slide7.xml" Id="Red4eb216f5844f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2af375bf014d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4468a5fd4304ab5" /><Relationship Type="http://schemas.openxmlformats.org/officeDocument/2006/relationships/notesMaster" Target="/ppt/notesMasters/notesMaster1.xml" Id="R54570199827747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1503fe6c6c449c" /><Relationship Type="http://schemas.openxmlformats.org/officeDocument/2006/relationships/notesMaster" Target="/ppt/notesMasters/notesMaster1.xml" Id="R097ddddce7834b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e37553ea3741db" /><Relationship Type="http://schemas.openxmlformats.org/officeDocument/2006/relationships/notesMaster" Target="/ppt/notesMasters/notesMaster1.xml" Id="Rb8815e02e5e249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f8469426bc45a5" /><Relationship Type="http://schemas.openxmlformats.org/officeDocument/2006/relationships/notesMaster" Target="/ppt/notesMasters/notesMaster1.xml" Id="R6ec716e997a84a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e20077996140e6" /><Relationship Type="http://schemas.openxmlformats.org/officeDocument/2006/relationships/notesMaster" Target="/ppt/notesMasters/notesMaster1.xml" Id="Rea66af174a8d47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783d53b4954992" /><Relationship Type="http://schemas.openxmlformats.org/officeDocument/2006/relationships/notesMaster" Target="/ppt/notesMasters/notesMaster1.xml" Id="R660ad33de5ed48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3eb42ad574f27" /><Relationship Type="http://schemas.openxmlformats.org/officeDocument/2006/relationships/notesMaster" Target="/ppt/notesMasters/notesMaster1.xml" Id="R162172847cdd4f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Engineers use AI to build software. Business teams should be able to build their own tools too. AutoApps starts with something they already know: a Google Sheet. They describe the workflow, and AutoApps generates an internal-app specification.</a:t>
            </a:r>
          </a:p>
          <a:p xmlns:a="http://schemas.openxmlformats.org/drawingml/2006/main">
            <a:r>
              <a:t/>
            </a:r>
          </a:p>
          <a:p xmlns:a="http://schemas.openxmlformats.org/drawingml/2006/main">
            <a:r>
              <a:t>Sources: AutoApps docs/PRD.md sections 1–5. Framing supplied by Amos in the submission-preparation conversation. The headline expresses the product opportunity, not a measured claim about enterprise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Consider a Finance analyst collecting budget inputs. A chat answer can explain how to organize the process, but the analyst still has to build the workflow. They coordinate edits in the sheet, reconcile separate responses, or ask someone to configure a tool. AutoApps is designed to turn that request into an app colleagues can use. Finance and Ops teams with recurring updates are our first customer hypothesis.</a:t>
            </a:r>
          </a:p>
          <a:p xmlns:a="http://schemas.openxmlformats.org/drawingml/2006/main">
            <a:r>
              <a:t/>
            </a:r>
          </a:p>
          <a:p xmlns:a="http://schemas.openxmlformats.org/drawingml/2006/main">
            <a:r>
              <a:t>Sources: docs/PRD.md sections 3–5. The quoted request is an illustrative persona request, not customer interview testimony. Alternatives and buyer fit are hypotheses, not findings from a market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0:55–2:25. Live demo allocation: 15 seconds to show the synthetic budget sheet, 20 seconds to select a suggested workflow and generate, 15 seconds to make FY2026 Actual read-only and Justification required, 10 seconds to publish and open the consumer link, 20 seconds to update and save, 10 seconds to show the changed source cell.</a:t>
            </a:r>
          </a:p>
          <a:p xmlns:a="http://schemas.openxmlformats.org/drawingml/2006/main">
            <a:r>
              <a:t/>
            </a:r>
          </a:p>
          <a:p xmlns:a="http://schemas.openxmlformats.org/drawingml/2006/main">
            <a:r>
              <a:t>This slide describes the intended workflow. At preparation time, the builder, publishing, and consumer runtime remain in progress. It is not a screenshot or a record of a completed demonstration.</a:t>
            </a:r>
          </a:p>
          <a:p xmlns:a="http://schemas.openxmlformats.org/drawingml/2006/main">
            <a:r>
              <a:t/>
            </a:r>
          </a:p>
          <a:p xmlns:a="http://schemas.openxmlformats.org/drawingml/2006/main">
            <a:r>
              <a:t>Sources: docs/PRD.md sections 4–5 and docs/TRACKER.md.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2:25–3:05. Nebius Token Factory serves the product model calls. The configured model IDs are zai-org/GLM-5.3-Flash and zai-org/GLM-5.3. Flash proposes three ideas. GLM-5.3 generates and edits an app specification. Schema extraction and shape analysis use deterministic code. The server validates the structured output and its references to the sheet, with one retry for invalid outputs. The spec supports personal-row, form, table and statistics views. These are code defaults and can be overridden by deployment environment settings.</a:t>
            </a:r>
          </a:p>
          <a:p xmlns:a="http://schemas.openxmlformats.org/drawingml/2006/main">
            <a:r>
              <a:t/>
            </a:r>
          </a:p>
          <a:p xmlns:a="http://schemas.openxmlformats.org/drawingml/2006/main">
            <a:r>
              <a:t>Deepseek-ai/DeepSeek-V4.1-Flash was tested in a compatibility spike, not implemented as automatic fallback. Claude assisted development and Codex assisted submission preparation. No closed-model inference appears in the reviewed product path. The OpenAI SDK is a client for the Nebius endpoint.</a:t>
            </a:r>
          </a:p>
          <a:p xmlns:a="http://schemas.openxmlformats.org/drawingml/2006/main">
            <a:r>
              <a:t/>
            </a:r>
          </a:p>
          <a:p xmlns:a="http://schemas.openxmlformats.org/drawingml/2006/main">
            <a:r>
              <a:t>Sources: frontend/lib/ai/client.ts, generate.ts, suggest.ts, prompts.ts, frontend/lib/apps/spec.ts and validate.ts.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3:05–3:40. The development log records first-attempt spec validation on all five fixture sheets. The first budget call took 65 seconds. The next four generation cases took 6.7 to 8.6 seconds. A separate budget edit took 4 seconds. These are single-run development observations, not independently repeated measurements from this submission-preparation session. Spec validation is not proof of workflow correctness or a deployed app. No comparative model advantage has been established. The planned baseline is GLM-5.3-Flash on identical product requests. The toy greeting-schema spike is not a product-performance comparison.</a:t>
            </a:r>
          </a:p>
          <a:p xmlns:a="http://schemas.openxmlformats.org/drawingml/2006/main">
            <a:r>
              <a:t/>
            </a:r>
          </a:p>
          <a:p xmlns:a="http://schemas.openxmlformats.org/drawingml/2006/main">
            <a:r>
              <a:t>Source: docs/DECISIONS.md, P2-4 generation results, 23 September 2026. Exact case latencies and validation status are copied from that record. The attributed cause of the first-call delay has not been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3:40–4:15. The implemented server layer validates specifications and enforces the stored app’s organization, row and editable-field rules. The development tracker reports runtime checks, but the full user-facing flow with distinct builder and consumer accounts is still pending. The backend stores access credentials and cached sheet context. Nebius receives headers, sample values, and builder instructions. Demo data should be synthetic. Configuration restoration is distinct from undoing saved spreadsheet data.</a:t>
            </a:r>
          </a:p>
          <a:p xmlns:a="http://schemas.openxmlformats.org/drawingml/2006/main">
            <a:r>
              <a:t/>
            </a:r>
          </a:p>
          <a:p xmlns:a="http://schemas.openxmlformats.org/drawingml/2006/main">
            <a:r>
              <a:t>Sources: frontend/lib/apps/validate.ts and runtime.ts, frontend/lib/auth/guards.ts, frontend/app/api/apps runtime routes, frontend/lib/sequelize/models/connection.ts and user.ts, frontend/lib/ai/prompts.ts, docs/PRD.md sections 7–8, and docs/TRACKER.md phase 3 and H-6.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The broader opportunity is to help business teams build with AI. Start with Finance and Ops teams that repeatedly collect updates in spreadsheets. The buyer hypothesis is the workflow owner. A team subscription could be justified by less coordination and reconciliation. The next step is to observe five teams doing a real workflow and measure the difference. If one app proves useful, expand into more workflows in that company. Demand and pricing still need validation.</a:t>
            </a:r>
          </a:p>
          <a:p xmlns:a="http://schemas.openxmlformats.org/drawingml/2006/main">
            <a:r>
              <a:t/>
            </a:r>
          </a:p>
          <a:p xmlns:a="http://schemas.openxmlformats.org/drawingml/2006/main">
            <a:r>
              <a:t>Sources: docs/PRD.md sections 1–5 and 15. The subscription, buyer, pilot target, and expansion path are proposed hypotheses. Five teams is a future research target, not existing customers or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74aba28a1642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2b12daf3534f26" /><Relationship Type="http://schemas.openxmlformats.org/officeDocument/2006/relationships/slideLayout" Target="/ppt/slideLayouts/slideLayout1.xml" Id="R8d20c90e377b48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20c90e377b48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6e1b133f3c48c5" /><Relationship Type="http://schemas.openxmlformats.org/officeDocument/2006/relationships/notesSlide" Target="/ppt/notesSlides/notesSlide1.xml" Id="R2a8df7cd8c1643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e60cc41821c412b" /><Relationship Type="http://schemas.openxmlformats.org/officeDocument/2006/relationships/notesSlide" Target="/ppt/notesSlides/notesSlide2.xml" Id="R470aa61ace5945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6728b4ac9842f2" /><Relationship Type="http://schemas.openxmlformats.org/officeDocument/2006/relationships/notesSlide" Target="/ppt/notesSlides/notesSlide3.xml" Id="R13a5048aec7f4e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a0589cd3f948e3" /><Relationship Type="http://schemas.openxmlformats.org/officeDocument/2006/relationships/notesSlide" Target="/ppt/notesSlides/notesSlide4.xml" Id="Rc7c662e6378c4a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d84fbf608548fb" /><Relationship Type="http://schemas.openxmlformats.org/officeDocument/2006/relationships/notesSlide" Target="/ppt/notesSlides/notesSlide5.xml" Id="R206caad9567c42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911091345f43c4" /><Relationship Type="http://schemas.openxmlformats.org/officeDocument/2006/relationships/notesSlide" Target="/ppt/notesSlides/notesSlide6.xml" Id="R890c89d27cfd4d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8ef3eed72e4858" /><Relationship Type="http://schemas.openxmlformats.org/officeDocument/2006/relationships/notesSlide" Target="/ppt/notesSlides/notesSlide7.xml" Id="R20755587f4624b60" /></Relationships>
</file>

<file path=ppt/slides/slide1.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6A3230-2FA9-41D9-A4D3-4A24C9C36F91}"/>
              </a:ext>
            </a:extLst>
          </p:cNvPr>
          <p:cNvSpPr>
            <a:spLocks xmlns:a="http://schemas.openxmlformats.org/drawingml/2006/main" noGrp="1"/>
          </p:cNvSpPr>
          <p:nvPr/>
        </p:nvSpPr>
        <p:spPr>
          <a:xfrm xmlns:a="http://schemas.openxmlformats.org/drawingml/2006/main">
            <a:off x="685800" y="6191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C2D7C7"/>
                </a:solidFill>
                <a:latin typeface="Helvetica Neue"/>
                <a:ea typeface="Helvetica Neue"/>
                <a:cs typeface="Helvetica Neue"/>
              </a:defRPr>
            </a:pPr>
            <a:r>
              <a:rPr sz="2850" b="1">
                <a:solidFill>
                  <a:srgbClr val="C2D7C7"/>
                </a:solidFill>
                <a:latin typeface="Helvetica Neue"/>
                <a:ea typeface="Helvetica Neue"/>
                <a:cs typeface="Helvetica Neue"/>
              </a:rPr>
              <a:t>AutoApps</a:t>
            </a:r>
          </a:p>
        </p:txBody>
      </p:sp>
      <p:sp>
        <p:nvSpPr>
          <p:cNvPr id="2" name="">
            <a:extLst xmlns:a="http://schemas.openxmlformats.org/drawingml/2006/main">
              <a:ext uri="{FF2B5EF4-FFF2-40B4-BE49-F238E27FC236}">
                <a16:creationId xmlns:a16="http://schemas.microsoft.com/office/drawing/2014/main" id="{92735057-B4CC-44EE-B534-94163E2D58ED}"/>
              </a:ext>
            </a:extLst>
          </p:cNvPr>
          <p:cNvSpPr>
            <a:spLocks xmlns:a="http://schemas.openxmlformats.org/drawingml/2006/main" noGrp="1"/>
          </p:cNvSpPr>
          <p:nvPr/>
        </p:nvSpPr>
        <p:spPr>
          <a:xfrm xmlns:a="http://schemas.openxmlformats.org/drawingml/2006/main">
            <a:off x="685800" y="1905000"/>
            <a:ext cx="10620375" cy="2114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5F3EC"/>
                </a:solidFill>
                <a:latin typeface="Helvetica Neue"/>
                <a:ea typeface="Helvetica Neue"/>
                <a:cs typeface="Helvetica Neue"/>
              </a:defRPr>
            </a:pPr>
            <a:r>
              <a:rPr sz="6000" b="1">
                <a:solidFill>
                  <a:srgbClr val="F5F3EC"/>
                </a:solidFill>
                <a:latin typeface="Helvetica Neue"/>
                <a:ea typeface="Helvetica Neue"/>
                <a:cs typeface="Helvetica Neue"/>
              </a:rPr>
              <a:t>Business teams</a:t>
            </a:r>
          </a:p>
          <a:p xmlns:a="http://schemas.openxmlformats.org/drawingml/2006/main">
            <a:pPr>
              <a:defRPr sz="6000" b="1">
                <a:solidFill>
                  <a:srgbClr val="F5F3EC"/>
                </a:solidFill>
                <a:latin typeface="Helvetica Neue"/>
                <a:ea typeface="Helvetica Neue"/>
                <a:cs typeface="Helvetica Neue"/>
              </a:defRPr>
            </a:pPr>
            <a:r>
              <a:rPr sz="6000" b="1">
                <a:solidFill>
                  <a:srgbClr val="F5F3EC"/>
                </a:solidFill>
                <a:latin typeface="Helvetica Neue"/>
                <a:ea typeface="Helvetica Neue"/>
                <a:cs typeface="Helvetica Neue"/>
              </a:rPr>
              <a:t>can build with AI</a:t>
            </a:r>
          </a:p>
        </p:txBody>
      </p:sp>
      <p:sp>
        <p:nvSpPr>
          <p:cNvPr id="3" name="">
            <a:extLst xmlns:a="http://schemas.openxmlformats.org/drawingml/2006/main">
              <a:ext uri="{FF2B5EF4-FFF2-40B4-BE49-F238E27FC236}">
                <a16:creationId xmlns:a16="http://schemas.microsoft.com/office/drawing/2014/main" id="{10D89FB5-67EB-4970-A638-54883CB0D5BF}"/>
              </a:ext>
            </a:extLst>
          </p:cNvPr>
          <p:cNvSpPr>
            <a:spLocks xmlns:a="http://schemas.openxmlformats.org/drawingml/2006/main" noGrp="1"/>
          </p:cNvSpPr>
          <p:nvPr/>
        </p:nvSpPr>
        <p:spPr>
          <a:xfrm xmlns:a="http://schemas.openxmlformats.org/drawingml/2006/main">
            <a:off x="723900" y="432435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5F3EC"/>
                </a:solidFill>
                <a:latin typeface="Helvetica Neue"/>
                <a:ea typeface="Helvetica Neue"/>
                <a:cs typeface="Helvetica Neue"/>
              </a:defRPr>
            </a:pPr>
            <a:r>
              <a:rPr sz="2400" b="0">
                <a:solidFill>
                  <a:srgbClr val="F5F3EC"/>
                </a:solidFill>
                <a:latin typeface="Helvetica Neue"/>
                <a:ea typeface="Helvetica Neue"/>
                <a:cs typeface="Helvetica Neue"/>
              </a:rPr>
              <a:t>Turn an existing Google Sheet into an internal app</a:t>
            </a:r>
          </a:p>
          <a:p xmlns:a="http://schemas.openxmlformats.org/drawingml/2006/main">
            <a:pPr>
              <a:defRPr sz="2400" b="0">
                <a:solidFill>
                  <a:srgbClr val="F5F3EC"/>
                </a:solidFill>
                <a:latin typeface="Helvetica Neue"/>
                <a:ea typeface="Helvetica Neue"/>
                <a:cs typeface="Helvetica Neue"/>
              </a:defRPr>
            </a:pPr>
            <a:r>
              <a:rPr sz="2400" b="0">
                <a:solidFill>
                  <a:srgbClr val="F5F3EC"/>
                </a:solidFill>
                <a:latin typeface="Helvetica Neue"/>
                <a:ea typeface="Helvetica Neue"/>
                <a:cs typeface="Helvetica Neue"/>
              </a:rPr>
              <a:t>through plain language.</a:t>
            </a:r>
          </a:p>
        </p:txBody>
      </p:sp>
      <p:sp>
        <p:nvSpPr>
          <p:cNvPr id="4" name="">
            <a:extLst xmlns:a="http://schemas.openxmlformats.org/drawingml/2006/main">
              <a:ext uri="{FF2B5EF4-FFF2-40B4-BE49-F238E27FC236}">
                <a16:creationId xmlns:a16="http://schemas.microsoft.com/office/drawing/2014/main" id="{BF4A7BE8-7144-47B5-BBCC-4906AE0C3AC4}"/>
              </a:ext>
            </a:extLst>
          </p:cNvPr>
          <p:cNvSpPr>
            <a:spLocks xmlns:a="http://schemas.openxmlformats.org/drawingml/2006/main" noGrp="1"/>
          </p:cNvSpPr>
          <p:nvPr/>
        </p:nvSpPr>
        <p:spPr>
          <a:xfrm xmlns:a="http://schemas.openxmlformats.org/drawingml/2006/main">
            <a:off x="723900" y="59055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Amos Haviv</a:t>
            </a:r>
          </a:p>
          <a:p xmlns:a="http://schemas.openxmlformats.org/drawingml/2006/main">
            <a:pPr>
              <a:defRPr sz="1575" b="0">
                <a:solidFill>
                  <a:srgbClr val="C2D7C7"/>
                </a:solidFill>
                <a:latin typeface="Helvetica Neue"/>
                <a:ea typeface="Helvetica Neue"/>
                <a:cs typeface="Helvetica Neue"/>
              </a:defRPr>
            </a:pPr>
            <a:r>
              <a:rPr sz="1575" b="0">
                <a:solidFill>
                  <a:srgbClr val="C2D7C7"/>
                </a:solidFill>
                <a:latin typeface="Helvetica Neue"/>
                <a:ea typeface="Helvetica Neue"/>
                <a:cs typeface="Helvetica Neue"/>
              </a:rPr>
              <a:t>Hackathon prototype, September 2026</a:t>
            </a:r>
          </a:p>
        </p:txBody>
      </p:sp>
    </p:spTree>
    <p:extLst>
      <p:ext uri="{BB962C8B-B14F-4D97-AF65-F5344CB8AC3E}">
        <p14:creationId xmlns:p14="http://schemas.microsoft.com/office/powerpoint/2010/main" val="1710217382"/>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DCEA72-9B84-493A-813B-5B6E576DE902}"/>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Beyond the chat window</a:t>
            </a:r>
          </a:p>
        </p:txBody>
      </p:sp>
      <p:sp>
        <p:nvSpPr>
          <p:cNvPr id="2" name="">
            <a:extLst xmlns:a="http://schemas.openxmlformats.org/drawingml/2006/main">
              <a:ext uri="{FF2B5EF4-FFF2-40B4-BE49-F238E27FC236}">
                <a16:creationId xmlns:a16="http://schemas.microsoft.com/office/drawing/2014/main" id="{F040D04A-4145-4993-8BE7-974FB133D781}"/>
              </a:ext>
            </a:extLst>
          </p:cNvPr>
          <p:cNvSpPr>
            <a:spLocks xmlns:a="http://schemas.openxmlformats.org/drawingml/2006/main" noGrp="1"/>
          </p:cNvSpPr>
          <p:nvPr/>
        </p:nvSpPr>
        <p:spPr>
          <a:xfrm xmlns:a="http://schemas.openxmlformats.org/drawingml/2006/main">
            <a:off x="685800" y="1866900"/>
            <a:ext cx="52387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76A50"/>
                </a:solidFill>
                <a:latin typeface="Helvetica Neue"/>
                <a:ea typeface="Helvetica Neue"/>
                <a:cs typeface="Helvetica Neue"/>
              </a:defRPr>
            </a:pPr>
            <a:r>
              <a:rPr sz="3900" b="1">
                <a:solidFill>
                  <a:srgbClr val="276A50"/>
                </a:solidFill>
                <a:latin typeface="Helvetica Neue"/>
                <a:ea typeface="Helvetica Neue"/>
                <a:cs typeface="Helvetica Neue"/>
              </a:rPr>
              <a:t>“Help me collect</a:t>
            </a:r>
          </a:p>
          <a:p xmlns:a="http://schemas.openxmlformats.org/drawingml/2006/main">
            <a:pPr>
              <a:defRPr sz="3900" b="1">
                <a:solidFill>
                  <a:srgbClr val="276A50"/>
                </a:solidFill>
                <a:latin typeface="Helvetica Neue"/>
                <a:ea typeface="Helvetica Neue"/>
                <a:cs typeface="Helvetica Neue"/>
              </a:defRPr>
            </a:pPr>
            <a:r>
              <a:rPr sz="3900" b="1">
                <a:solidFill>
                  <a:srgbClr val="276A50"/>
                </a:solidFill>
                <a:latin typeface="Helvetica Neue"/>
                <a:ea typeface="Helvetica Neue"/>
                <a:cs typeface="Helvetica Neue"/>
              </a:rPr>
              <a:t>next year’s</a:t>
            </a:r>
          </a:p>
          <a:p xmlns:a="http://schemas.openxmlformats.org/drawingml/2006/main">
            <a:pPr>
              <a:defRPr sz="3900" b="1">
                <a:solidFill>
                  <a:srgbClr val="276A50"/>
                </a:solidFill>
                <a:latin typeface="Helvetica Neue"/>
                <a:ea typeface="Helvetica Neue"/>
                <a:cs typeface="Helvetica Neue"/>
              </a:defRPr>
            </a:pPr>
            <a:r>
              <a:rPr sz="3900" b="1">
                <a:solidFill>
                  <a:srgbClr val="276A50"/>
                </a:solidFill>
                <a:latin typeface="Helvetica Neue"/>
                <a:ea typeface="Helvetica Neue"/>
                <a:cs typeface="Helvetica Neue"/>
              </a:rPr>
              <a:t>budgets.”</a:t>
            </a:r>
          </a:p>
        </p:txBody>
      </p:sp>
      <p:sp>
        <p:nvSpPr>
          <p:cNvPr id="3" name="">
            <a:extLst xmlns:a="http://schemas.openxmlformats.org/drawingml/2006/main">
              <a:ext uri="{FF2B5EF4-FFF2-40B4-BE49-F238E27FC236}">
                <a16:creationId xmlns:a16="http://schemas.microsoft.com/office/drawing/2014/main" id="{6C37555F-2462-4CFD-8F22-1A8C3D85FFD1}"/>
              </a:ext>
            </a:extLst>
          </p:cNvPr>
          <p:cNvSpPr>
            <a:spLocks xmlns:a="http://schemas.openxmlformats.org/drawingml/2006/main" noGrp="1"/>
          </p:cNvSpPr>
          <p:nvPr/>
        </p:nvSpPr>
        <p:spPr>
          <a:xfrm xmlns:a="http://schemas.openxmlformats.org/drawingml/2006/main">
            <a:off x="6705600" y="1924050"/>
            <a:ext cx="4810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Finance needs a workflow</a:t>
            </a:r>
          </a:p>
          <a:p xmlns:a="http://schemas.openxmlformats.org/drawingml/2006/main">
            <a:pPr>
              <a:defRPr sz="2475" b="1">
                <a:solidFill>
                  <a:srgbClr val="183D30"/>
                </a:solidFill>
                <a:latin typeface="Helvetica Neue"/>
                <a:ea typeface="Helvetica Neue"/>
                <a:cs typeface="Helvetica Neue"/>
              </a:defRPr>
            </a:pPr>
            <a:r>
              <a:rPr sz="2475" b="1">
                <a:solidFill>
                  <a:srgbClr val="183D30"/>
                </a:solidFill>
                <a:latin typeface="Helvetica Neue"/>
                <a:ea typeface="Helvetica Neue"/>
                <a:cs typeface="Helvetica Neue"/>
              </a:rPr>
              <a:t>colleagues can use.</a:t>
            </a:r>
          </a:p>
        </p:txBody>
      </p:sp>
      <p:sp>
        <p:nvSpPr>
          <p:cNvPr id="4" name="">
            <a:extLst xmlns:a="http://schemas.openxmlformats.org/drawingml/2006/main">
              <a:ext uri="{FF2B5EF4-FFF2-40B4-BE49-F238E27FC236}">
                <a16:creationId xmlns:a16="http://schemas.microsoft.com/office/drawing/2014/main" id="{2D01D14E-094F-4BBE-BE9B-D9C4756C04A6}"/>
              </a:ext>
            </a:extLst>
          </p:cNvPr>
          <p:cNvSpPr>
            <a:spLocks xmlns:a="http://schemas.openxmlformats.org/drawingml/2006/main" noGrp="1"/>
          </p:cNvSpPr>
          <p:nvPr/>
        </p:nvSpPr>
        <p:spPr>
          <a:xfrm xmlns:a="http://schemas.openxmlformats.org/drawingml/2006/main">
            <a:off x="6705600" y="3333750"/>
            <a:ext cx="4810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Today’s options include shared-sheet</a:t>
            </a:r>
          </a:p>
          <a:p xmlns:a="http://schemas.openxmlformats.org/drawingml/2006/main">
            <a:pPr>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edits, separate forms, or a request</a:t>
            </a:r>
          </a:p>
          <a:p xmlns:a="http://schemas.openxmlformats.org/drawingml/2006/main">
            <a:pPr>
              <a:defRPr sz="2100" b="0">
                <a:solidFill>
                  <a:srgbClr val="53675B"/>
                </a:solidFill>
                <a:latin typeface="Helvetica Neue"/>
                <a:ea typeface="Helvetica Neue"/>
                <a:cs typeface="Helvetica Neue"/>
              </a:defRPr>
            </a:pPr>
            <a:r>
              <a:rPr sz="2100" b="0">
                <a:solidFill>
                  <a:srgbClr val="53675B"/>
                </a:solidFill>
                <a:latin typeface="Helvetica Neue"/>
                <a:ea typeface="Helvetica Neue"/>
                <a:cs typeface="Helvetica Neue"/>
              </a:rPr>
              <a:t>for someone to build a tool.</a:t>
            </a:r>
          </a:p>
        </p:txBody>
      </p:sp>
      <p:sp>
        <p:nvSpPr>
          <p:cNvPr id="5" name="">
            <a:extLst xmlns:a="http://schemas.openxmlformats.org/drawingml/2006/main">
              <a:ext uri="{FF2B5EF4-FFF2-40B4-BE49-F238E27FC236}">
                <a16:creationId xmlns:a16="http://schemas.microsoft.com/office/drawing/2014/main" id="{7DBB4728-B4BA-49E3-BB33-0A8DFFAA2CFC}"/>
              </a:ext>
            </a:extLst>
          </p:cNvPr>
          <p:cNvSpPr>
            <a:spLocks xmlns:a="http://schemas.openxmlformats.org/drawingml/2006/main" noGrp="1"/>
          </p:cNvSpPr>
          <p:nvPr/>
        </p:nvSpPr>
        <p:spPr>
          <a:xfrm xmlns:a="http://schemas.openxmlformats.org/drawingml/2006/main">
            <a:off x="685800" y="5591175"/>
            <a:ext cx="1083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D30"/>
                </a:solidFill>
                <a:latin typeface="Helvetica Neue"/>
                <a:ea typeface="Helvetica Neue"/>
                <a:cs typeface="Helvetica Neue"/>
              </a:defRPr>
            </a:pPr>
            <a:r>
              <a:rPr sz="2550" b="1">
                <a:solidFill>
                  <a:srgbClr val="183D30"/>
                </a:solidFill>
                <a:latin typeface="Helvetica Neue"/>
                <a:ea typeface="Helvetica Neue"/>
                <a:cs typeface="Helvetica Neue"/>
              </a:rPr>
              <a:t>AutoApps starts with the sheet the team already uses.</a:t>
            </a:r>
          </a:p>
        </p:txBody>
      </p:sp>
    </p:spTree>
    <p:extLst>
      <p:ext uri="{BB962C8B-B14F-4D97-AF65-F5344CB8AC3E}">
        <p14:creationId xmlns:p14="http://schemas.microsoft.com/office/powerpoint/2010/main" val="393684333"/>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D1C082-419C-448E-A906-3E120BD59AB7}"/>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One budget update</a:t>
            </a:r>
          </a:p>
        </p:txBody>
      </p:sp>
      <p:sp>
        <p:nvSpPr>
          <p:cNvPr id="2" name="">
            <a:extLst xmlns:a="http://schemas.openxmlformats.org/drawingml/2006/main">
              <a:ext uri="{FF2B5EF4-FFF2-40B4-BE49-F238E27FC236}">
                <a16:creationId xmlns:a16="http://schemas.microsoft.com/office/drawing/2014/main" id="{F61C4183-9544-49CE-A839-C064061A7AF1}"/>
              </a:ext>
            </a:extLst>
          </p:cNvPr>
          <p:cNvSpPr>
            <a:spLocks xmlns:a="http://schemas.openxmlformats.org/drawingml/2006/main" noGrp="1"/>
          </p:cNvSpPr>
          <p:nvPr/>
        </p:nvSpPr>
        <p:spPr>
          <a:xfrm xmlns:a="http://schemas.openxmlformats.org/drawingml/2006/main">
            <a:off x="723900" y="13525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75B"/>
                </a:solidFill>
                <a:latin typeface="Helvetica Neue"/>
                <a:ea typeface="Helvetica Neue"/>
                <a:cs typeface="Helvetica Neue"/>
              </a:defRPr>
            </a:pPr>
            <a:r>
              <a:rPr sz="2025" b="0">
                <a:solidFill>
                  <a:srgbClr val="53675B"/>
                </a:solidFill>
                <a:latin typeface="Helvetica Neue"/>
                <a:ea typeface="Helvetica Neue"/>
                <a:cs typeface="Helvetica Neue"/>
              </a:rPr>
              <a:t>Target workflow. End-to-end rehearsal pending.</a:t>
            </a:r>
          </a:p>
        </p:txBody>
      </p:sp>
      <p:sp>
        <p:nvSpPr>
          <p:cNvPr id="3" name="">
            <a:extLst xmlns:a="http://schemas.openxmlformats.org/drawingml/2006/main">
              <a:ext uri="{FF2B5EF4-FFF2-40B4-BE49-F238E27FC236}">
                <a16:creationId xmlns:a16="http://schemas.microsoft.com/office/drawing/2014/main" id="{8C876819-C4B3-4454-A62F-151A44E5595C}"/>
              </a:ext>
            </a:extLst>
          </p:cNvPr>
          <p:cNvSpPr>
            <a:spLocks xmlns:a="http://schemas.openxmlformats.org/drawingml/2006/main" noGrp="1"/>
          </p:cNvSpPr>
          <p:nvPr/>
        </p:nvSpPr>
        <p:spPr>
          <a:xfrm xmlns:a="http://schemas.openxmlformats.org/drawingml/2006/main">
            <a:off x="723900" y="21336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23C4B21-33F8-4CB0-B23D-26B90CB8E053}"/>
              </a:ext>
            </a:extLst>
          </p:cNvPr>
          <p:cNvSpPr>
            <a:spLocks xmlns:a="http://schemas.openxmlformats.org/drawingml/2006/main" noGrp="1"/>
          </p:cNvSpPr>
          <p:nvPr/>
        </p:nvSpPr>
        <p:spPr>
          <a:xfrm xmlns:a="http://schemas.openxmlformats.org/drawingml/2006/main">
            <a:off x="1800225" y="21336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Connect the existing Google Sheet</a:t>
            </a:r>
          </a:p>
        </p:txBody>
      </p:sp>
      <p:sp>
        <p:nvSpPr>
          <p:cNvPr id="5" name="">
            <a:extLst xmlns:a="http://schemas.openxmlformats.org/drawingml/2006/main">
              <a:ext uri="{FF2B5EF4-FFF2-40B4-BE49-F238E27FC236}">
                <a16:creationId xmlns:a16="http://schemas.microsoft.com/office/drawing/2014/main" id="{81DB43B1-B7BB-4A87-9AD2-FEE3A95CEC60}"/>
              </a:ext>
            </a:extLst>
          </p:cNvPr>
          <p:cNvSpPr>
            <a:spLocks xmlns:a="http://schemas.openxmlformats.org/drawingml/2006/main" noGrp="1"/>
          </p:cNvSpPr>
          <p:nvPr/>
        </p:nvSpPr>
        <p:spPr>
          <a:xfrm xmlns:a="http://schemas.openxmlformats.org/drawingml/2006/main">
            <a:off x="723900" y="29337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80572B7E-A22D-4F74-BAFF-5415E18536A3}"/>
              </a:ext>
            </a:extLst>
          </p:cNvPr>
          <p:cNvSpPr>
            <a:spLocks xmlns:a="http://schemas.openxmlformats.org/drawingml/2006/main" noGrp="1"/>
          </p:cNvSpPr>
          <p:nvPr/>
        </p:nvSpPr>
        <p:spPr>
          <a:xfrm xmlns:a="http://schemas.openxmlformats.org/drawingml/2006/main">
            <a:off x="1800225" y="29337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Describe the app and refine it in chat</a:t>
            </a:r>
          </a:p>
        </p:txBody>
      </p:sp>
      <p:sp>
        <p:nvSpPr>
          <p:cNvPr id="7" name="">
            <a:extLst xmlns:a="http://schemas.openxmlformats.org/drawingml/2006/main">
              <a:ext uri="{FF2B5EF4-FFF2-40B4-BE49-F238E27FC236}">
                <a16:creationId xmlns:a16="http://schemas.microsoft.com/office/drawing/2014/main" id="{D47D2A3C-6C48-4457-842C-AA9F30C261C2}"/>
              </a:ext>
            </a:extLst>
          </p:cNvPr>
          <p:cNvSpPr>
            <a:spLocks xmlns:a="http://schemas.openxmlformats.org/drawingml/2006/main" noGrp="1"/>
          </p:cNvSpPr>
          <p:nvPr/>
        </p:nvSpPr>
        <p:spPr>
          <a:xfrm xmlns:a="http://schemas.openxmlformats.org/drawingml/2006/main">
            <a:off x="723900" y="37338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D9990EA1-8599-4AFA-A287-450C15ECA5B9}"/>
              </a:ext>
            </a:extLst>
          </p:cNvPr>
          <p:cNvSpPr>
            <a:spLocks xmlns:a="http://schemas.openxmlformats.org/drawingml/2006/main" noGrp="1"/>
          </p:cNvSpPr>
          <p:nvPr/>
        </p:nvSpPr>
        <p:spPr>
          <a:xfrm xmlns:a="http://schemas.openxmlformats.org/drawingml/2006/main">
            <a:off x="1800225" y="37338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D30"/>
                </a:solidFill>
                <a:latin typeface="Helvetica Neue"/>
                <a:ea typeface="Helvetica Neue"/>
                <a:cs typeface="Helvetica Neue"/>
              </a:defRPr>
            </a:pPr>
            <a:r>
              <a:rPr sz="2625" b="0">
                <a:solidFill>
                  <a:srgbClr val="183D30"/>
                </a:solidFill>
                <a:latin typeface="Helvetica Neue"/>
                <a:ea typeface="Helvetica Neue"/>
                <a:cs typeface="Helvetica Neue"/>
              </a:rPr>
              <a:t>Share a link with a budget owner</a:t>
            </a:r>
          </a:p>
        </p:txBody>
      </p:sp>
      <p:sp>
        <p:nvSpPr>
          <p:cNvPr id="9" name="">
            <a:extLst xmlns:a="http://schemas.openxmlformats.org/drawingml/2006/main">
              <a:ext uri="{FF2B5EF4-FFF2-40B4-BE49-F238E27FC236}">
                <a16:creationId xmlns:a16="http://schemas.microsoft.com/office/drawing/2014/main" id="{F6E34986-9400-46E4-BB51-8DE166D1D3E0}"/>
              </a:ext>
            </a:extLst>
          </p:cNvPr>
          <p:cNvSpPr>
            <a:spLocks xmlns:a="http://schemas.openxmlformats.org/drawingml/2006/main" noGrp="1"/>
          </p:cNvSpPr>
          <p:nvPr/>
        </p:nvSpPr>
        <p:spPr>
          <a:xfrm xmlns:a="http://schemas.openxmlformats.org/drawingml/2006/main">
            <a:off x="723900" y="4533900"/>
            <a:ext cx="90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82F6DCAB-99FC-49E7-8E08-7DF2F45731E9}"/>
              </a:ext>
            </a:extLst>
          </p:cNvPr>
          <p:cNvSpPr>
            <a:spLocks xmlns:a="http://schemas.openxmlformats.org/drawingml/2006/main" noGrp="1"/>
          </p:cNvSpPr>
          <p:nvPr/>
        </p:nvSpPr>
        <p:spPr>
          <a:xfrm xmlns:a="http://schemas.openxmlformats.org/drawingml/2006/main">
            <a:off x="1800225" y="4533900"/>
            <a:ext cx="9486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D30"/>
                </a:solidFill>
                <a:latin typeface="Helvetica Neue"/>
                <a:ea typeface="Helvetica Neue"/>
                <a:cs typeface="Helvetica Neue"/>
              </a:defRPr>
            </a:pPr>
            <a:r>
              <a:rPr sz="2625" b="1">
                <a:solidFill>
                  <a:srgbClr val="183D30"/>
                </a:solidFill>
                <a:latin typeface="Helvetica Neue"/>
                <a:ea typeface="Helvetica Neue"/>
                <a:cs typeface="Helvetica Neue"/>
              </a:rPr>
              <a:t>Save their update back to the sheet</a:t>
            </a:r>
          </a:p>
        </p:txBody>
      </p:sp>
      <p:sp>
        <p:nvSpPr>
          <p:cNvPr id="11" name="">
            <a:extLst xmlns:a="http://schemas.openxmlformats.org/drawingml/2006/main">
              <a:ext uri="{FF2B5EF4-FFF2-40B4-BE49-F238E27FC236}">
                <a16:creationId xmlns:a16="http://schemas.microsoft.com/office/drawing/2014/main" id="{0B05908E-0AA2-430F-AD3C-416E2861EB2A}"/>
              </a:ext>
            </a:extLst>
          </p:cNvPr>
          <p:cNvSpPr>
            <a:spLocks xmlns:a="http://schemas.openxmlformats.org/drawingml/2006/main" noGrp="1"/>
          </p:cNvSpPr>
          <p:nvPr/>
        </p:nvSpPr>
        <p:spPr>
          <a:xfrm xmlns:a="http://schemas.openxmlformats.org/drawingml/2006/main">
            <a:off x="723900" y="59340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75B"/>
                </a:solidFill>
                <a:latin typeface="Helvetica Neue"/>
                <a:ea typeface="Helvetica Neue"/>
                <a:cs typeface="Helvetica Neue"/>
              </a:defRPr>
            </a:pPr>
            <a:r>
              <a:rPr sz="1800" b="0">
                <a:solidFill>
                  <a:srgbClr val="53675B"/>
                </a:solidFill>
                <a:latin typeface="Helvetica Neue"/>
                <a:ea typeface="Helvetica Neue"/>
                <a:cs typeface="Helvetica Neue"/>
              </a:rPr>
              <a:t>90-second live demo</a:t>
            </a:r>
          </a:p>
        </p:txBody>
      </p:sp>
    </p:spTree>
    <p:extLst>
      <p:ext uri="{BB962C8B-B14F-4D97-AF65-F5344CB8AC3E}">
        <p14:creationId xmlns:p14="http://schemas.microsoft.com/office/powerpoint/2010/main" val="672322996"/>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C87990F-9434-4F91-AD92-1B616D4D4FA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Open models shape the app</a:t>
            </a:r>
          </a:p>
        </p:txBody>
      </p:sp>
      <p:sp>
        <p:nvSpPr>
          <p:cNvPr id="2" name="">
            <a:extLst xmlns:a="http://schemas.openxmlformats.org/drawingml/2006/main">
              <a:ext uri="{FF2B5EF4-FFF2-40B4-BE49-F238E27FC236}">
                <a16:creationId xmlns:a16="http://schemas.microsoft.com/office/drawing/2014/main" id="{E7FE9A00-9518-4D99-A969-F26763DA2317}"/>
              </a:ext>
            </a:extLst>
          </p:cNvPr>
          <p:cNvSpPr>
            <a:spLocks xmlns:a="http://schemas.openxmlformats.org/drawingml/2006/main" noGrp="1"/>
          </p:cNvSpPr>
          <p:nvPr/>
        </p:nvSpPr>
        <p:spPr>
          <a:xfrm xmlns:a="http://schemas.openxmlformats.org/drawingml/2006/main">
            <a:off x="723900" y="1362075"/>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3675B"/>
                </a:solidFill>
                <a:latin typeface="Helvetica Neue"/>
                <a:ea typeface="Helvetica Neue"/>
                <a:cs typeface="Helvetica Neue"/>
              </a:defRPr>
            </a:pPr>
            <a:r>
              <a:rPr sz="2250" b="0">
                <a:solidFill>
                  <a:srgbClr val="53675B"/>
                </a:solidFill>
                <a:latin typeface="Helvetica Neue"/>
                <a:ea typeface="Helvetica Neue"/>
                <a:cs typeface="Helvetica Neue"/>
              </a:rPr>
              <a:t>Served by Nebius Token Factory</a:t>
            </a:r>
          </a:p>
        </p:txBody>
      </p:sp>
      <p:sp>
        <p:nvSpPr>
          <p:cNvPr id="3" name="">
            <a:extLst xmlns:a="http://schemas.openxmlformats.org/drawingml/2006/main">
              <a:ext uri="{FF2B5EF4-FFF2-40B4-BE49-F238E27FC236}">
                <a16:creationId xmlns:a16="http://schemas.microsoft.com/office/drawing/2014/main" id="{B83F4BF6-CF59-4066-A022-9E82F3B152AE}"/>
              </a:ext>
            </a:extLst>
          </p:cNvPr>
          <p:cNvSpPr>
            <a:spLocks xmlns:a="http://schemas.openxmlformats.org/drawingml/2006/main" noGrp="1"/>
          </p:cNvSpPr>
          <p:nvPr/>
        </p:nvSpPr>
        <p:spPr>
          <a:xfrm xmlns:a="http://schemas.openxmlformats.org/drawingml/2006/main">
            <a:off x="723900" y="236220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GLM-5.3-Flash</a:t>
            </a:r>
          </a:p>
        </p:txBody>
      </p:sp>
      <p:sp>
        <p:nvSpPr>
          <p:cNvPr id="4" name="">
            <a:extLst xmlns:a="http://schemas.openxmlformats.org/drawingml/2006/main">
              <a:ext uri="{FF2B5EF4-FFF2-40B4-BE49-F238E27FC236}">
                <a16:creationId xmlns:a16="http://schemas.microsoft.com/office/drawing/2014/main" id="{0A02BB65-0AEF-4CB4-9EE9-A9D94FF66D8A}"/>
              </a:ext>
            </a:extLst>
          </p:cNvPr>
          <p:cNvSpPr>
            <a:spLocks xmlns:a="http://schemas.openxmlformats.org/drawingml/2006/main" noGrp="1"/>
          </p:cNvSpPr>
          <p:nvPr/>
        </p:nvSpPr>
        <p:spPr>
          <a:xfrm xmlns:a="http://schemas.openxmlformats.org/drawingml/2006/main">
            <a:off x="723900" y="30861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Low reasoning effort</a:t>
            </a:r>
          </a:p>
        </p:txBody>
      </p:sp>
      <p:sp>
        <p:nvSpPr>
          <p:cNvPr id="5" name="">
            <a:extLst xmlns:a="http://schemas.openxmlformats.org/drawingml/2006/main">
              <a:ext uri="{FF2B5EF4-FFF2-40B4-BE49-F238E27FC236}">
                <a16:creationId xmlns:a16="http://schemas.microsoft.com/office/drawing/2014/main" id="{77AF96B0-F4E9-4080-ABAA-164FE0B255FA}"/>
              </a:ext>
            </a:extLst>
          </p:cNvPr>
          <p:cNvSpPr>
            <a:spLocks xmlns:a="http://schemas.openxmlformats.org/drawingml/2006/main" noGrp="1"/>
          </p:cNvSpPr>
          <p:nvPr/>
        </p:nvSpPr>
        <p:spPr>
          <a:xfrm xmlns:a="http://schemas.openxmlformats.org/drawingml/2006/main">
            <a:off x="723900" y="3724275"/>
            <a:ext cx="4953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Suggest three workflows</a:t>
            </a:r>
          </a:p>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from the sheet’s structure</a:t>
            </a:r>
          </a:p>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and sample values.</a:t>
            </a:r>
          </a:p>
        </p:txBody>
      </p:sp>
      <p:sp>
        <p:nvSpPr>
          <p:cNvPr id="6" name="">
            <a:extLst xmlns:a="http://schemas.openxmlformats.org/drawingml/2006/main">
              <a:ext uri="{FF2B5EF4-FFF2-40B4-BE49-F238E27FC236}">
                <a16:creationId xmlns:a16="http://schemas.microsoft.com/office/drawing/2014/main" id="{9A150BE4-6E83-4BDE-A863-BA9C1AAB9CB1}"/>
              </a:ext>
            </a:extLst>
          </p:cNvPr>
          <p:cNvSpPr>
            <a:spLocks xmlns:a="http://schemas.openxmlformats.org/drawingml/2006/main" noGrp="1"/>
          </p:cNvSpPr>
          <p:nvPr/>
        </p:nvSpPr>
        <p:spPr>
          <a:xfrm xmlns:a="http://schemas.openxmlformats.org/drawingml/2006/main">
            <a:off x="6667500" y="236220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76A50"/>
                </a:solidFill>
                <a:latin typeface="Helvetica Neue"/>
                <a:ea typeface="Helvetica Neue"/>
                <a:cs typeface="Helvetica Neue"/>
              </a:defRPr>
            </a:pPr>
            <a:r>
              <a:rPr sz="3000" b="1">
                <a:solidFill>
                  <a:srgbClr val="276A50"/>
                </a:solidFill>
                <a:latin typeface="Helvetica Neue"/>
                <a:ea typeface="Helvetica Neue"/>
                <a:cs typeface="Helvetica Neue"/>
              </a:rPr>
              <a:t>GLM-5.3</a:t>
            </a:r>
          </a:p>
        </p:txBody>
      </p:sp>
      <p:sp>
        <p:nvSpPr>
          <p:cNvPr id="7" name="">
            <a:extLst xmlns:a="http://schemas.openxmlformats.org/drawingml/2006/main">
              <a:ext uri="{FF2B5EF4-FFF2-40B4-BE49-F238E27FC236}">
                <a16:creationId xmlns:a16="http://schemas.microsoft.com/office/drawing/2014/main" id="{BEA29E14-B2FC-4D3D-AE3F-BEA632A123AD}"/>
              </a:ext>
            </a:extLst>
          </p:cNvPr>
          <p:cNvSpPr>
            <a:spLocks xmlns:a="http://schemas.openxmlformats.org/drawingml/2006/main" noGrp="1"/>
          </p:cNvSpPr>
          <p:nvPr/>
        </p:nvSpPr>
        <p:spPr>
          <a:xfrm xmlns:a="http://schemas.openxmlformats.org/drawingml/2006/main">
            <a:off x="6667500" y="3086100"/>
            <a:ext cx="4667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High reasoning effort</a:t>
            </a:r>
          </a:p>
        </p:txBody>
      </p:sp>
      <p:sp>
        <p:nvSpPr>
          <p:cNvPr id="8" name="">
            <a:extLst xmlns:a="http://schemas.openxmlformats.org/drawingml/2006/main">
              <a:ext uri="{FF2B5EF4-FFF2-40B4-BE49-F238E27FC236}">
                <a16:creationId xmlns:a16="http://schemas.microsoft.com/office/drawing/2014/main" id="{0B2AE0C7-F4DF-4BD5-A4B8-AB7B2EB23635}"/>
              </a:ext>
            </a:extLst>
          </p:cNvPr>
          <p:cNvSpPr>
            <a:spLocks xmlns:a="http://schemas.openxmlformats.org/drawingml/2006/main" noGrp="1"/>
          </p:cNvSpPr>
          <p:nvPr/>
        </p:nvSpPr>
        <p:spPr>
          <a:xfrm xmlns:a="http://schemas.openxmlformats.org/drawingml/2006/main">
            <a:off x="6667500" y="372427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Generate and edit an app</a:t>
            </a:r>
          </a:p>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specification that must pass</a:t>
            </a:r>
          </a:p>
          <a:p xmlns:a="http://schemas.openxmlformats.org/drawingml/2006/main">
            <a:pPr>
              <a:defRPr sz="2325" b="0">
                <a:solidFill>
                  <a:srgbClr val="183D30"/>
                </a:solidFill>
                <a:latin typeface="Helvetica Neue"/>
                <a:ea typeface="Helvetica Neue"/>
                <a:cs typeface="Helvetica Neue"/>
              </a:defRPr>
            </a:pPr>
            <a:r>
              <a:rPr sz="2325" b="0">
                <a:solidFill>
                  <a:srgbClr val="183D30"/>
                </a:solidFill>
                <a:latin typeface="Helvetica Neue"/>
                <a:ea typeface="Helvetica Neue"/>
                <a:cs typeface="Helvetica Neue"/>
              </a:rPr>
              <a:t>server validation.</a:t>
            </a:r>
          </a:p>
        </p:txBody>
      </p:sp>
      <p:sp>
        <p:nvSpPr>
          <p:cNvPr id="9" name="">
            <a:extLst xmlns:a="http://schemas.openxmlformats.org/drawingml/2006/main">
              <a:ext uri="{FF2B5EF4-FFF2-40B4-BE49-F238E27FC236}">
                <a16:creationId xmlns:a16="http://schemas.microsoft.com/office/drawing/2014/main" id="{E06374ED-54B4-467A-B2D3-699E5EC210F2}"/>
              </a:ext>
            </a:extLst>
          </p:cNvPr>
          <p:cNvSpPr>
            <a:spLocks xmlns:a="http://schemas.openxmlformats.org/drawingml/2006/main" noGrp="1"/>
          </p:cNvSpPr>
          <p:nvPr/>
        </p:nvSpPr>
        <p:spPr>
          <a:xfrm xmlns:a="http://schemas.openxmlformats.org/drawingml/2006/main">
            <a:off x="723900" y="584835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D30"/>
                </a:solidFill>
                <a:latin typeface="Helvetica Neue"/>
                <a:ea typeface="Helvetica Neue"/>
                <a:cs typeface="Helvetica Neue"/>
              </a:defRPr>
            </a:pPr>
            <a:r>
              <a:rPr sz="1950" b="1">
                <a:solidFill>
                  <a:srgbClr val="183D30"/>
                </a:solidFill>
                <a:latin typeface="Helvetica Neue"/>
                <a:ea typeface="Helvetica Neue"/>
                <a:cs typeface="Helvetica Neue"/>
              </a:rPr>
              <a:t>Structured JSON. Exact sheet columns. One validation retry.</a:t>
            </a:r>
          </a:p>
        </p:txBody>
      </p:sp>
    </p:spTree>
    <p:extLst>
      <p:ext uri="{BB962C8B-B14F-4D97-AF65-F5344CB8AC3E}">
        <p14:creationId xmlns:p14="http://schemas.microsoft.com/office/powerpoint/2010/main" val="2131009663"/>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29925F8-34E2-4AF9-AFFC-6886F519AB1E}"/>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Five sheet types passed spec validation</a:t>
            </a:r>
          </a:p>
        </p:txBody>
      </p:sp>
      <p:sp>
        <p:nvSpPr>
          <p:cNvPr id="2" name="">
            <a:extLst xmlns:a="http://schemas.openxmlformats.org/drawingml/2006/main">
              <a:ext uri="{FF2B5EF4-FFF2-40B4-BE49-F238E27FC236}">
                <a16:creationId xmlns:a16="http://schemas.microsoft.com/office/drawing/2014/main" id="{255320BF-5A93-4B97-85FA-4E5B4CEA2B9D}"/>
              </a:ext>
            </a:extLst>
          </p:cNvPr>
          <p:cNvSpPr>
            <a:spLocks xmlns:a="http://schemas.openxmlformats.org/drawingml/2006/main" noGrp="1"/>
          </p:cNvSpPr>
          <p:nvPr/>
        </p:nvSpPr>
        <p:spPr>
          <a:xfrm xmlns:a="http://schemas.openxmlformats.org/drawingml/2006/main">
            <a:off x="723900" y="13335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76A50"/>
                </a:solidFill>
                <a:latin typeface="Helvetica Neue"/>
                <a:ea typeface="Helvetica Neue"/>
                <a:cs typeface="Helvetica Neue"/>
              </a:defRPr>
            </a:pPr>
            <a:r>
              <a:rPr sz="2175" b="1">
                <a:solidFill>
                  <a:srgbClr val="276A50"/>
                </a:solidFill>
                <a:latin typeface="Helvetica Neue"/>
                <a:ea typeface="Helvetica Neue"/>
                <a:cs typeface="Helvetica Neue"/>
              </a:rPr>
              <a:t>GLM-5.3, high effort. First attempt: 5 of 5.</a:t>
            </a:r>
          </a:p>
        </p:txBody>
      </p:sp>
      <p:graphicFrame>
        <p:nvGraphicFramePr>
          <p:cNvPr id="7" name=""/>
          <p:cNvGraphicFramePr/>
          <p:nvPr/>
        </p:nvGraphicFramePr>
        <p:xfrm>
          <a:off xmlns:a="http://schemas.openxmlformats.org/drawingml/2006/main" x="723900" y="2124075"/>
          <a:ext xmlns:a="http://schemas.openxmlformats.org/drawingml/2006/main" cx="10744200" cy="2914650"/>
        </p:xfrm>
        <a:graphic xmlns:a="http://schemas.openxmlformats.org/drawingml/2006/main">
          <a:graphicData uri="http://schemas.openxmlformats.org/drawingml/2006/table">
            <a:tbl>
              <a:tblPr firstRow="0" bandRow="0"/>
              <a:tblGrid>
                <a:gridCol w="5238750"/>
                <a:gridCol w="5505450"/>
              </a:tblGrid>
              <a:tr h="485775">
                <a:tc>
                  <a:txBody>
                    <a:bodyPr>
                      <a:noAutofit/>
                    </a:bodyPr>
                    <a:lstStyle/>
                    <a:p>
                      <a:r>
                        <a:rPr sz="2025" b="1">
                          <a:solidFill>
                            <a:srgbClr val="F5F3EC"/>
                          </a:solidFill>
                          <a:latin typeface="Helvetica Neue"/>
                          <a:ea typeface="Helvetica Neue"/>
                          <a:cs typeface="Helvetica Neue"/>
                        </a:rPr>
                        <a:t>Fixture</a:t>
                      </a:r>
                    </a:p>
                  </a:txBody>
                  <a:tcPr marL="91440" marR="91440" marT="45720" marB="45720">
                    <a:solidFill>
                      <a:srgbClr val="183D30"/>
                    </a:solidFill>
                  </a:tcPr>
                </a:tc>
                <a:tc>
                  <a:txBody>
                    <a:bodyPr>
                      <a:noAutofit/>
                    </a:bodyPr>
                    <a:lstStyle/>
                    <a:p>
                      <a:r>
                        <a:rPr sz="2025" b="1">
                          <a:solidFill>
                            <a:srgbClr val="F5F3EC"/>
                          </a:solidFill>
                          <a:latin typeface="Helvetica Neue"/>
                          <a:ea typeface="Helvetica Neue"/>
                          <a:cs typeface="Helvetica Neue"/>
                        </a:rPr>
                        <a:t>Recorded generation latency</a:t>
                      </a:r>
                    </a:p>
                  </a:txBody>
                  <a:tcPr marL="91440" marR="91440" marT="45720" marB="45720">
                    <a:solidFill>
                      <a:srgbClr val="183D30"/>
                    </a:solidFill>
                  </a:tcPr>
                </a:tc>
              </a:tr>
              <a:tr h="485775">
                <a:tc>
                  <a:txBody>
                    <a:bodyPr>
                      <a:noAutofit/>
                    </a:bodyPr>
                    <a:lstStyle/>
                    <a:p>
                      <a:r>
                        <a:rPr sz="2025" b="0">
                          <a:solidFill>
                            <a:srgbClr val="183D30"/>
                          </a:solidFill>
                          <a:latin typeface="Helvetica Neue"/>
                          <a:ea typeface="Helvetica Neue"/>
                          <a:cs typeface="Helvetica Neue"/>
                        </a:rPr>
                        <a:t>Budget</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65 s, first call</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Tasks</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7.0 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Inventory</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8.6 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RSVP</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6.7 s</a:t>
                      </a:r>
                    </a:p>
                  </a:txBody>
                  <a:tcPr marL="91440" marR="91440" marT="45720" marB="45720">
                    <a:solidFill>
                      <a:srgbClr val="F5F3EC"/>
                    </a:solidFill>
                  </a:tcPr>
                </a:tc>
              </a:tr>
              <a:tr h="485775">
                <a:tc>
                  <a:txBody>
                    <a:bodyPr>
                      <a:noAutofit/>
                    </a:bodyPr>
                    <a:lstStyle/>
                    <a:p>
                      <a:r>
                        <a:rPr sz="2025" b="0">
                          <a:solidFill>
                            <a:srgbClr val="183D30"/>
                          </a:solidFill>
                          <a:latin typeface="Helvetica Neue"/>
                          <a:ea typeface="Helvetica Neue"/>
                          <a:cs typeface="Helvetica Neue"/>
                        </a:rPr>
                        <a:t>Headcount</a:t>
                      </a:r>
                    </a:p>
                  </a:txBody>
                  <a:tcPr marL="91440" marR="91440" marT="45720" marB="45720">
                    <a:solidFill>
                      <a:srgbClr val="F5F3EC"/>
                    </a:solidFill>
                  </a:tcPr>
                </a:tc>
                <a:tc>
                  <a:txBody>
                    <a:bodyPr>
                      <a:noAutofit/>
                    </a:bodyPr>
                    <a:lstStyle/>
                    <a:p>
                      <a:r>
                        <a:rPr sz="2025" b="0">
                          <a:solidFill>
                            <a:srgbClr val="183D30"/>
                          </a:solidFill>
                          <a:latin typeface="Helvetica Neue"/>
                          <a:ea typeface="Helvetica Neue"/>
                          <a:cs typeface="Helvetica Neue"/>
                        </a:rPr>
                        <a:t>8.6 s</a:t>
                      </a:r>
                    </a:p>
                  </a:txBody>
                  <a:tcPr marL="91440" marR="91440" marT="45720" marB="45720">
                    <a:solidFill>
                      <a:srgbClr val="F5F3EC"/>
                    </a:solidFill>
                  </a:tcPr>
                </a:tc>
              </a:tr>
            </a:tbl>
          </a:graphicData>
        </a:graphic>
      </p:graphicFrame>
      <p:sp>
        <p:nvSpPr>
          <p:cNvPr id="4" name="">
            <a:extLst xmlns:a="http://schemas.openxmlformats.org/drawingml/2006/main">
              <a:ext uri="{FF2B5EF4-FFF2-40B4-BE49-F238E27FC236}">
                <a16:creationId xmlns:a16="http://schemas.microsoft.com/office/drawing/2014/main" id="{85CDBD33-754E-4E69-840A-304F3D3A5EFE}"/>
              </a:ext>
            </a:extLst>
          </p:cNvPr>
          <p:cNvSpPr>
            <a:spLocks xmlns:a="http://schemas.openxmlformats.org/drawingml/2006/main" noGrp="1"/>
          </p:cNvSpPr>
          <p:nvPr/>
        </p:nvSpPr>
        <p:spPr>
          <a:xfrm xmlns:a="http://schemas.openxmlformats.org/drawingml/2006/main">
            <a:off x="723900" y="5429250"/>
            <a:ext cx="107442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One generation per fixture, recorded in the development log.</a:t>
            </a:r>
          </a:p>
          <a:p xmlns:a="http://schemas.openxmlformats.org/drawingml/2006/main">
            <a:pPr>
              <a:defRPr sz="1875" b="0">
                <a:solidFill>
                  <a:srgbClr val="53675B"/>
                </a:solidFill>
                <a:latin typeface="Helvetica Neue"/>
                <a:ea typeface="Helvetica Neue"/>
                <a:cs typeface="Helvetica Neue"/>
              </a:defRPr>
            </a:pPr>
            <a:r>
              <a:rPr sz="1875" b="0">
                <a:solidFill>
                  <a:srgbClr val="53675B"/>
                </a:solidFill>
                <a:latin typeface="Helvetica Neue"/>
                <a:ea typeface="Helvetica Neue"/>
                <a:cs typeface="Helvetica Neue"/>
              </a:rPr>
              <a:t>Budget edit: 4 s. Product-task comparison still pending.</a:t>
            </a:r>
          </a:p>
        </p:txBody>
      </p:sp>
    </p:spTree>
    <p:extLst>
      <p:ext uri="{BB962C8B-B14F-4D97-AF65-F5344CB8AC3E}">
        <p14:creationId xmlns:p14="http://schemas.microsoft.com/office/powerpoint/2010/main" val="1134148648"/>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586A82-DC83-49EB-81E4-F8E122DA2A0B}"/>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D30"/>
                </a:solidFill>
                <a:latin typeface="Helvetica Neue"/>
                <a:ea typeface="Helvetica Neue"/>
                <a:cs typeface="Helvetica Neue"/>
              </a:defRPr>
            </a:pPr>
            <a:r>
              <a:rPr sz="3600" b="1">
                <a:solidFill>
                  <a:srgbClr val="183D30"/>
                </a:solidFill>
                <a:latin typeface="Helvetica Neue"/>
                <a:ea typeface="Helvetica Neue"/>
                <a:cs typeface="Helvetica Neue"/>
              </a:rPr>
              <a:t>Responsible design</a:t>
            </a:r>
          </a:p>
        </p:txBody>
      </p:sp>
      <p:sp>
        <p:nvSpPr>
          <p:cNvPr id="2" name="">
            <a:extLst xmlns:a="http://schemas.openxmlformats.org/drawingml/2006/main">
              <a:ext uri="{FF2B5EF4-FFF2-40B4-BE49-F238E27FC236}">
                <a16:creationId xmlns:a16="http://schemas.microsoft.com/office/drawing/2014/main" id="{C0EB436F-AF46-4FD7-9836-CE342AE0DF66}"/>
              </a:ext>
            </a:extLst>
          </p:cNvPr>
          <p:cNvSpPr>
            <a:spLocks xmlns:a="http://schemas.openxmlformats.org/drawingml/2006/main" noGrp="1"/>
          </p:cNvSpPr>
          <p:nvPr/>
        </p:nvSpPr>
        <p:spPr>
          <a:xfrm xmlns:a="http://schemas.openxmlformats.org/drawingml/2006/main">
            <a:off x="723900" y="2000250"/>
            <a:ext cx="495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76A50"/>
                </a:solidFill>
                <a:latin typeface="Helvetica Neue"/>
                <a:ea typeface="Helvetica Neue"/>
                <a:cs typeface="Helvetica Neue"/>
              </a:defRPr>
            </a:pPr>
            <a:r>
              <a:rPr sz="2625" b="1">
                <a:solidFill>
                  <a:srgbClr val="276A50"/>
                </a:solidFill>
                <a:latin typeface="Helvetica Neue"/>
                <a:ea typeface="Helvetica Neue"/>
                <a:cs typeface="Helvetica Neue"/>
              </a:rPr>
              <a:t>Implemented checks</a:t>
            </a:r>
          </a:p>
        </p:txBody>
      </p:sp>
      <p:sp>
        <p:nvSpPr>
          <p:cNvPr id="3" name="">
            <a:extLst xmlns:a="http://schemas.openxmlformats.org/drawingml/2006/main">
              <a:ext uri="{FF2B5EF4-FFF2-40B4-BE49-F238E27FC236}">
                <a16:creationId xmlns:a16="http://schemas.microsoft.com/office/drawing/2014/main" id="{8A807267-D48C-416B-9CFF-D3D75A9E5E3B}"/>
              </a:ext>
            </a:extLst>
          </p:cNvPr>
          <p:cNvSpPr>
            <a:spLocks xmlns:a="http://schemas.openxmlformats.org/drawingml/2006/main" noGrp="1"/>
          </p:cNvSpPr>
          <p:nvPr/>
        </p:nvSpPr>
        <p:spPr>
          <a:xfrm xmlns:a="http://schemas.openxmlformats.org/drawingml/2006/main">
            <a:off x="723900" y="2819400"/>
            <a:ext cx="50006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Validate app specifications</a:t>
            </a:r>
          </a:p>
          <a:p xmlns:a="http://schemas.openxmlformats.org/drawingml/2006/main">
            <a:pPr>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against the sheet.</a:t>
            </a:r>
          </a:p>
          <a:p xmlns:a="http://schemas.openxmlformats.org/drawingml/2006/main">
            <a:r>
              <a:t/>
            </a:r>
          </a:p>
          <a:p xmlns:a="http://schemas.openxmlformats.org/drawingml/2006/main">
            <a:pPr>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Enforce organization, row</a:t>
            </a:r>
          </a:p>
          <a:p xmlns:a="http://schemas.openxmlformats.org/drawingml/2006/main">
            <a:pPr>
              <a:defRPr sz="2175" b="0">
                <a:solidFill>
                  <a:srgbClr val="183D30"/>
                </a:solidFill>
                <a:latin typeface="Helvetica Neue"/>
                <a:ea typeface="Helvetica Neue"/>
                <a:cs typeface="Helvetica Neue"/>
              </a:defRPr>
            </a:pPr>
            <a:r>
              <a:rPr sz="2175" b="0">
                <a:solidFill>
                  <a:srgbClr val="183D30"/>
                </a:solidFill>
                <a:latin typeface="Helvetica Neue"/>
                <a:ea typeface="Helvetica Neue"/>
                <a:cs typeface="Helvetica Neue"/>
              </a:rPr>
              <a:t>and editable-field rules.</a:t>
            </a:r>
          </a:p>
        </p:txBody>
      </p:sp>
      <p:sp>
        <p:nvSpPr>
          <p:cNvPr id="4" name="">
            <a:extLst xmlns:a="http://schemas.openxmlformats.org/drawingml/2006/main">
              <a:ext uri="{FF2B5EF4-FFF2-40B4-BE49-F238E27FC236}">
                <a16:creationId xmlns:a16="http://schemas.microsoft.com/office/drawing/2014/main" id="{00B78F60-94FF-4359-B7C2-F3E31B04C092}"/>
              </a:ext>
            </a:extLst>
          </p:cNvPr>
          <p:cNvSpPr>
            <a:spLocks xmlns:a="http://schemas.openxmlformats.org/drawingml/2006/main" noGrp="1"/>
          </p:cNvSpPr>
          <p:nvPr/>
        </p:nvSpPr>
        <p:spPr>
          <a:xfrm xmlns:a="http://schemas.openxmlformats.org/drawingml/2006/main">
            <a:off x="6667500" y="2000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76A50"/>
                </a:solidFill>
                <a:latin typeface="Helvetica Neue"/>
                <a:ea typeface="Helvetica Neue"/>
                <a:cs typeface="Helvetica Neue"/>
              </a:defRPr>
            </a:pPr>
            <a:r>
              <a:rPr sz="2400" b="1">
                <a:solidFill>
                  <a:srgbClr val="276A50"/>
                </a:solidFill>
                <a:latin typeface="Helvetica Neue"/>
                <a:ea typeface="Helvetica Neue"/>
                <a:cs typeface="Helvetica Neue"/>
              </a:rPr>
              <a:t>Data handled by the product</a:t>
            </a:r>
          </a:p>
        </p:txBody>
      </p:sp>
      <p:sp>
        <p:nvSpPr>
          <p:cNvPr id="5" name="">
            <a:extLst xmlns:a="http://schemas.openxmlformats.org/drawingml/2006/main">
              <a:ext uri="{FF2B5EF4-FFF2-40B4-BE49-F238E27FC236}">
                <a16:creationId xmlns:a16="http://schemas.microsoft.com/office/drawing/2014/main" id="{0F85DC31-F6A5-4FC5-85AA-EBECC4971DC2}"/>
              </a:ext>
            </a:extLst>
          </p:cNvPr>
          <p:cNvSpPr>
            <a:spLocks xmlns:a="http://schemas.openxmlformats.org/drawingml/2006/main" noGrp="1"/>
          </p:cNvSpPr>
          <p:nvPr/>
        </p:nvSpPr>
        <p:spPr>
          <a:xfrm xmlns:a="http://schemas.openxmlformats.org/drawingml/2006/main">
            <a:off x="6667500" y="2819400"/>
            <a:ext cx="4810125"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Backend: identity, OAuth credentials</a:t>
            </a:r>
          </a:p>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cached sheet samples.</a:t>
            </a:r>
          </a:p>
          <a:p xmlns:a="http://schemas.openxmlformats.org/drawingml/2006/main">
            <a:r>
              <a:t/>
            </a:r>
          </a:p>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Nebius: schema, sample values</a:t>
            </a:r>
          </a:p>
          <a:p xmlns:a="http://schemas.openxmlformats.org/drawingml/2006/main">
            <a:pPr>
              <a:defRPr sz="2100" b="0">
                <a:solidFill>
                  <a:srgbClr val="183D30"/>
                </a:solidFill>
                <a:latin typeface="Helvetica Neue"/>
                <a:ea typeface="Helvetica Neue"/>
                <a:cs typeface="Helvetica Neue"/>
              </a:defRPr>
            </a:pPr>
            <a:r>
              <a:rPr sz="2100" b="0">
                <a:solidFill>
                  <a:srgbClr val="183D30"/>
                </a:solidFill>
                <a:latin typeface="Helvetica Neue"/>
                <a:ea typeface="Helvetica Neue"/>
                <a:cs typeface="Helvetica Neue"/>
              </a:rPr>
              <a:t>and builder instructions.</a:t>
            </a:r>
          </a:p>
        </p:txBody>
      </p:sp>
      <p:sp>
        <p:nvSpPr>
          <p:cNvPr id="6" name="">
            <a:extLst xmlns:a="http://schemas.openxmlformats.org/drawingml/2006/main">
              <a:ext uri="{FF2B5EF4-FFF2-40B4-BE49-F238E27FC236}">
                <a16:creationId xmlns:a16="http://schemas.microsoft.com/office/drawing/2014/main" id="{3A429E27-E3CA-40AC-A6E0-194C7840755A}"/>
              </a:ext>
            </a:extLst>
          </p:cNvPr>
          <p:cNvSpPr>
            <a:spLocks xmlns:a="http://schemas.openxmlformats.org/drawingml/2006/main" noGrp="1"/>
          </p:cNvSpPr>
          <p:nvPr/>
        </p:nvSpPr>
        <p:spPr>
          <a:xfrm xmlns:a="http://schemas.openxmlformats.org/drawingml/2006/main">
            <a:off x="723900" y="5505450"/>
            <a:ext cx="10763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Two-account permission checks are still pending.</a:t>
            </a:r>
          </a:p>
          <a:p xmlns:a="http://schemas.openxmlformats.org/drawingml/2006/main">
            <a:pPr>
              <a:defRPr sz="1950" b="0">
                <a:solidFill>
                  <a:srgbClr val="53675B"/>
                </a:solidFill>
                <a:latin typeface="Helvetica Neue"/>
                <a:ea typeface="Helvetica Neue"/>
                <a:cs typeface="Helvetica Neue"/>
              </a:defRPr>
            </a:pPr>
            <a:r>
              <a:rPr sz="1950" b="0">
                <a:solidFill>
                  <a:srgbClr val="53675B"/>
                </a:solidFill>
                <a:latin typeface="Helvetica Neue"/>
                <a:ea typeface="Helvetica Neue"/>
                <a:cs typeface="Helvetica Neue"/>
              </a:rPr>
              <a:t>Restoring an app configuration does not undo sheet edits.</a:t>
            </a:r>
          </a:p>
        </p:txBody>
      </p:sp>
    </p:spTree>
    <p:extLst>
      <p:ext uri="{BB962C8B-B14F-4D97-AF65-F5344CB8AC3E}">
        <p14:creationId xmlns:p14="http://schemas.microsoft.com/office/powerpoint/2010/main" val="1192920566"/>
      </p:ext>
    </p:extLst>
  </p:cSld>
</p:sld>
</file>

<file path=ppt/slides/slide7.xml><?xml version="1.0" encoding="utf-8"?>
<p:sld xmlns:p="http://schemas.openxmlformats.org/presentationml/2006/main">
  <p:cSld>
    <p:bg>
      <p:bgPr>
        <a:solidFill xmlns:a="http://schemas.openxmlformats.org/drawingml/2006/main">
          <a:srgbClr val="183D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D82524-01E9-4471-9B37-9E5F2790FEA6}"/>
              </a:ext>
            </a:extLst>
          </p:cNvPr>
          <p:cNvSpPr>
            <a:spLocks xmlns:a="http://schemas.openxmlformats.org/drawingml/2006/main" noGrp="1"/>
          </p:cNvSpPr>
          <p:nvPr/>
        </p:nvSpPr>
        <p:spPr>
          <a:xfrm xmlns:a="http://schemas.openxmlformats.org/drawingml/2006/main">
            <a:off x="685800" y="495300"/>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5F3EC"/>
                </a:solidFill>
                <a:latin typeface="Helvetica Neue"/>
                <a:ea typeface="Helvetica Neue"/>
                <a:cs typeface="Helvetica Neue"/>
              </a:defRPr>
            </a:pPr>
            <a:r>
              <a:rPr sz="3600" b="1">
                <a:solidFill>
                  <a:srgbClr val="F5F3EC"/>
                </a:solidFill>
                <a:latin typeface="Helvetica Neue"/>
                <a:ea typeface="Helvetica Neue"/>
                <a:cs typeface="Helvetica Neue"/>
              </a:rPr>
              <a:t>A recurring workflow business</a:t>
            </a:r>
          </a:p>
        </p:txBody>
      </p:sp>
      <p:sp>
        <p:nvSpPr>
          <p:cNvPr id="2" name="">
            <a:extLst xmlns:a="http://schemas.openxmlformats.org/drawingml/2006/main">
              <a:ext uri="{FF2B5EF4-FFF2-40B4-BE49-F238E27FC236}">
                <a16:creationId xmlns:a16="http://schemas.microsoft.com/office/drawing/2014/main" id="{34A0488C-DBB5-4BFD-B173-BF0BF6865A3A}"/>
              </a:ext>
            </a:extLst>
          </p:cNvPr>
          <p:cNvSpPr>
            <a:spLocks xmlns:a="http://schemas.openxmlformats.org/drawingml/2006/main" noGrp="1"/>
          </p:cNvSpPr>
          <p:nvPr/>
        </p:nvSpPr>
        <p:spPr>
          <a:xfrm xmlns:a="http://schemas.openxmlformats.org/drawingml/2006/main">
            <a:off x="723900" y="2009775"/>
            <a:ext cx="4953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C2D7C7"/>
                </a:solidFill>
                <a:latin typeface="Helvetica Neue"/>
                <a:ea typeface="Helvetica Neue"/>
                <a:cs typeface="Helvetica Neue"/>
              </a:defRPr>
            </a:pPr>
            <a:r>
              <a:rPr sz="2325" b="1">
                <a:solidFill>
                  <a:srgbClr val="C2D7C7"/>
                </a:solidFill>
                <a:latin typeface="Helvetica Neue"/>
                <a:ea typeface="Helvetica Neue"/>
                <a:cs typeface="Helvetica Neue"/>
              </a:rPr>
              <a:t>Initial target</a:t>
            </a:r>
          </a:p>
        </p:txBody>
      </p:sp>
      <p:sp>
        <p:nvSpPr>
          <p:cNvPr id="3" name="">
            <a:extLst xmlns:a="http://schemas.openxmlformats.org/drawingml/2006/main">
              <a:ext uri="{FF2B5EF4-FFF2-40B4-BE49-F238E27FC236}">
                <a16:creationId xmlns:a16="http://schemas.microsoft.com/office/drawing/2014/main" id="{A7A97417-239B-437E-9902-24534D46E259}"/>
              </a:ext>
            </a:extLst>
          </p:cNvPr>
          <p:cNvSpPr>
            <a:spLocks xmlns:a="http://schemas.openxmlformats.org/drawingml/2006/main" noGrp="1"/>
          </p:cNvSpPr>
          <p:nvPr/>
        </p:nvSpPr>
        <p:spPr>
          <a:xfrm xmlns:a="http://schemas.openxmlformats.org/drawingml/2006/main">
            <a:off x="723900" y="2800350"/>
            <a:ext cx="50387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5F3EC"/>
                </a:solidFill>
                <a:latin typeface="Helvetica Neue"/>
                <a:ea typeface="Helvetica Neue"/>
                <a:cs typeface="Helvetica Neue"/>
              </a:defRPr>
            </a:pPr>
            <a:r>
              <a:rPr sz="2850" b="1">
                <a:solidFill>
                  <a:srgbClr val="F5F3EC"/>
                </a:solidFill>
                <a:latin typeface="Helvetica Neue"/>
                <a:ea typeface="Helvetica Neue"/>
                <a:cs typeface="Helvetica Neue"/>
              </a:rPr>
              <a:t>Finance and Ops teams</a:t>
            </a:r>
          </a:p>
          <a:p xmlns:a="http://schemas.openxmlformats.org/drawingml/2006/main">
            <a:pPr>
              <a:defRPr sz="2850" b="1">
                <a:solidFill>
                  <a:srgbClr val="F5F3EC"/>
                </a:solidFill>
                <a:latin typeface="Helvetica Neue"/>
                <a:ea typeface="Helvetica Neue"/>
                <a:cs typeface="Helvetica Neue"/>
              </a:defRPr>
            </a:pPr>
            <a:r>
              <a:rPr sz="2850" b="1">
                <a:solidFill>
                  <a:srgbClr val="F5F3EC"/>
                </a:solidFill>
                <a:latin typeface="Helvetica Neue"/>
                <a:ea typeface="Helvetica Neue"/>
                <a:cs typeface="Helvetica Neue"/>
              </a:rPr>
              <a:t>collecting recurring updates.</a:t>
            </a:r>
          </a:p>
        </p:txBody>
      </p:sp>
      <p:sp>
        <p:nvSpPr>
          <p:cNvPr id="4" name="">
            <a:extLst xmlns:a="http://schemas.openxmlformats.org/drawingml/2006/main">
              <a:ext uri="{FF2B5EF4-FFF2-40B4-BE49-F238E27FC236}">
                <a16:creationId xmlns:a16="http://schemas.microsoft.com/office/drawing/2014/main" id="{DC11A6CC-7ABB-4DE6-B2C8-60CD471F3525}"/>
              </a:ext>
            </a:extLst>
          </p:cNvPr>
          <p:cNvSpPr>
            <a:spLocks xmlns:a="http://schemas.openxmlformats.org/drawingml/2006/main" noGrp="1"/>
          </p:cNvSpPr>
          <p:nvPr/>
        </p:nvSpPr>
        <p:spPr>
          <a:xfrm xmlns:a="http://schemas.openxmlformats.org/drawingml/2006/main">
            <a:off x="6667500" y="2009775"/>
            <a:ext cx="4857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C2D7C7"/>
                </a:solidFill>
                <a:latin typeface="Helvetica Neue"/>
                <a:ea typeface="Helvetica Neue"/>
                <a:cs typeface="Helvetica Neue"/>
              </a:defRPr>
            </a:pPr>
            <a:r>
              <a:rPr sz="2250" b="1">
                <a:solidFill>
                  <a:srgbClr val="C2D7C7"/>
                </a:solidFill>
                <a:latin typeface="Helvetica Neue"/>
                <a:ea typeface="Helvetica Neue"/>
                <a:cs typeface="Helvetica Neue"/>
              </a:rPr>
              <a:t>Business-model hypothesis</a:t>
            </a:r>
          </a:p>
        </p:txBody>
      </p:sp>
      <p:sp>
        <p:nvSpPr>
          <p:cNvPr id="5" name="">
            <a:extLst xmlns:a="http://schemas.openxmlformats.org/drawingml/2006/main">
              <a:ext uri="{FF2B5EF4-FFF2-40B4-BE49-F238E27FC236}">
                <a16:creationId xmlns:a16="http://schemas.microsoft.com/office/drawing/2014/main" id="{BF40B1F5-BE44-428C-8361-0FBB36F7DB73}"/>
              </a:ext>
            </a:extLst>
          </p:cNvPr>
          <p:cNvSpPr>
            <a:spLocks xmlns:a="http://schemas.openxmlformats.org/drawingml/2006/main" noGrp="1"/>
          </p:cNvSpPr>
          <p:nvPr/>
        </p:nvSpPr>
        <p:spPr>
          <a:xfrm xmlns:a="http://schemas.openxmlformats.org/drawingml/2006/main">
            <a:off x="6667500" y="2800350"/>
            <a:ext cx="48101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F5F3EC"/>
                </a:solidFill>
                <a:latin typeface="Helvetica Neue"/>
                <a:ea typeface="Helvetica Neue"/>
                <a:cs typeface="Helvetica Neue"/>
              </a:defRPr>
            </a:pPr>
            <a:r>
              <a:rPr sz="2475" b="0">
                <a:solidFill>
                  <a:srgbClr val="F5F3EC"/>
                </a:solidFill>
                <a:latin typeface="Helvetica Neue"/>
                <a:ea typeface="Helvetica Neue"/>
                <a:cs typeface="Helvetica Neue"/>
              </a:rPr>
              <a:t>A team subscription, justified</a:t>
            </a:r>
          </a:p>
          <a:p xmlns:a="http://schemas.openxmlformats.org/drawingml/2006/main">
            <a:pPr>
              <a:defRPr sz="2475" b="0">
                <a:solidFill>
                  <a:srgbClr val="F5F3EC"/>
                </a:solidFill>
                <a:latin typeface="Helvetica Neue"/>
                <a:ea typeface="Helvetica Neue"/>
                <a:cs typeface="Helvetica Neue"/>
              </a:defRPr>
            </a:pPr>
            <a:r>
              <a:rPr sz="2475" b="0">
                <a:solidFill>
                  <a:srgbClr val="F5F3EC"/>
                </a:solidFill>
                <a:latin typeface="Helvetica Neue"/>
                <a:ea typeface="Helvetica Neue"/>
                <a:cs typeface="Helvetica Neue"/>
              </a:rPr>
              <a:t>by less coordination and</a:t>
            </a:r>
          </a:p>
          <a:p xmlns:a="http://schemas.openxmlformats.org/drawingml/2006/main">
            <a:pPr>
              <a:defRPr sz="2475" b="0">
                <a:solidFill>
                  <a:srgbClr val="F5F3EC"/>
                </a:solidFill>
                <a:latin typeface="Helvetica Neue"/>
                <a:ea typeface="Helvetica Neue"/>
                <a:cs typeface="Helvetica Neue"/>
              </a:defRPr>
            </a:pPr>
            <a:r>
              <a:rPr sz="2475" b="0">
                <a:solidFill>
                  <a:srgbClr val="F5F3EC"/>
                </a:solidFill>
                <a:latin typeface="Helvetica Neue"/>
                <a:ea typeface="Helvetica Neue"/>
                <a:cs typeface="Helvetica Neue"/>
              </a:rPr>
              <a:t>reconciliation work.</a:t>
            </a:r>
          </a:p>
        </p:txBody>
      </p:sp>
      <p:sp>
        <p:nvSpPr>
          <p:cNvPr id="6" name="">
            <a:extLst xmlns:a="http://schemas.openxmlformats.org/drawingml/2006/main">
              <a:ext uri="{FF2B5EF4-FFF2-40B4-BE49-F238E27FC236}">
                <a16:creationId xmlns:a16="http://schemas.microsoft.com/office/drawing/2014/main" id="{A529FE40-B46B-432C-8971-DC6F77B14F56}"/>
              </a:ext>
            </a:extLst>
          </p:cNvPr>
          <p:cNvSpPr>
            <a:spLocks xmlns:a="http://schemas.openxmlformats.org/drawingml/2006/main" noGrp="1"/>
          </p:cNvSpPr>
          <p:nvPr/>
        </p:nvSpPr>
        <p:spPr>
          <a:xfrm xmlns:a="http://schemas.openxmlformats.org/drawingml/2006/main">
            <a:off x="723900" y="47434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5F3EC"/>
                </a:solidFill>
                <a:latin typeface="Helvetica Neue"/>
                <a:ea typeface="Helvetica Neue"/>
                <a:cs typeface="Helvetica Neue"/>
              </a:defRPr>
            </a:pPr>
            <a:r>
              <a:rPr sz="2625" b="1">
                <a:solidFill>
                  <a:srgbClr val="F5F3EC"/>
                </a:solidFill>
                <a:latin typeface="Helvetica Neue"/>
                <a:ea typeface="Helvetica Neue"/>
                <a:cs typeface="Helvetica Neue"/>
              </a:rPr>
              <a:t>Start with one useful app. Expand within the company.</a:t>
            </a:r>
          </a:p>
        </p:txBody>
      </p:sp>
      <p:sp>
        <p:nvSpPr>
          <p:cNvPr id="7" name="">
            <a:extLst xmlns:a="http://schemas.openxmlformats.org/drawingml/2006/main">
              <a:ext uri="{FF2B5EF4-FFF2-40B4-BE49-F238E27FC236}">
                <a16:creationId xmlns:a16="http://schemas.microsoft.com/office/drawing/2014/main" id="{E9065118-6FAB-41FD-AA87-91BBABE735BC}"/>
              </a:ext>
            </a:extLst>
          </p:cNvPr>
          <p:cNvSpPr>
            <a:spLocks xmlns:a="http://schemas.openxmlformats.org/drawingml/2006/main" noGrp="1"/>
          </p:cNvSpPr>
          <p:nvPr/>
        </p:nvSpPr>
        <p:spPr>
          <a:xfrm xmlns:a="http://schemas.openxmlformats.org/drawingml/2006/main">
            <a:off x="723900" y="57721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Next: observe five teams and measure a real workflow.</a:t>
            </a:r>
          </a:p>
          <a:p xmlns:a="http://schemas.openxmlformats.org/drawingml/2006/main">
            <a:pPr>
              <a:defRPr sz="1800" b="0">
                <a:solidFill>
                  <a:srgbClr val="C2D7C7"/>
                </a:solidFill>
                <a:latin typeface="Helvetica Neue"/>
                <a:ea typeface="Helvetica Neue"/>
                <a:cs typeface="Helvetica Neue"/>
              </a:defRPr>
            </a:pPr>
            <a:r>
              <a:rPr sz="1800" b="0">
                <a:solidFill>
                  <a:srgbClr val="C2D7C7"/>
                </a:solidFill>
                <a:latin typeface="Helvetica Neue"/>
                <a:ea typeface="Helvetica Neue"/>
                <a:cs typeface="Helvetica Neue"/>
              </a:rPr>
              <a:t>Customer demand and pricing remain unvalidated.</a:t>
            </a:r>
          </a:p>
        </p:txBody>
      </p:sp>
    </p:spTree>
    <p:extLst>
      <p:ext uri="{BB962C8B-B14F-4D97-AF65-F5344CB8AC3E}">
        <p14:creationId xmlns:p14="http://schemas.microsoft.com/office/powerpoint/2010/main" val="300584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2026-09-23T11:14:19.1100000Z</dcterms:created>
  <dcterms:modified xsi:type="dcterms:W3CDTF">2026-09-23T11:14:19.1100000Z</dcterms:modified>
</coreProperties>
</file>