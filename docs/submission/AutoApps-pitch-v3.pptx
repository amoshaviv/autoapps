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c0d9154e290c4ade" /><Relationship Type="http://schemas.openxmlformats.org/officeDocument/2006/relationships/extended-properties" Target="/docProps/app.xml" Id="R1798ecb0c7fb47b5" /><Relationship Type="http://schemas.openxmlformats.org/officeDocument/2006/relationships/officeDocument" Target="/ppt/presentation.xml" Id="R49605b22983c4fa5" /></Relationships>
</file>

<file path=ppt/presentation.xml><?xml version="1.0" encoding="utf-8"?>
<p:presentation xmlns:p="http://schemas.openxmlformats.org/presentationml/2006/main">
  <p:sldMasterIdLst>
    <p:sldMasterId xmlns:r="http://schemas.openxmlformats.org/officeDocument/2006/relationships" id="2147483648" r:id="Ra967bb5b01974f55"/>
  </p:sldMasterIdLst>
  <p:notesMasterIdLst>
    <p:notesMasterId xmlns:r="http://schemas.openxmlformats.org/officeDocument/2006/relationships" r:id="R510a19b8503c4901"/>
  </p:notesMasterIdLst>
  <p:sldIdLst>
    <p:sldId xmlns:r="http://schemas.openxmlformats.org/officeDocument/2006/relationships" id="256" r:id="Rbb0a73b5c2694aa4"/>
    <p:sldId xmlns:r="http://schemas.openxmlformats.org/officeDocument/2006/relationships" id="257" r:id="R85cc7de1439146b4"/>
    <p:sldId xmlns:r="http://schemas.openxmlformats.org/officeDocument/2006/relationships" id="258" r:id="R5c490c2662084fa4"/>
    <p:sldId xmlns:r="http://schemas.openxmlformats.org/officeDocument/2006/relationships" id="259" r:id="R777763d3cf684ca9"/>
    <p:sldId xmlns:r="http://schemas.openxmlformats.org/officeDocument/2006/relationships" id="260" r:id="Rfd305107f6f84980"/>
    <p:sldId xmlns:r="http://schemas.openxmlformats.org/officeDocument/2006/relationships" id="261" r:id="Rd7fcf495d42b444b"/>
    <p:sldId xmlns:r="http://schemas.openxmlformats.org/officeDocument/2006/relationships" id="262" r:id="R350f138b60114931"/>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f0bd9cc2e96b4098" /><Relationship Type="http://schemas.openxmlformats.org/officeDocument/2006/relationships/slideMaster" Target="/ppt/slideMasters/slideMaster1.xml" Id="Ra967bb5b01974f55" /><Relationship Type="http://schemas.openxmlformats.org/officeDocument/2006/relationships/notesMaster" Target="/ppt/notesMasters/notesMaster1.xml" Id="R510a19b8503c4901" /><Relationship Type="http://schemas.openxmlformats.org/officeDocument/2006/relationships/presProps" Target="/ppt/presProps.xml" Id="R312d9c90ffe5437c" /><Relationship Type="http://schemas.openxmlformats.org/officeDocument/2006/relationships/tableStyles" Target="/ppt/tableStyles.xml" Id="R89da09c085d34e27" /><Relationship Type="http://schemas.openxmlformats.org/officeDocument/2006/relationships/slide" Target="/ppt/slides/slide1.xml" Id="Rbb0a73b5c2694aa4" /><Relationship Type="http://schemas.openxmlformats.org/officeDocument/2006/relationships/slide" Target="/ppt/slides/slide2.xml" Id="R85cc7de1439146b4" /><Relationship Type="http://schemas.openxmlformats.org/officeDocument/2006/relationships/slide" Target="/ppt/slides/slide3.xml" Id="R5c490c2662084fa4" /><Relationship Type="http://schemas.openxmlformats.org/officeDocument/2006/relationships/slide" Target="/ppt/slides/slide4.xml" Id="R777763d3cf684ca9" /><Relationship Type="http://schemas.openxmlformats.org/officeDocument/2006/relationships/slide" Target="/ppt/slides/slide5.xml" Id="Rfd305107f6f84980" /><Relationship Type="http://schemas.openxmlformats.org/officeDocument/2006/relationships/slide" Target="/ppt/slides/slide6.xml" Id="Rd7fcf495d42b444b" /><Relationship Type="http://schemas.openxmlformats.org/officeDocument/2006/relationships/slide" Target="/ppt/slides/slide7.xml" Id="R350f138b60114931"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c7d023dabfc341d1"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e106f27b3a0d4c97" /><Relationship Type="http://schemas.openxmlformats.org/officeDocument/2006/relationships/notesMaster" Target="/ppt/notesMasters/notesMaster1.xml" Id="R968565125618499e" /></Relationships>
</file>

<file path=ppt/notesSlides/_rels/notesSlide2.xml.rels>&#65279;<?xml version="1.0" encoding="utf-8"?><Relationships xmlns="http://schemas.openxmlformats.org/package/2006/relationships"><Relationship Type="http://schemas.openxmlformats.org/officeDocument/2006/relationships/slide" Target="/ppt/slides/slide2.xml" Id="R91fed2ed3729453e" /><Relationship Type="http://schemas.openxmlformats.org/officeDocument/2006/relationships/notesMaster" Target="/ppt/notesMasters/notesMaster1.xml" Id="R0fd24abf5bfd47e6" /></Relationships>
</file>

<file path=ppt/notesSlides/_rels/notesSlide3.xml.rels>&#65279;<?xml version="1.0" encoding="utf-8"?><Relationships xmlns="http://schemas.openxmlformats.org/package/2006/relationships"><Relationship Type="http://schemas.openxmlformats.org/officeDocument/2006/relationships/slide" Target="/ppt/slides/slide3.xml" Id="R4b96e6badd1a424c" /><Relationship Type="http://schemas.openxmlformats.org/officeDocument/2006/relationships/notesMaster" Target="/ppt/notesMasters/notesMaster1.xml" Id="R51c8a11bc6cf4e57" /></Relationships>
</file>

<file path=ppt/notesSlides/_rels/notesSlide4.xml.rels>&#65279;<?xml version="1.0" encoding="utf-8"?><Relationships xmlns="http://schemas.openxmlformats.org/package/2006/relationships"><Relationship Type="http://schemas.openxmlformats.org/officeDocument/2006/relationships/slide" Target="/ppt/slides/slide4.xml" Id="R957f6255fc234d9e" /><Relationship Type="http://schemas.openxmlformats.org/officeDocument/2006/relationships/notesMaster" Target="/ppt/notesMasters/notesMaster1.xml" Id="Ra531ddb98e414175" /></Relationships>
</file>

<file path=ppt/notesSlides/_rels/notesSlide5.xml.rels>&#65279;<?xml version="1.0" encoding="utf-8"?><Relationships xmlns="http://schemas.openxmlformats.org/package/2006/relationships"><Relationship Type="http://schemas.openxmlformats.org/officeDocument/2006/relationships/slide" Target="/ppt/slides/slide5.xml" Id="R02a182164e5e444d" /><Relationship Type="http://schemas.openxmlformats.org/officeDocument/2006/relationships/notesMaster" Target="/ppt/notesMasters/notesMaster1.xml" Id="R8a2cc2bc92e14f93" /></Relationships>
</file>

<file path=ppt/notesSlides/_rels/notesSlide6.xml.rels>&#65279;<?xml version="1.0" encoding="utf-8"?><Relationships xmlns="http://schemas.openxmlformats.org/package/2006/relationships"><Relationship Type="http://schemas.openxmlformats.org/officeDocument/2006/relationships/slide" Target="/ppt/slides/slide6.xml" Id="R2f7980e73dc74d5b" /><Relationship Type="http://schemas.openxmlformats.org/officeDocument/2006/relationships/notesMaster" Target="/ppt/notesMasters/notesMaster1.xml" Id="R1c6412a9f5884758" /></Relationships>
</file>

<file path=ppt/notesSlides/_rels/notesSlide7.xml.rels>&#65279;<?xml version="1.0" encoding="utf-8"?><Relationships xmlns="http://schemas.openxmlformats.org/package/2006/relationships"><Relationship Type="http://schemas.openxmlformats.org/officeDocument/2006/relationships/slide" Target="/ppt/slides/slide7.xml" Id="Rcaa45dd76756470b" /><Relationship Type="http://schemas.openxmlformats.org/officeDocument/2006/relationships/notesMaster" Target="/ppt/notesMasters/notesMaster1.xml" Id="R27c10409fde94cc1"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0:00–0:15. AutoApps is Lovable for the enterprise. It reads the business context you already have, suggests useful apps, and generates the one you choose. We start with Google Sheets.</a:t>
            </a:r>
          </a:p>
          <a:p xmlns:a="http://schemas.openxmlformats.org/drawingml/2006/main">
            <a:r>
              <a:t/>
            </a:r>
          </a:p>
          <a:p xmlns:a="http://schemas.openxmlformats.org/drawingml/2006/main">
            <a:r>
              <a:t>The Lovable comparison is positioning, not a feature-parity, affiliation, or enterprise-readiness claim. Broader business contexts are the direction; Google Sheets is the current source. Cover layout and positioning follow Amos’s AutoApps-pitch-draft copy.key embedded preview. The subtitle reflects his subsequent request to emphasize automatic suggestions and generation from context. The brand spelling has been corrected from Loveable to Lovable.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0:15–1:05. Engineers use AI to build software. Business teams should be able to build their own tools too. Think of a Finance analyst collecting budget inputs. Every cycle means chasing inputs, coordinating sheet edits and reconciling replies. Today they use shared sheets or separate forms, or ask someone to build a tool. AutoApps reads the columns, sample values and missing inputs to propose useful apps. They choose a budget collection app and we generate it automatically. Colleagues get a focused interface that updates the original sheet. Chat handles refinements after creation.</a:t>
            </a:r>
          </a:p>
          <a:p xmlns:a="http://schemas.openxmlformats.org/drawingml/2006/main">
            <a:r>
              <a:t/>
            </a:r>
          </a:p>
          <a:p xmlns:a="http://schemas.openxmlformats.org/drawingml/2006/main">
            <a:r>
              <a:t>This recurring workflow and buyer are hypotheses, not findings from customer interviews. Sources: docs/PRD.md sections 1–5 and 9, frontend/lib/apps/shape.ts and frontend/lib/ai/suggest.ts. No adoption-rate or time-saved statistic is claimed.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1:05–2:20. Demonstration script: 10 seconds show the synthetic sheet and its owner/empty-input columns, 10 seconds reveal the context-derived suggestions and choose one, 15 seconds generate the preview, 10 seconds make a concise chat refinement if it fits, 10 seconds publish and open the colleague link, 15 seconds save one update, 5 seconds show the changed source cell. The context-derived suggestions must be visible before any custom prompt. Use the web builder so the stage computer needs no extension install.</a:t>
            </a:r>
          </a:p>
          <a:p xmlns:a="http://schemas.openxmlformats.org/drawingml/2006/main">
            <a:r>
              <a:t/>
            </a:r>
          </a:p>
          <a:p xmlns:a="http://schemas.openxmlformats.org/drawingml/2006/main">
            <a:r>
              <a:t>This sequence is the target demonstration, not a statement that the two-account rehearsal has passed. The production runtime has been checked by the development session, but H-6 (distinct consumer account) remains open in the reviewed tracker. If live generation runs over its slot, show a clearly identified pre-generated app and keep the live write-back. Sources: docs/PRD.md section 4, docs/TRACKER.md phases 3–4 and H-6.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2:20–2:55. Schema extraction and shape analysis turn sheet data into signals about identity, missing inputs and useful views. Nebius Token Factory serves the product model calls: zai-org/GLM-5.3-Flash at low effort proposes three workflows, and zai-org/GLM-5.3 at high effort generates and edits the selected app specification. JSON and exact-column validation run before acceptance, with one validation retry. Four supported views keep the runtime bounded.</a:t>
            </a:r>
          </a:p>
          <a:p xmlns:a="http://schemas.openxmlformats.org/drawingml/2006/main">
            <a:r>
              <a:t/>
            </a:r>
          </a:p>
          <a:p xmlns:a="http://schemas.openxmlformats.org/drawingml/2006/main">
            <a:r>
              <a:t>Those are the reviewed product defaults, not benchmark settings. The next slide uses high effort for both models. DeepSeek-V4.1-Flash was tested in a compatibility spike. Claude assisted development and Codex assisted submission preparation/evaluation; no closed-model inference appears in the reviewed product path. Source: frontend/lib/ai, frontend/lib/apps/shape.ts, spec.ts and validate.ts.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2:55–3:40. We used GLM-5.3-Flash as the baseline on five matched generation tasks, both models at high effort. GLM-5.3 had a 4.64-second median, about thirteen percent lower than the baseline. Both passed every schema check. But Flash met four task checklists and GLM-5.3 met three. Both missed the requested multi-row task table, and GLM-5.3 omitted the RSVP identity setting. This is a small measured latency advantage with a task-fit tradeoff. We need repeat runs before changing our model choice.</a:t>
            </a:r>
          </a:p>
          <a:p xmlns:a="http://schemas.openxmlformats.org/drawingml/2006/main">
            <a:r>
              <a:t/>
            </a:r>
          </a:p>
          <a:p xmlns:a="http://schemas.openxmlformats.org/drawingml/2006/main">
            <a:r>
              <a:t>Sources: docs/submission/evidence/results.json, protocol.json, review.json, summary.json and README.md. Relative median reduction = (5.352 - 4.640) / 5.352 = 13.30%, rounded to 13%. Ten successful calls, one request per fixture/model, alternating order. Both high effort, unlike the product suggestion setting. Static spec checklist review, not end-to-end correctness. Median includes local validation. No retries needed. Warm state unknown. No cost or universal superiority claim.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3:40–4:00. The model produces a bounded JSON specification that the server validates and enforces. We disclose the data flow: identity, credentials and cached samples on the backend, selected context and prompts to Nebius. Builders can revise or restore an app configuration; that does not undo saved spreadsheet edits.</a:t>
            </a:r>
          </a:p>
          <a:p xmlns:a="http://schemas.openxmlformats.org/drawingml/2006/main">
            <a:r>
              <a:t/>
            </a:r>
          </a:p>
          <a:p xmlns:a="http://schemas.openxmlformats.org/drawingml/2006/main">
            <a:r>
              <a:t>Source: frontend/lib/apps/validate.ts and runtime.ts, frontend/lib/auth/guards.ts, frontend/lib/ai/prompts.ts, app version restore routes, database models, and docs/TRACKER.md. Model-generated permissions still need review against intended policy. Do not claim that all enterprise security/privacy concerns are solved. Distinct-account rehearsal remains a prerequisite for the demo.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4:00–4:45. The first customer is an Ops team repeatedly collecting updates in spreadsheets. The workflow owner is our buyer hypothesis, with a team subscription priced against the value of less coordination. Google reported more than eleven million Workspace customers in July 2025: a large starting ecosystem, not our addressable-market estimate. We would win one recurring workflow, then expand into more apps and data sources inside the same company. The next proof is repeat use and willingness to pay. AutoApps gives business teams a way to build with AI.</a:t>
            </a:r>
          </a:p>
          <a:p xmlns:a="http://schemas.openxmlformats.org/drawingml/2006/main">
            <a:r>
              <a:t/>
            </a:r>
          </a:p>
          <a:p xmlns:a="http://schemas.openxmlformats.org/drawingml/2006/main">
            <a:r>
              <a:t>Market source: Google Workspace, “Defending against account takeovers from today’s top threats with passkeys and DBSC,” 29 July 2025, https://workspace.google.com/blog/identity-and-security/defending-against-account-takeovers-top-threats-passkeys-and-dbsc . This is platform-customer context, not proof that all customers use Sheets for our target workflow or would buy AutoApps. The target, buyer, team subscription and expansion strategy are hypotheses, not customer traction. Demand and pricing remain unvalidated. Timing leaves 15 seconds of margin before the five-minute limit.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c53e2f20ea5a4a84"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61fc59efc90a4982" /><Relationship Type="http://schemas.openxmlformats.org/officeDocument/2006/relationships/slideLayout" Target="/ppt/slideLayouts/slideLayout1.xml" Id="R398295eb7d454d7e"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398295eb7d454d7e"/>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e7f15dc1219d451e" /><Relationship Type="http://schemas.openxmlformats.org/officeDocument/2006/relationships/notesSlide" Target="/ppt/notesSlides/notesSlide1.xml" Id="Rbb4744915ad34e1a"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73f985e89cc5482a" /><Relationship Type="http://schemas.openxmlformats.org/officeDocument/2006/relationships/notesSlide" Target="/ppt/notesSlides/notesSlide2.xml" Id="R3a829ebe8119441e"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1d6c2ba139db4fef" /><Relationship Type="http://schemas.openxmlformats.org/officeDocument/2006/relationships/notesSlide" Target="/ppt/notesSlides/notesSlide3.xml" Id="R6a903c26b7504fe8"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b6715f26933a413a" /><Relationship Type="http://schemas.openxmlformats.org/officeDocument/2006/relationships/notesSlide" Target="/ppt/notesSlides/notesSlide4.xml" Id="R5a48736b08a94279"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cdc78cbb484341b3" /><Relationship Type="http://schemas.openxmlformats.org/officeDocument/2006/relationships/notesSlide" Target="/ppt/notesSlides/notesSlide5.xml" Id="Rcb5e74db95e44eb5"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84abee97d72e4019" /><Relationship Type="http://schemas.openxmlformats.org/officeDocument/2006/relationships/notesSlide" Target="/ppt/notesSlides/notesSlide6.xml" Id="R9fc3d0871aab4b68"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0c298d8a3ccd433b" /><Relationship Type="http://schemas.openxmlformats.org/officeDocument/2006/relationships/notesSlide" Target="/ppt/notesSlides/notesSlide7.xml" Id="R7e1307337f8b4b4d" /></Relationships>
</file>

<file path=ppt/slides/slide1.xml><?xml version="1.0" encoding="utf-8"?>
<p:sld xmlns:p="http://schemas.openxmlformats.org/presentationml/2006/main">
  <p:cSld>
    <p:bg>
      <p:bgPr>
        <a:solidFill xmlns:a="http://schemas.openxmlformats.org/drawingml/2006/main">
          <a:srgbClr val="183D30"/>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EF6A3230-2FA9-41D9-A4D3-4A24C9C36F91}"/>
              </a:ext>
            </a:extLst>
          </p:cNvPr>
          <p:cNvSpPr>
            <a:spLocks xmlns:a="http://schemas.openxmlformats.org/drawingml/2006/main" noGrp="1"/>
          </p:cNvSpPr>
          <p:nvPr/>
        </p:nvSpPr>
        <p:spPr>
          <a:xfrm xmlns:a="http://schemas.openxmlformats.org/drawingml/2006/main">
            <a:off x="685800" y="619125"/>
            <a:ext cx="8096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850" b="1">
                <a:solidFill>
                  <a:srgbClr val="C2D7C7"/>
                </a:solidFill>
                <a:latin typeface="Helvetica Neue"/>
                <a:ea typeface="Helvetica Neue"/>
                <a:cs typeface="Helvetica Neue"/>
              </a:defRPr>
            </a:pPr>
            <a:r>
              <a:rPr sz="2850" b="1">
                <a:solidFill>
                  <a:srgbClr val="C2D7C7"/>
                </a:solidFill>
                <a:latin typeface="Helvetica Neue"/>
                <a:ea typeface="Helvetica Neue"/>
                <a:cs typeface="Helvetica Neue"/>
              </a:rPr>
              <a:t>AutoApps</a:t>
            </a:r>
          </a:p>
        </p:txBody>
      </p:sp>
      <p:sp>
        <p:nvSpPr>
          <p:cNvPr id="2" name="">
            <a:extLst xmlns:a="http://schemas.openxmlformats.org/drawingml/2006/main">
              <a:ext uri="{FF2B5EF4-FFF2-40B4-BE49-F238E27FC236}">
                <a16:creationId xmlns:a16="http://schemas.microsoft.com/office/drawing/2014/main" id="{92735057-B4CC-44EE-B534-94163E2D58ED}"/>
              </a:ext>
            </a:extLst>
          </p:cNvPr>
          <p:cNvSpPr>
            <a:spLocks xmlns:a="http://schemas.openxmlformats.org/drawingml/2006/main" noGrp="1"/>
          </p:cNvSpPr>
          <p:nvPr/>
        </p:nvSpPr>
        <p:spPr>
          <a:xfrm xmlns:a="http://schemas.openxmlformats.org/drawingml/2006/main">
            <a:off x="685800" y="1905000"/>
            <a:ext cx="10620375" cy="2114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6000" b="1">
                <a:solidFill>
                  <a:srgbClr val="F5F3EC"/>
                </a:solidFill>
                <a:latin typeface="Helvetica Neue"/>
                <a:ea typeface="Helvetica Neue"/>
                <a:cs typeface="Helvetica Neue"/>
              </a:defRPr>
            </a:pPr>
            <a:r>
              <a:rPr sz="6000" b="1">
                <a:solidFill>
                  <a:srgbClr val="F5F3EC"/>
                </a:solidFill>
                <a:latin typeface="Helvetica Neue"/>
                <a:ea typeface="Helvetica Neue"/>
                <a:cs typeface="Helvetica Neue"/>
              </a:rPr>
              <a:t>Lovable for the enterprise</a:t>
            </a:r>
          </a:p>
        </p:txBody>
      </p:sp>
      <p:sp>
        <p:nvSpPr>
          <p:cNvPr id="3" name="">
            <a:extLst xmlns:a="http://schemas.openxmlformats.org/drawingml/2006/main">
              <a:ext uri="{FF2B5EF4-FFF2-40B4-BE49-F238E27FC236}">
                <a16:creationId xmlns:a16="http://schemas.microsoft.com/office/drawing/2014/main" id="{10D89FB5-67EB-4970-A638-54883CB0D5BF}"/>
              </a:ext>
            </a:extLst>
          </p:cNvPr>
          <p:cNvSpPr>
            <a:spLocks xmlns:a="http://schemas.openxmlformats.org/drawingml/2006/main" noGrp="1"/>
          </p:cNvSpPr>
          <p:nvPr/>
        </p:nvSpPr>
        <p:spPr>
          <a:xfrm xmlns:a="http://schemas.openxmlformats.org/drawingml/2006/main">
            <a:off x="723900" y="4324350"/>
            <a:ext cx="10191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400" b="1">
                <a:solidFill>
                  <a:srgbClr val="F5F3EC"/>
                </a:solidFill>
                <a:latin typeface="Helvetica Neue"/>
                <a:ea typeface="Helvetica Neue"/>
                <a:cs typeface="Helvetica Neue"/>
              </a:defRPr>
            </a:pPr>
            <a:r>
              <a:rPr sz="2400" b="1">
                <a:solidFill>
                  <a:srgbClr val="F5F3EC"/>
                </a:solidFill>
                <a:latin typeface="Helvetica Neue"/>
                <a:ea typeface="Helvetica Neue"/>
                <a:cs typeface="Helvetica Neue"/>
              </a:rPr>
              <a:t>AutoApps reads your business context to suggest</a:t>
            </a:r>
          </a:p>
          <a:p xmlns:a="http://schemas.openxmlformats.org/drawingml/2006/main">
            <a:pPr>
              <a:buNone/>
              <a:defRPr sz="2400" b="1">
                <a:solidFill>
                  <a:srgbClr val="F5F3EC"/>
                </a:solidFill>
                <a:latin typeface="Helvetica Neue"/>
                <a:ea typeface="Helvetica Neue"/>
                <a:cs typeface="Helvetica Neue"/>
              </a:defRPr>
            </a:pPr>
            <a:r>
              <a:rPr sz="2400" b="1">
                <a:solidFill>
                  <a:srgbClr val="F5F3EC"/>
                </a:solidFill>
                <a:latin typeface="Helvetica Neue"/>
                <a:ea typeface="Helvetica Neue"/>
                <a:cs typeface="Helvetica Neue"/>
              </a:rPr>
              <a:t>and generate useful apps. Starting with Google Sheets.</a:t>
            </a:r>
          </a:p>
        </p:txBody>
      </p:sp>
      <p:sp>
        <p:nvSpPr>
          <p:cNvPr id="4" name="">
            <a:extLst xmlns:a="http://schemas.openxmlformats.org/drawingml/2006/main">
              <a:ext uri="{FF2B5EF4-FFF2-40B4-BE49-F238E27FC236}">
                <a16:creationId xmlns:a16="http://schemas.microsoft.com/office/drawing/2014/main" id="{BF4A7BE8-7144-47B5-BBCC-4906AE0C3AC4}"/>
              </a:ext>
            </a:extLst>
          </p:cNvPr>
          <p:cNvSpPr>
            <a:spLocks xmlns:a="http://schemas.openxmlformats.org/drawingml/2006/main" noGrp="1"/>
          </p:cNvSpPr>
          <p:nvPr/>
        </p:nvSpPr>
        <p:spPr>
          <a:xfrm xmlns:a="http://schemas.openxmlformats.org/drawingml/2006/main">
            <a:off x="723900" y="5905500"/>
            <a:ext cx="10001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575" b="0">
                <a:solidFill>
                  <a:srgbClr val="C2D7C7"/>
                </a:solidFill>
                <a:latin typeface="Helvetica Neue"/>
                <a:ea typeface="Helvetica Neue"/>
                <a:cs typeface="Helvetica Neue"/>
              </a:defRPr>
            </a:pPr>
            <a:r>
              <a:rPr sz="1575" b="0">
                <a:solidFill>
                  <a:srgbClr val="C2D7C7"/>
                </a:solidFill>
                <a:latin typeface="Helvetica Neue"/>
                <a:ea typeface="Helvetica Neue"/>
                <a:cs typeface="Helvetica Neue"/>
              </a:rPr>
              <a:t>Amos Haviv</a:t>
            </a:r>
          </a:p>
          <a:p xmlns:a="http://schemas.openxmlformats.org/drawingml/2006/main">
            <a:pPr>
              <a:buNone/>
              <a:defRPr sz="1575" b="0">
                <a:solidFill>
                  <a:srgbClr val="C2D7C7"/>
                </a:solidFill>
                <a:latin typeface="Helvetica Neue"/>
                <a:ea typeface="Helvetica Neue"/>
                <a:cs typeface="Helvetica Neue"/>
              </a:defRPr>
            </a:pPr>
            <a:r>
              <a:rPr sz="1575" b="0">
                <a:solidFill>
                  <a:srgbClr val="C2D7C7"/>
                </a:solidFill>
                <a:latin typeface="Helvetica Neue"/>
                <a:ea typeface="Helvetica Neue"/>
                <a:cs typeface="Helvetica Neue"/>
              </a:rPr>
              <a:t>Hackathon prototype, September 2026</a:t>
            </a:r>
          </a:p>
        </p:txBody>
      </p:sp>
    </p:spTree>
    <p:extLst>
      <p:ext uri="{BB962C8B-B14F-4D97-AF65-F5344CB8AC3E}">
        <p14:creationId xmlns:p14="http://schemas.microsoft.com/office/powerpoint/2010/main" val="1710217382"/>
      </p:ext>
    </p:extLst>
  </p:cSld>
</p:sld>
</file>

<file path=ppt/slides/slide2.xml><?xml version="1.0" encoding="utf-8"?>
<p:sld xmlns:p="http://schemas.openxmlformats.org/presentationml/2006/main">
  <p:cSld>
    <p:bg>
      <p:bgPr>
        <a:solidFill xmlns:a="http://schemas.openxmlformats.org/drawingml/2006/main">
          <a:srgbClr val="F5F3EC"/>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3FDCEA72-9B84-493A-813B-5B6E576DE902}"/>
              </a:ext>
            </a:extLst>
          </p:cNvPr>
          <p:cNvSpPr>
            <a:spLocks xmlns:a="http://schemas.openxmlformats.org/drawingml/2006/main" noGrp="1"/>
          </p:cNvSpPr>
          <p:nvPr/>
        </p:nvSpPr>
        <p:spPr>
          <a:xfrm xmlns:a="http://schemas.openxmlformats.org/drawingml/2006/main">
            <a:off x="685800" y="495300"/>
            <a:ext cx="108204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450" b="1">
                <a:solidFill>
                  <a:srgbClr val="183D30"/>
                </a:solidFill>
                <a:latin typeface="Helvetica Neue"/>
                <a:ea typeface="Helvetica Neue"/>
                <a:cs typeface="Helvetica Neue"/>
              </a:defRPr>
            </a:pPr>
            <a:r>
              <a:rPr sz="3450" b="1">
                <a:solidFill>
                  <a:srgbClr val="183D30"/>
                </a:solidFill>
                <a:latin typeface="Helvetica Neue"/>
                <a:ea typeface="Helvetica Neue"/>
                <a:cs typeface="Helvetica Neue"/>
              </a:rPr>
              <a:t>Every budget cycle repeats the same work</a:t>
            </a:r>
          </a:p>
        </p:txBody>
      </p:sp>
      <p:sp>
        <p:nvSpPr>
          <p:cNvPr id="2" name="">
            <a:extLst xmlns:a="http://schemas.openxmlformats.org/drawingml/2006/main">
              <a:ext uri="{FF2B5EF4-FFF2-40B4-BE49-F238E27FC236}">
                <a16:creationId xmlns:a16="http://schemas.microsoft.com/office/drawing/2014/main" id="{F040D04A-4145-4993-8BE7-974FB133D781}"/>
              </a:ext>
            </a:extLst>
          </p:cNvPr>
          <p:cNvSpPr>
            <a:spLocks xmlns:a="http://schemas.openxmlformats.org/drawingml/2006/main" noGrp="1"/>
          </p:cNvSpPr>
          <p:nvPr/>
        </p:nvSpPr>
        <p:spPr>
          <a:xfrm xmlns:a="http://schemas.openxmlformats.org/drawingml/2006/main">
            <a:off x="685800" y="1866900"/>
            <a:ext cx="5238750" cy="2333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375" b="1">
                <a:solidFill>
                  <a:srgbClr val="276A50"/>
                </a:solidFill>
                <a:latin typeface="Helvetica Neue"/>
                <a:ea typeface="Helvetica Neue"/>
                <a:cs typeface="Helvetica Neue"/>
              </a:defRPr>
            </a:pPr>
            <a:r>
              <a:rPr sz="3375" b="1">
                <a:solidFill>
                  <a:srgbClr val="276A50"/>
                </a:solidFill>
                <a:latin typeface="Helvetica Neue"/>
                <a:ea typeface="Helvetica Neue"/>
                <a:cs typeface="Helvetica Neue"/>
              </a:rPr>
              <a:t>Chase inputs.</a:t>
            </a:r>
          </a:p>
          <a:p xmlns:a="http://schemas.openxmlformats.org/drawingml/2006/main">
            <a:pPr>
              <a:buNone/>
              <a:defRPr sz="3375" b="1">
                <a:solidFill>
                  <a:srgbClr val="276A50"/>
                </a:solidFill>
                <a:latin typeface="Helvetica Neue"/>
                <a:ea typeface="Helvetica Neue"/>
                <a:cs typeface="Helvetica Neue"/>
              </a:defRPr>
            </a:pPr>
            <a:r>
              <a:rPr sz="3375" b="1">
                <a:solidFill>
                  <a:srgbClr val="276A50"/>
                </a:solidFill>
                <a:latin typeface="Helvetica Neue"/>
                <a:ea typeface="Helvetica Neue"/>
                <a:cs typeface="Helvetica Neue"/>
              </a:rPr>
              <a:t>Coordinate edits.</a:t>
            </a:r>
          </a:p>
          <a:p xmlns:a="http://schemas.openxmlformats.org/drawingml/2006/main">
            <a:pPr>
              <a:buNone/>
              <a:defRPr sz="3375" b="1">
                <a:solidFill>
                  <a:srgbClr val="276A50"/>
                </a:solidFill>
                <a:latin typeface="Helvetica Neue"/>
                <a:ea typeface="Helvetica Neue"/>
                <a:cs typeface="Helvetica Neue"/>
              </a:defRPr>
            </a:pPr>
            <a:r>
              <a:rPr sz="3375" b="1">
                <a:solidFill>
                  <a:srgbClr val="276A50"/>
                </a:solidFill>
                <a:latin typeface="Helvetica Neue"/>
                <a:ea typeface="Helvetica Neue"/>
                <a:cs typeface="Helvetica Neue"/>
              </a:rPr>
              <a:t>Reconcile replies.</a:t>
            </a:r>
          </a:p>
        </p:txBody>
      </p:sp>
      <p:sp>
        <p:nvSpPr>
          <p:cNvPr id="3" name="">
            <a:extLst xmlns:a="http://schemas.openxmlformats.org/drawingml/2006/main">
              <a:ext uri="{FF2B5EF4-FFF2-40B4-BE49-F238E27FC236}">
                <a16:creationId xmlns:a16="http://schemas.microsoft.com/office/drawing/2014/main" id="{6C37555F-2462-4CFD-8F22-1A8C3D85FFD1}"/>
              </a:ext>
            </a:extLst>
          </p:cNvPr>
          <p:cNvSpPr>
            <a:spLocks xmlns:a="http://schemas.openxmlformats.org/drawingml/2006/main" noGrp="1"/>
          </p:cNvSpPr>
          <p:nvPr/>
        </p:nvSpPr>
        <p:spPr>
          <a:xfrm xmlns:a="http://schemas.openxmlformats.org/drawingml/2006/main">
            <a:off x="6705600" y="1924050"/>
            <a:ext cx="4810125"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400" b="1">
                <a:solidFill>
                  <a:srgbClr val="183D30"/>
                </a:solidFill>
                <a:latin typeface="Helvetica Neue"/>
                <a:ea typeface="Helvetica Neue"/>
                <a:cs typeface="Helvetica Neue"/>
              </a:defRPr>
            </a:pPr>
            <a:r>
              <a:rPr sz="2400" b="1">
                <a:solidFill>
                  <a:srgbClr val="183D30"/>
                </a:solidFill>
                <a:latin typeface="Helvetica Neue"/>
                <a:ea typeface="Helvetica Neue"/>
                <a:cs typeface="Helvetica Neue"/>
              </a:rPr>
              <a:t>AutoApps reads the sheet</a:t>
            </a:r>
          </a:p>
          <a:p xmlns:a="http://schemas.openxmlformats.org/drawingml/2006/main">
            <a:pPr>
              <a:buNone/>
              <a:defRPr sz="2400" b="1">
                <a:solidFill>
                  <a:srgbClr val="183D30"/>
                </a:solidFill>
                <a:latin typeface="Helvetica Neue"/>
                <a:ea typeface="Helvetica Neue"/>
                <a:cs typeface="Helvetica Neue"/>
              </a:defRPr>
            </a:pPr>
            <a:r>
              <a:rPr sz="2400" b="1">
                <a:solidFill>
                  <a:srgbClr val="183D30"/>
                </a:solidFill>
                <a:latin typeface="Helvetica Neue"/>
                <a:ea typeface="Helvetica Neue"/>
                <a:cs typeface="Helvetica Neue"/>
              </a:rPr>
              <a:t>and proposes useful apps.</a:t>
            </a:r>
          </a:p>
        </p:txBody>
      </p:sp>
      <p:sp>
        <p:nvSpPr>
          <p:cNvPr id="4" name="">
            <a:extLst xmlns:a="http://schemas.openxmlformats.org/drawingml/2006/main">
              <a:ext uri="{FF2B5EF4-FFF2-40B4-BE49-F238E27FC236}">
                <a16:creationId xmlns:a16="http://schemas.microsoft.com/office/drawing/2014/main" id="{2D01D14E-094F-4BBE-BE9B-D9C4756C04A6}"/>
              </a:ext>
            </a:extLst>
          </p:cNvPr>
          <p:cNvSpPr>
            <a:spLocks xmlns:a="http://schemas.openxmlformats.org/drawingml/2006/main" noGrp="1"/>
          </p:cNvSpPr>
          <p:nvPr/>
        </p:nvSpPr>
        <p:spPr>
          <a:xfrm xmlns:a="http://schemas.openxmlformats.org/drawingml/2006/main">
            <a:off x="6705600" y="3333750"/>
            <a:ext cx="4810125" cy="152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00" b="0">
                <a:solidFill>
                  <a:srgbClr val="53675B"/>
                </a:solidFill>
                <a:latin typeface="Helvetica Neue"/>
                <a:ea typeface="Helvetica Neue"/>
                <a:cs typeface="Helvetica Neue"/>
              </a:defRPr>
            </a:pPr>
            <a:r>
              <a:rPr sz="2100" b="0">
                <a:solidFill>
                  <a:srgbClr val="53675B"/>
                </a:solidFill>
                <a:latin typeface="Helvetica Neue"/>
                <a:ea typeface="Helvetica Neue"/>
                <a:cs typeface="Helvetica Neue"/>
              </a:rPr>
              <a:t>Columns, sample values and</a:t>
            </a:r>
          </a:p>
          <a:p xmlns:a="http://schemas.openxmlformats.org/drawingml/2006/main">
            <a:pPr>
              <a:buNone/>
              <a:defRPr sz="2100" b="0">
                <a:solidFill>
                  <a:srgbClr val="53675B"/>
                </a:solidFill>
                <a:latin typeface="Helvetica Neue"/>
                <a:ea typeface="Helvetica Neue"/>
                <a:cs typeface="Helvetica Neue"/>
              </a:defRPr>
            </a:pPr>
            <a:r>
              <a:rPr sz="2100" b="0">
                <a:solidFill>
                  <a:srgbClr val="53675B"/>
                </a:solidFill>
                <a:latin typeface="Helvetica Neue"/>
                <a:ea typeface="Helvetica Neue"/>
                <a:cs typeface="Helvetica Neue"/>
              </a:rPr>
              <a:t>missing inputs supply the context.</a:t>
            </a:r>
          </a:p>
          <a:p xmlns:a="http://schemas.openxmlformats.org/drawingml/2006/main">
            <a:pPr>
              <a:buNone/>
              <a:defRPr sz="2100" b="0">
                <a:solidFill>
                  <a:srgbClr val="53675B"/>
                </a:solidFill>
                <a:latin typeface="Helvetica Neue"/>
                <a:ea typeface="Helvetica Neue"/>
                <a:cs typeface="Helvetica Neue"/>
              </a:defRPr>
            </a:pPr>
            <a:r>
              <a:rPr sz="2100" b="0">
                <a:solidFill>
                  <a:srgbClr val="53675B"/>
                </a:solidFill>
                <a:latin typeface="Helvetica Neue"/>
                <a:ea typeface="Helvetica Neue"/>
                <a:cs typeface="Helvetica Neue"/>
              </a:rPr>
              <a:t>Choose an idea. We generate it.</a:t>
            </a:r>
          </a:p>
        </p:txBody>
      </p:sp>
      <p:sp>
        <p:nvSpPr>
          <p:cNvPr id="5" name="">
            <a:extLst xmlns:a="http://schemas.openxmlformats.org/drawingml/2006/main">
              <a:ext uri="{FF2B5EF4-FFF2-40B4-BE49-F238E27FC236}">
                <a16:creationId xmlns:a16="http://schemas.microsoft.com/office/drawing/2014/main" id="{7DBB4728-B4BA-49E3-BB33-0A8DFFAA2CFC}"/>
              </a:ext>
            </a:extLst>
          </p:cNvPr>
          <p:cNvSpPr>
            <a:spLocks xmlns:a="http://schemas.openxmlformats.org/drawingml/2006/main" noGrp="1"/>
          </p:cNvSpPr>
          <p:nvPr/>
        </p:nvSpPr>
        <p:spPr>
          <a:xfrm xmlns:a="http://schemas.openxmlformats.org/drawingml/2006/main">
            <a:off x="685800" y="5591175"/>
            <a:ext cx="1083945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400" b="1">
                <a:solidFill>
                  <a:srgbClr val="183D30"/>
                </a:solidFill>
                <a:latin typeface="Helvetica Neue"/>
                <a:ea typeface="Helvetica Neue"/>
                <a:cs typeface="Helvetica Neue"/>
              </a:defRPr>
            </a:pPr>
            <a:r>
              <a:rPr sz="2400" b="1">
                <a:solidFill>
                  <a:srgbClr val="183D30"/>
                </a:solidFill>
                <a:latin typeface="Helvetica Neue"/>
                <a:ea typeface="Helvetica Neue"/>
                <a:cs typeface="Helvetica Neue"/>
              </a:rPr>
              <a:t>Colleagues use a focused app. The sheet stays current.</a:t>
            </a:r>
          </a:p>
        </p:txBody>
      </p:sp>
      <p:sp>
        <p:nvSpPr>
          <p:cNvPr id="7" name="">
            <a:extLst xmlns:a="http://schemas.openxmlformats.org/drawingml/2006/main">
              <a:ext uri="{FF2B5EF4-FFF2-40B4-BE49-F238E27FC236}">
                <a16:creationId xmlns:a16="http://schemas.microsoft.com/office/drawing/2014/main" id="{1975F4D7-74F6-4771-A863-E013C6CBF4E5}"/>
              </a:ext>
            </a:extLst>
          </p:cNvPr>
          <p:cNvSpPr>
            <a:spLocks xmlns:a="http://schemas.openxmlformats.org/drawingml/2006/main" noGrp="1"/>
          </p:cNvSpPr>
          <p:nvPr/>
        </p:nvSpPr>
        <p:spPr>
          <a:xfrm xmlns:a="http://schemas.openxmlformats.org/drawingml/2006/main">
            <a:off x="723900" y="4381500"/>
            <a:ext cx="5238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a:solidFill>
                  <a:srgbClr val="53675B"/>
                </a:solidFill>
                <a:latin typeface="Helvetica Neue"/>
                <a:ea typeface="Helvetica Neue"/>
                <a:cs typeface="Helvetica Neue"/>
              </a:defRPr>
            </a:pPr>
            <a:r>
              <a:rPr sz="1875">
                <a:solidFill>
                  <a:srgbClr val="53675B"/>
                </a:solidFill>
                <a:latin typeface="Helvetica Neue"/>
                <a:ea typeface="Helvetica Neue"/>
                <a:cs typeface="Helvetica Neue"/>
              </a:rPr>
              <a:t>For the Finance or Ops workflow owner</a:t>
            </a:r>
          </a:p>
        </p:txBody>
      </p:sp>
    </p:spTree>
    <p:extLst>
      <p:ext uri="{BB962C8B-B14F-4D97-AF65-F5344CB8AC3E}">
        <p14:creationId xmlns:p14="http://schemas.microsoft.com/office/powerpoint/2010/main" val="393684333"/>
      </p:ext>
    </p:extLst>
  </p:cSld>
</p:sld>
</file>

<file path=ppt/slides/slide3.xml><?xml version="1.0" encoding="utf-8"?>
<p:sld xmlns:p="http://schemas.openxmlformats.org/presentationml/2006/main">
  <p:cSld>
    <p:bg>
      <p:bgPr>
        <a:solidFill xmlns:a="http://schemas.openxmlformats.org/drawingml/2006/main">
          <a:srgbClr val="F5F3EC"/>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B5D1C082-419C-448E-A906-3E120BD59AB7}"/>
              </a:ext>
            </a:extLst>
          </p:cNvPr>
          <p:cNvSpPr>
            <a:spLocks xmlns:a="http://schemas.openxmlformats.org/drawingml/2006/main" noGrp="1"/>
          </p:cNvSpPr>
          <p:nvPr/>
        </p:nvSpPr>
        <p:spPr>
          <a:xfrm xmlns:a="http://schemas.openxmlformats.org/drawingml/2006/main">
            <a:off x="685800" y="495300"/>
            <a:ext cx="108204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600" b="1">
                <a:solidFill>
                  <a:srgbClr val="183D30"/>
                </a:solidFill>
                <a:latin typeface="Helvetica Neue"/>
                <a:ea typeface="Helvetica Neue"/>
                <a:cs typeface="Helvetica Neue"/>
              </a:defRPr>
            </a:pPr>
            <a:r>
              <a:rPr sz="3600" b="1">
                <a:solidFill>
                  <a:srgbClr val="183D30"/>
                </a:solidFill>
                <a:latin typeface="Helvetica Neue"/>
                <a:ea typeface="Helvetica Neue"/>
                <a:cs typeface="Helvetica Neue"/>
              </a:rPr>
              <a:t>Live demo: sheet to generated app</a:t>
            </a:r>
          </a:p>
        </p:txBody>
      </p:sp>
      <p:sp>
        <p:nvSpPr>
          <p:cNvPr id="2" name="">
            <a:extLst xmlns:a="http://schemas.openxmlformats.org/drawingml/2006/main">
              <a:ext uri="{FF2B5EF4-FFF2-40B4-BE49-F238E27FC236}">
                <a16:creationId xmlns:a16="http://schemas.microsoft.com/office/drawing/2014/main" id="{F61C4183-9544-49CE-A839-C064061A7AF1}"/>
              </a:ext>
            </a:extLst>
          </p:cNvPr>
          <p:cNvSpPr>
            <a:spLocks xmlns:a="http://schemas.openxmlformats.org/drawingml/2006/main" noGrp="1"/>
          </p:cNvSpPr>
          <p:nvPr/>
        </p:nvSpPr>
        <p:spPr>
          <a:xfrm xmlns:a="http://schemas.openxmlformats.org/drawingml/2006/main">
            <a:off x="723900" y="1352550"/>
            <a:ext cx="10668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75" b="0">
                <a:solidFill>
                  <a:srgbClr val="53675B"/>
                </a:solidFill>
                <a:latin typeface="Helvetica Neue"/>
                <a:ea typeface="Helvetica Neue"/>
                <a:cs typeface="Helvetica Neue"/>
              </a:defRPr>
            </a:pPr>
            <a:r>
              <a:rPr sz="2175" b="0">
                <a:solidFill>
                  <a:srgbClr val="53675B"/>
                </a:solidFill>
                <a:latin typeface="Helvetica Neue"/>
                <a:ea typeface="Helvetica Neue"/>
                <a:cs typeface="Helvetica Neue"/>
              </a:rPr>
              <a:t>A budget owner submits an update. The source cell changes.</a:t>
            </a:r>
          </a:p>
        </p:txBody>
      </p:sp>
      <p:sp>
        <p:nvSpPr>
          <p:cNvPr id="3" name="">
            <a:extLst xmlns:a="http://schemas.openxmlformats.org/drawingml/2006/main">
              <a:ext uri="{FF2B5EF4-FFF2-40B4-BE49-F238E27FC236}">
                <a16:creationId xmlns:a16="http://schemas.microsoft.com/office/drawing/2014/main" id="{8C876819-C4B3-4454-A62F-151A44E5595C}"/>
              </a:ext>
            </a:extLst>
          </p:cNvPr>
          <p:cNvSpPr>
            <a:spLocks xmlns:a="http://schemas.openxmlformats.org/drawingml/2006/main" noGrp="1"/>
          </p:cNvSpPr>
          <p:nvPr/>
        </p:nvSpPr>
        <p:spPr>
          <a:xfrm xmlns:a="http://schemas.openxmlformats.org/drawingml/2006/main">
            <a:off x="723900" y="2133600"/>
            <a:ext cx="90487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625" b="1">
                <a:solidFill>
                  <a:srgbClr val="276A50"/>
                </a:solidFill>
                <a:latin typeface="Helvetica Neue"/>
                <a:ea typeface="Helvetica Neue"/>
                <a:cs typeface="Helvetica Neue"/>
              </a:defRPr>
            </a:pPr>
            <a:r>
              <a:rPr sz="2625" b="1">
                <a:solidFill>
                  <a:srgbClr val="276A50"/>
                </a:solidFill>
                <a:latin typeface="Helvetica Neue"/>
                <a:ea typeface="Helvetica Neue"/>
                <a:cs typeface="Helvetica Neue"/>
              </a:rPr>
              <a:t>01</a:t>
            </a:r>
          </a:p>
        </p:txBody>
      </p:sp>
      <p:sp>
        <p:nvSpPr>
          <p:cNvPr id="4" name="">
            <a:extLst xmlns:a="http://schemas.openxmlformats.org/drawingml/2006/main">
              <a:ext uri="{FF2B5EF4-FFF2-40B4-BE49-F238E27FC236}">
                <a16:creationId xmlns:a16="http://schemas.microsoft.com/office/drawing/2014/main" id="{C23C4B21-33F8-4CB0-B23D-26B90CB8E053}"/>
              </a:ext>
            </a:extLst>
          </p:cNvPr>
          <p:cNvSpPr>
            <a:spLocks xmlns:a="http://schemas.openxmlformats.org/drawingml/2006/main" noGrp="1"/>
          </p:cNvSpPr>
          <p:nvPr/>
        </p:nvSpPr>
        <p:spPr>
          <a:xfrm xmlns:a="http://schemas.openxmlformats.org/drawingml/2006/main">
            <a:off x="1800225" y="2133600"/>
            <a:ext cx="94869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625" b="0">
                <a:solidFill>
                  <a:srgbClr val="183D30"/>
                </a:solidFill>
                <a:latin typeface="Helvetica Neue"/>
                <a:ea typeface="Helvetica Neue"/>
                <a:cs typeface="Helvetica Neue"/>
              </a:defRPr>
            </a:pPr>
            <a:r>
              <a:rPr sz="2625" b="0">
                <a:solidFill>
                  <a:srgbClr val="183D30"/>
                </a:solidFill>
                <a:latin typeface="Helvetica Neue"/>
                <a:ea typeface="Helvetica Neue"/>
                <a:cs typeface="Helvetica Neue"/>
              </a:rPr>
              <a:t>Open the sheet and read its context</a:t>
            </a:r>
          </a:p>
        </p:txBody>
      </p:sp>
      <p:sp>
        <p:nvSpPr>
          <p:cNvPr id="5" name="">
            <a:extLst xmlns:a="http://schemas.openxmlformats.org/drawingml/2006/main">
              <a:ext uri="{FF2B5EF4-FFF2-40B4-BE49-F238E27FC236}">
                <a16:creationId xmlns:a16="http://schemas.microsoft.com/office/drawing/2014/main" id="{81DB43B1-B7BB-4A87-9AD2-FEE3A95CEC60}"/>
              </a:ext>
            </a:extLst>
          </p:cNvPr>
          <p:cNvSpPr>
            <a:spLocks xmlns:a="http://schemas.openxmlformats.org/drawingml/2006/main" noGrp="1"/>
          </p:cNvSpPr>
          <p:nvPr/>
        </p:nvSpPr>
        <p:spPr>
          <a:xfrm xmlns:a="http://schemas.openxmlformats.org/drawingml/2006/main">
            <a:off x="723900" y="2933700"/>
            <a:ext cx="90487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625" b="1">
                <a:solidFill>
                  <a:srgbClr val="276A50"/>
                </a:solidFill>
                <a:latin typeface="Helvetica Neue"/>
                <a:ea typeface="Helvetica Neue"/>
                <a:cs typeface="Helvetica Neue"/>
              </a:defRPr>
            </a:pPr>
            <a:r>
              <a:rPr sz="2625" b="1">
                <a:solidFill>
                  <a:srgbClr val="276A50"/>
                </a:solidFill>
                <a:latin typeface="Helvetica Neue"/>
                <a:ea typeface="Helvetica Neue"/>
                <a:cs typeface="Helvetica Neue"/>
              </a:rPr>
              <a:t>02</a:t>
            </a:r>
          </a:p>
        </p:txBody>
      </p:sp>
      <p:sp>
        <p:nvSpPr>
          <p:cNvPr id="6" name="">
            <a:extLst xmlns:a="http://schemas.openxmlformats.org/drawingml/2006/main">
              <a:ext uri="{FF2B5EF4-FFF2-40B4-BE49-F238E27FC236}">
                <a16:creationId xmlns:a16="http://schemas.microsoft.com/office/drawing/2014/main" id="{80572B7E-A22D-4F74-BAFF-5415E18536A3}"/>
              </a:ext>
            </a:extLst>
          </p:cNvPr>
          <p:cNvSpPr>
            <a:spLocks xmlns:a="http://schemas.openxmlformats.org/drawingml/2006/main" noGrp="1"/>
          </p:cNvSpPr>
          <p:nvPr/>
        </p:nvSpPr>
        <p:spPr>
          <a:xfrm xmlns:a="http://schemas.openxmlformats.org/drawingml/2006/main">
            <a:off x="1800225" y="2933700"/>
            <a:ext cx="94869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625" b="0">
                <a:solidFill>
                  <a:srgbClr val="183D30"/>
                </a:solidFill>
                <a:latin typeface="Helvetica Neue"/>
                <a:ea typeface="Helvetica Neue"/>
                <a:cs typeface="Helvetica Neue"/>
              </a:defRPr>
            </a:pPr>
            <a:r>
              <a:rPr sz="2625" b="0">
                <a:solidFill>
                  <a:srgbClr val="183D30"/>
                </a:solidFill>
                <a:latin typeface="Helvetica Neue"/>
                <a:ea typeface="Helvetica Neue"/>
                <a:cs typeface="Helvetica Neue"/>
              </a:rPr>
              <a:t>Choose one of the suggested apps</a:t>
            </a:r>
          </a:p>
        </p:txBody>
      </p:sp>
      <p:sp>
        <p:nvSpPr>
          <p:cNvPr id="7" name="">
            <a:extLst xmlns:a="http://schemas.openxmlformats.org/drawingml/2006/main">
              <a:ext uri="{FF2B5EF4-FFF2-40B4-BE49-F238E27FC236}">
                <a16:creationId xmlns:a16="http://schemas.microsoft.com/office/drawing/2014/main" id="{D47D2A3C-6C48-4457-842C-AA9F30C261C2}"/>
              </a:ext>
            </a:extLst>
          </p:cNvPr>
          <p:cNvSpPr>
            <a:spLocks xmlns:a="http://schemas.openxmlformats.org/drawingml/2006/main" noGrp="1"/>
          </p:cNvSpPr>
          <p:nvPr/>
        </p:nvSpPr>
        <p:spPr>
          <a:xfrm xmlns:a="http://schemas.openxmlformats.org/drawingml/2006/main">
            <a:off x="723900" y="3733800"/>
            <a:ext cx="90487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625" b="1">
                <a:solidFill>
                  <a:srgbClr val="276A50"/>
                </a:solidFill>
                <a:latin typeface="Helvetica Neue"/>
                <a:ea typeface="Helvetica Neue"/>
                <a:cs typeface="Helvetica Neue"/>
              </a:defRPr>
            </a:pPr>
            <a:r>
              <a:rPr sz="2625" b="1">
                <a:solidFill>
                  <a:srgbClr val="276A50"/>
                </a:solidFill>
                <a:latin typeface="Helvetica Neue"/>
                <a:ea typeface="Helvetica Neue"/>
                <a:cs typeface="Helvetica Neue"/>
              </a:rPr>
              <a:t>03</a:t>
            </a:r>
          </a:p>
        </p:txBody>
      </p:sp>
      <p:sp>
        <p:nvSpPr>
          <p:cNvPr id="8" name="">
            <a:extLst xmlns:a="http://schemas.openxmlformats.org/drawingml/2006/main">
              <a:ext uri="{FF2B5EF4-FFF2-40B4-BE49-F238E27FC236}">
                <a16:creationId xmlns:a16="http://schemas.microsoft.com/office/drawing/2014/main" id="{D9990EA1-8599-4AFA-A287-450C15ECA5B9}"/>
              </a:ext>
            </a:extLst>
          </p:cNvPr>
          <p:cNvSpPr>
            <a:spLocks xmlns:a="http://schemas.openxmlformats.org/drawingml/2006/main" noGrp="1"/>
          </p:cNvSpPr>
          <p:nvPr/>
        </p:nvSpPr>
        <p:spPr>
          <a:xfrm xmlns:a="http://schemas.openxmlformats.org/drawingml/2006/main">
            <a:off x="1800225" y="3733800"/>
            <a:ext cx="94869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625" b="0">
                <a:solidFill>
                  <a:srgbClr val="183D30"/>
                </a:solidFill>
                <a:latin typeface="Helvetica Neue"/>
                <a:ea typeface="Helvetica Neue"/>
                <a:cs typeface="Helvetica Neue"/>
              </a:defRPr>
            </a:pPr>
            <a:r>
              <a:rPr sz="2625" b="0">
                <a:solidFill>
                  <a:srgbClr val="183D30"/>
                </a:solidFill>
                <a:latin typeface="Helvetica Neue"/>
                <a:ea typeface="Helvetica Neue"/>
                <a:cs typeface="Helvetica Neue"/>
              </a:rPr>
              <a:t>Generate, preview and publish</a:t>
            </a:r>
          </a:p>
        </p:txBody>
      </p:sp>
      <p:sp>
        <p:nvSpPr>
          <p:cNvPr id="9" name="">
            <a:extLst xmlns:a="http://schemas.openxmlformats.org/drawingml/2006/main">
              <a:ext uri="{FF2B5EF4-FFF2-40B4-BE49-F238E27FC236}">
                <a16:creationId xmlns:a16="http://schemas.microsoft.com/office/drawing/2014/main" id="{F6E34986-9400-46E4-BB51-8DE166D1D3E0}"/>
              </a:ext>
            </a:extLst>
          </p:cNvPr>
          <p:cNvSpPr>
            <a:spLocks xmlns:a="http://schemas.openxmlformats.org/drawingml/2006/main" noGrp="1"/>
          </p:cNvSpPr>
          <p:nvPr/>
        </p:nvSpPr>
        <p:spPr>
          <a:xfrm xmlns:a="http://schemas.openxmlformats.org/drawingml/2006/main">
            <a:off x="723900" y="4533900"/>
            <a:ext cx="90487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625" b="1">
                <a:solidFill>
                  <a:srgbClr val="276A50"/>
                </a:solidFill>
                <a:latin typeface="Helvetica Neue"/>
                <a:ea typeface="Helvetica Neue"/>
                <a:cs typeface="Helvetica Neue"/>
              </a:defRPr>
            </a:pPr>
            <a:r>
              <a:rPr sz="2625" b="1">
                <a:solidFill>
                  <a:srgbClr val="276A50"/>
                </a:solidFill>
                <a:latin typeface="Helvetica Neue"/>
                <a:ea typeface="Helvetica Neue"/>
                <a:cs typeface="Helvetica Neue"/>
              </a:rPr>
              <a:t>04</a:t>
            </a:r>
          </a:p>
        </p:txBody>
      </p:sp>
      <p:sp>
        <p:nvSpPr>
          <p:cNvPr id="10" name="">
            <a:extLst xmlns:a="http://schemas.openxmlformats.org/drawingml/2006/main">
              <a:ext uri="{FF2B5EF4-FFF2-40B4-BE49-F238E27FC236}">
                <a16:creationId xmlns:a16="http://schemas.microsoft.com/office/drawing/2014/main" id="{82F6DCAB-99FC-49E7-8E08-7DF2F45731E9}"/>
              </a:ext>
            </a:extLst>
          </p:cNvPr>
          <p:cNvSpPr>
            <a:spLocks xmlns:a="http://schemas.openxmlformats.org/drawingml/2006/main" noGrp="1"/>
          </p:cNvSpPr>
          <p:nvPr/>
        </p:nvSpPr>
        <p:spPr>
          <a:xfrm xmlns:a="http://schemas.openxmlformats.org/drawingml/2006/main">
            <a:off x="1800225" y="4533900"/>
            <a:ext cx="94869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625" b="1">
                <a:solidFill>
                  <a:srgbClr val="183D30"/>
                </a:solidFill>
                <a:latin typeface="Helvetica Neue"/>
                <a:ea typeface="Helvetica Neue"/>
                <a:cs typeface="Helvetica Neue"/>
              </a:defRPr>
            </a:pPr>
            <a:r>
              <a:rPr sz="2625" b="1">
                <a:solidFill>
                  <a:srgbClr val="183D30"/>
                </a:solidFill>
                <a:latin typeface="Helvetica Neue"/>
                <a:ea typeface="Helvetica Neue"/>
                <a:cs typeface="Helvetica Neue"/>
              </a:rPr>
              <a:t>Save a colleague’s update to the sheet</a:t>
            </a:r>
          </a:p>
        </p:txBody>
      </p:sp>
      <p:sp>
        <p:nvSpPr>
          <p:cNvPr id="11" name="">
            <a:extLst xmlns:a="http://schemas.openxmlformats.org/drawingml/2006/main">
              <a:ext uri="{FF2B5EF4-FFF2-40B4-BE49-F238E27FC236}">
                <a16:creationId xmlns:a16="http://schemas.microsoft.com/office/drawing/2014/main" id="{0B05908E-0AA2-430F-AD3C-416E2861EB2A}"/>
              </a:ext>
            </a:extLst>
          </p:cNvPr>
          <p:cNvSpPr>
            <a:spLocks xmlns:a="http://schemas.openxmlformats.org/drawingml/2006/main" noGrp="1"/>
          </p:cNvSpPr>
          <p:nvPr/>
        </p:nvSpPr>
        <p:spPr>
          <a:xfrm xmlns:a="http://schemas.openxmlformats.org/drawingml/2006/main">
            <a:off x="723900" y="5934075"/>
            <a:ext cx="105727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75" b="0">
                <a:solidFill>
                  <a:srgbClr val="53675B"/>
                </a:solidFill>
                <a:latin typeface="Helvetica Neue"/>
                <a:ea typeface="Helvetica Neue"/>
                <a:cs typeface="Helvetica Neue"/>
              </a:defRPr>
            </a:pPr>
            <a:r>
              <a:rPr sz="1875" b="0">
                <a:solidFill>
                  <a:srgbClr val="53675B"/>
                </a:solidFill>
                <a:latin typeface="Helvetica Neue"/>
                <a:ea typeface="Helvetica Neue"/>
                <a:cs typeface="Helvetica Neue"/>
              </a:rPr>
              <a:t>75 seconds: inferred context, generated app, visible write-back</a:t>
            </a:r>
          </a:p>
        </p:txBody>
      </p:sp>
    </p:spTree>
    <p:extLst>
      <p:ext uri="{BB962C8B-B14F-4D97-AF65-F5344CB8AC3E}">
        <p14:creationId xmlns:p14="http://schemas.microsoft.com/office/powerpoint/2010/main" val="672322996"/>
      </p:ext>
    </p:extLst>
  </p:cSld>
</p:sld>
</file>

<file path=ppt/slides/slide4.xml><?xml version="1.0" encoding="utf-8"?>
<p:sld xmlns:p="http://schemas.openxmlformats.org/presentationml/2006/main">
  <p:cSld>
    <p:bg>
      <p:bgPr>
        <a:solidFill xmlns:a="http://schemas.openxmlformats.org/drawingml/2006/main">
          <a:srgbClr val="F5F3EC"/>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6C87990F-9434-4F91-AD92-1B616D4D4FAE}"/>
              </a:ext>
            </a:extLst>
          </p:cNvPr>
          <p:cNvSpPr>
            <a:spLocks xmlns:a="http://schemas.openxmlformats.org/drawingml/2006/main" noGrp="1"/>
          </p:cNvSpPr>
          <p:nvPr/>
        </p:nvSpPr>
        <p:spPr>
          <a:xfrm xmlns:a="http://schemas.openxmlformats.org/drawingml/2006/main">
            <a:off x="685800" y="495300"/>
            <a:ext cx="108204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450" b="1">
                <a:solidFill>
                  <a:srgbClr val="183D30"/>
                </a:solidFill>
                <a:latin typeface="Helvetica Neue"/>
                <a:ea typeface="Helvetica Neue"/>
                <a:cs typeface="Helvetica Neue"/>
              </a:defRPr>
            </a:pPr>
            <a:r>
              <a:rPr sz="3450" b="1">
                <a:solidFill>
                  <a:srgbClr val="183D30"/>
                </a:solidFill>
                <a:latin typeface="Helvetica Neue"/>
                <a:ea typeface="Helvetica Neue"/>
                <a:cs typeface="Helvetica Neue"/>
              </a:rPr>
              <a:t>Context, generation and a bounded runtime</a:t>
            </a:r>
          </a:p>
        </p:txBody>
      </p:sp>
      <p:sp>
        <p:nvSpPr>
          <p:cNvPr id="2" name="">
            <a:extLst xmlns:a="http://schemas.openxmlformats.org/drawingml/2006/main">
              <a:ext uri="{FF2B5EF4-FFF2-40B4-BE49-F238E27FC236}">
                <a16:creationId xmlns:a16="http://schemas.microsoft.com/office/drawing/2014/main" id="{E7FE9A00-9518-4D99-A969-F26763DA2317}"/>
              </a:ext>
            </a:extLst>
          </p:cNvPr>
          <p:cNvSpPr>
            <a:spLocks xmlns:a="http://schemas.openxmlformats.org/drawingml/2006/main" noGrp="1"/>
          </p:cNvSpPr>
          <p:nvPr/>
        </p:nvSpPr>
        <p:spPr>
          <a:xfrm xmlns:a="http://schemas.openxmlformats.org/drawingml/2006/main">
            <a:off x="723900" y="1362075"/>
            <a:ext cx="1062037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325" b="1">
                <a:solidFill>
                  <a:srgbClr val="276A50"/>
                </a:solidFill>
                <a:latin typeface="Helvetica Neue"/>
                <a:ea typeface="Helvetica Neue"/>
                <a:cs typeface="Helvetica Neue"/>
              </a:defRPr>
            </a:pPr>
            <a:r>
              <a:rPr sz="2325" b="1">
                <a:solidFill>
                  <a:srgbClr val="276A50"/>
                </a:solidFill>
                <a:latin typeface="Helvetica Neue"/>
                <a:ea typeface="Helvetica Neue"/>
                <a:cs typeface="Helvetica Neue"/>
              </a:rPr>
              <a:t>Nebius Token Factory serves both model roles</a:t>
            </a:r>
          </a:p>
        </p:txBody>
      </p:sp>
      <p:sp>
        <p:nvSpPr>
          <p:cNvPr id="3" name="">
            <a:extLst xmlns:a="http://schemas.openxmlformats.org/drawingml/2006/main">
              <a:ext uri="{FF2B5EF4-FFF2-40B4-BE49-F238E27FC236}">
                <a16:creationId xmlns:a16="http://schemas.microsoft.com/office/drawing/2014/main" id="{B83F4BF6-CF59-4066-A022-9E82F3B152AE}"/>
              </a:ext>
            </a:extLst>
          </p:cNvPr>
          <p:cNvSpPr>
            <a:spLocks xmlns:a="http://schemas.openxmlformats.org/drawingml/2006/main" noGrp="1"/>
          </p:cNvSpPr>
          <p:nvPr/>
        </p:nvSpPr>
        <p:spPr>
          <a:xfrm xmlns:a="http://schemas.openxmlformats.org/drawingml/2006/main">
            <a:off x="723900" y="2362200"/>
            <a:ext cx="5143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000" b="1">
                <a:solidFill>
                  <a:srgbClr val="276A50"/>
                </a:solidFill>
                <a:latin typeface="Helvetica Neue"/>
                <a:ea typeface="Helvetica Neue"/>
                <a:cs typeface="Helvetica Neue"/>
              </a:defRPr>
            </a:pPr>
            <a:r>
              <a:rPr sz="3000" b="1">
                <a:solidFill>
                  <a:srgbClr val="276A50"/>
                </a:solidFill>
                <a:latin typeface="Helvetica Neue"/>
                <a:ea typeface="Helvetica Neue"/>
                <a:cs typeface="Helvetica Neue"/>
              </a:rPr>
              <a:t>GLM-5.3-Flash</a:t>
            </a:r>
          </a:p>
        </p:txBody>
      </p:sp>
      <p:sp>
        <p:nvSpPr>
          <p:cNvPr id="4" name="">
            <a:extLst xmlns:a="http://schemas.openxmlformats.org/drawingml/2006/main">
              <a:ext uri="{FF2B5EF4-FFF2-40B4-BE49-F238E27FC236}">
                <a16:creationId xmlns:a16="http://schemas.microsoft.com/office/drawing/2014/main" id="{0A02BB65-0AEF-4CB4-9EE9-A9D94FF66D8A}"/>
              </a:ext>
            </a:extLst>
          </p:cNvPr>
          <p:cNvSpPr>
            <a:spLocks xmlns:a="http://schemas.openxmlformats.org/drawingml/2006/main" noGrp="1"/>
          </p:cNvSpPr>
          <p:nvPr/>
        </p:nvSpPr>
        <p:spPr>
          <a:xfrm xmlns:a="http://schemas.openxmlformats.org/drawingml/2006/main">
            <a:off x="723900" y="3086100"/>
            <a:ext cx="49530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75" b="0">
                <a:solidFill>
                  <a:srgbClr val="53675B"/>
                </a:solidFill>
                <a:latin typeface="Helvetica Neue"/>
                <a:ea typeface="Helvetica Neue"/>
                <a:cs typeface="Helvetica Neue"/>
              </a:defRPr>
            </a:pPr>
            <a:r>
              <a:rPr sz="1875" b="0">
                <a:solidFill>
                  <a:srgbClr val="53675B"/>
                </a:solidFill>
                <a:latin typeface="Helvetica Neue"/>
                <a:ea typeface="Helvetica Neue"/>
                <a:cs typeface="Helvetica Neue"/>
              </a:rPr>
              <a:t>Low reasoning effort</a:t>
            </a:r>
          </a:p>
        </p:txBody>
      </p:sp>
      <p:sp>
        <p:nvSpPr>
          <p:cNvPr id="5" name="">
            <a:extLst xmlns:a="http://schemas.openxmlformats.org/drawingml/2006/main">
              <a:ext uri="{FF2B5EF4-FFF2-40B4-BE49-F238E27FC236}">
                <a16:creationId xmlns:a16="http://schemas.microsoft.com/office/drawing/2014/main" id="{77AF96B0-F4E9-4080-ABAA-164FE0B255FA}"/>
              </a:ext>
            </a:extLst>
          </p:cNvPr>
          <p:cNvSpPr>
            <a:spLocks xmlns:a="http://schemas.openxmlformats.org/drawingml/2006/main" noGrp="1"/>
          </p:cNvSpPr>
          <p:nvPr/>
        </p:nvSpPr>
        <p:spPr>
          <a:xfrm xmlns:a="http://schemas.openxmlformats.org/drawingml/2006/main">
            <a:off x="723900" y="3724275"/>
            <a:ext cx="4953000" cy="1257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325" b="0">
                <a:solidFill>
                  <a:srgbClr val="183D30"/>
                </a:solidFill>
                <a:latin typeface="Helvetica Neue"/>
                <a:ea typeface="Helvetica Neue"/>
                <a:cs typeface="Helvetica Neue"/>
              </a:defRPr>
            </a:pPr>
            <a:r>
              <a:rPr sz="2325" b="0">
                <a:solidFill>
                  <a:srgbClr val="183D30"/>
                </a:solidFill>
                <a:latin typeface="Helvetica Neue"/>
                <a:ea typeface="Helvetica Neue"/>
                <a:cs typeface="Helvetica Neue"/>
              </a:rPr>
              <a:t>Suggest three workflows</a:t>
            </a:r>
          </a:p>
          <a:p xmlns:a="http://schemas.openxmlformats.org/drawingml/2006/main">
            <a:pPr>
              <a:buNone/>
              <a:defRPr sz="2325" b="0">
                <a:solidFill>
                  <a:srgbClr val="183D30"/>
                </a:solidFill>
                <a:latin typeface="Helvetica Neue"/>
                <a:ea typeface="Helvetica Neue"/>
                <a:cs typeface="Helvetica Neue"/>
              </a:defRPr>
            </a:pPr>
            <a:r>
              <a:rPr sz="2325" b="0">
                <a:solidFill>
                  <a:srgbClr val="183D30"/>
                </a:solidFill>
                <a:latin typeface="Helvetica Neue"/>
                <a:ea typeface="Helvetica Neue"/>
                <a:cs typeface="Helvetica Neue"/>
              </a:rPr>
              <a:t>from the sheet’s structure</a:t>
            </a:r>
          </a:p>
          <a:p xmlns:a="http://schemas.openxmlformats.org/drawingml/2006/main">
            <a:pPr>
              <a:buNone/>
              <a:defRPr sz="2325" b="0">
                <a:solidFill>
                  <a:srgbClr val="183D30"/>
                </a:solidFill>
                <a:latin typeface="Helvetica Neue"/>
                <a:ea typeface="Helvetica Neue"/>
                <a:cs typeface="Helvetica Neue"/>
              </a:defRPr>
            </a:pPr>
            <a:r>
              <a:rPr sz="2325" b="0">
                <a:solidFill>
                  <a:srgbClr val="183D30"/>
                </a:solidFill>
                <a:latin typeface="Helvetica Neue"/>
                <a:ea typeface="Helvetica Neue"/>
                <a:cs typeface="Helvetica Neue"/>
              </a:rPr>
              <a:t>and sample values.</a:t>
            </a:r>
          </a:p>
        </p:txBody>
      </p:sp>
      <p:sp>
        <p:nvSpPr>
          <p:cNvPr id="6" name="">
            <a:extLst xmlns:a="http://schemas.openxmlformats.org/drawingml/2006/main">
              <a:ext uri="{FF2B5EF4-FFF2-40B4-BE49-F238E27FC236}">
                <a16:creationId xmlns:a16="http://schemas.microsoft.com/office/drawing/2014/main" id="{9A150BE4-6E83-4BDE-A863-BA9C1AAB9CB1}"/>
              </a:ext>
            </a:extLst>
          </p:cNvPr>
          <p:cNvSpPr>
            <a:spLocks xmlns:a="http://schemas.openxmlformats.org/drawingml/2006/main" noGrp="1"/>
          </p:cNvSpPr>
          <p:nvPr/>
        </p:nvSpPr>
        <p:spPr>
          <a:xfrm xmlns:a="http://schemas.openxmlformats.org/drawingml/2006/main">
            <a:off x="6667500" y="2362200"/>
            <a:ext cx="4667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000" b="1">
                <a:solidFill>
                  <a:srgbClr val="276A50"/>
                </a:solidFill>
                <a:latin typeface="Helvetica Neue"/>
                <a:ea typeface="Helvetica Neue"/>
                <a:cs typeface="Helvetica Neue"/>
              </a:defRPr>
            </a:pPr>
            <a:r>
              <a:rPr sz="3000" b="1">
                <a:solidFill>
                  <a:srgbClr val="276A50"/>
                </a:solidFill>
                <a:latin typeface="Helvetica Neue"/>
                <a:ea typeface="Helvetica Neue"/>
                <a:cs typeface="Helvetica Neue"/>
              </a:rPr>
              <a:t>GLM-5.3</a:t>
            </a:r>
          </a:p>
        </p:txBody>
      </p:sp>
      <p:sp>
        <p:nvSpPr>
          <p:cNvPr id="7" name="">
            <a:extLst xmlns:a="http://schemas.openxmlformats.org/drawingml/2006/main">
              <a:ext uri="{FF2B5EF4-FFF2-40B4-BE49-F238E27FC236}">
                <a16:creationId xmlns:a16="http://schemas.microsoft.com/office/drawing/2014/main" id="{BEA29E14-B2FC-4D3D-AE3F-BEA632A123AD}"/>
              </a:ext>
            </a:extLst>
          </p:cNvPr>
          <p:cNvSpPr>
            <a:spLocks xmlns:a="http://schemas.openxmlformats.org/drawingml/2006/main" noGrp="1"/>
          </p:cNvSpPr>
          <p:nvPr/>
        </p:nvSpPr>
        <p:spPr>
          <a:xfrm xmlns:a="http://schemas.openxmlformats.org/drawingml/2006/main">
            <a:off x="6667500" y="3086100"/>
            <a:ext cx="46672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75" b="0">
                <a:solidFill>
                  <a:srgbClr val="53675B"/>
                </a:solidFill>
                <a:latin typeface="Helvetica Neue"/>
                <a:ea typeface="Helvetica Neue"/>
                <a:cs typeface="Helvetica Neue"/>
              </a:defRPr>
            </a:pPr>
            <a:r>
              <a:rPr sz="1875" b="0">
                <a:solidFill>
                  <a:srgbClr val="53675B"/>
                </a:solidFill>
                <a:latin typeface="Helvetica Neue"/>
                <a:ea typeface="Helvetica Neue"/>
                <a:cs typeface="Helvetica Neue"/>
              </a:rPr>
              <a:t>High reasoning effort</a:t>
            </a:r>
          </a:p>
        </p:txBody>
      </p:sp>
      <p:sp>
        <p:nvSpPr>
          <p:cNvPr id="8" name="">
            <a:extLst xmlns:a="http://schemas.openxmlformats.org/drawingml/2006/main">
              <a:ext uri="{FF2B5EF4-FFF2-40B4-BE49-F238E27FC236}">
                <a16:creationId xmlns:a16="http://schemas.microsoft.com/office/drawing/2014/main" id="{0B2AE0C7-F4DF-4BD5-A4B8-AB7B2EB23635}"/>
              </a:ext>
            </a:extLst>
          </p:cNvPr>
          <p:cNvSpPr>
            <a:spLocks xmlns:a="http://schemas.openxmlformats.org/drawingml/2006/main" noGrp="1"/>
          </p:cNvSpPr>
          <p:nvPr/>
        </p:nvSpPr>
        <p:spPr>
          <a:xfrm xmlns:a="http://schemas.openxmlformats.org/drawingml/2006/main">
            <a:off x="6667500" y="3724275"/>
            <a:ext cx="4667250" cy="1257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325" b="0">
                <a:solidFill>
                  <a:srgbClr val="183D30"/>
                </a:solidFill>
                <a:latin typeface="Helvetica Neue"/>
                <a:ea typeface="Helvetica Neue"/>
                <a:cs typeface="Helvetica Neue"/>
              </a:defRPr>
            </a:pPr>
            <a:r>
              <a:rPr sz="2325" b="0">
                <a:solidFill>
                  <a:srgbClr val="183D30"/>
                </a:solidFill>
                <a:latin typeface="Helvetica Neue"/>
                <a:ea typeface="Helvetica Neue"/>
                <a:cs typeface="Helvetica Neue"/>
              </a:rPr>
              <a:t>Generate and edit an app</a:t>
            </a:r>
          </a:p>
          <a:p xmlns:a="http://schemas.openxmlformats.org/drawingml/2006/main">
            <a:pPr>
              <a:buNone/>
              <a:defRPr sz="2325" b="0">
                <a:solidFill>
                  <a:srgbClr val="183D30"/>
                </a:solidFill>
                <a:latin typeface="Helvetica Neue"/>
                <a:ea typeface="Helvetica Neue"/>
                <a:cs typeface="Helvetica Neue"/>
              </a:defRPr>
            </a:pPr>
            <a:r>
              <a:rPr sz="2325" b="0">
                <a:solidFill>
                  <a:srgbClr val="183D30"/>
                </a:solidFill>
                <a:latin typeface="Helvetica Neue"/>
                <a:ea typeface="Helvetica Neue"/>
                <a:cs typeface="Helvetica Neue"/>
              </a:rPr>
              <a:t>specification that must pass</a:t>
            </a:r>
          </a:p>
          <a:p xmlns:a="http://schemas.openxmlformats.org/drawingml/2006/main">
            <a:pPr>
              <a:buNone/>
              <a:defRPr sz="2325" b="0">
                <a:solidFill>
                  <a:srgbClr val="183D30"/>
                </a:solidFill>
                <a:latin typeface="Helvetica Neue"/>
                <a:ea typeface="Helvetica Neue"/>
                <a:cs typeface="Helvetica Neue"/>
              </a:defRPr>
            </a:pPr>
            <a:r>
              <a:rPr sz="2325" b="0">
                <a:solidFill>
                  <a:srgbClr val="183D30"/>
                </a:solidFill>
                <a:latin typeface="Helvetica Neue"/>
                <a:ea typeface="Helvetica Neue"/>
                <a:cs typeface="Helvetica Neue"/>
              </a:rPr>
              <a:t>server validation.</a:t>
            </a:r>
          </a:p>
        </p:txBody>
      </p:sp>
      <p:sp>
        <p:nvSpPr>
          <p:cNvPr id="9" name="">
            <a:extLst xmlns:a="http://schemas.openxmlformats.org/drawingml/2006/main">
              <a:ext uri="{FF2B5EF4-FFF2-40B4-BE49-F238E27FC236}">
                <a16:creationId xmlns:a16="http://schemas.microsoft.com/office/drawing/2014/main" id="{E06374ED-54B4-467A-B2D3-699E5EC210F2}"/>
              </a:ext>
            </a:extLst>
          </p:cNvPr>
          <p:cNvSpPr>
            <a:spLocks xmlns:a="http://schemas.openxmlformats.org/drawingml/2006/main" noGrp="1"/>
          </p:cNvSpPr>
          <p:nvPr/>
        </p:nvSpPr>
        <p:spPr>
          <a:xfrm xmlns:a="http://schemas.openxmlformats.org/drawingml/2006/main">
            <a:off x="723900" y="5848350"/>
            <a:ext cx="107632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025" b="1">
                <a:solidFill>
                  <a:srgbClr val="53675B"/>
                </a:solidFill>
                <a:latin typeface="Helvetica Neue"/>
                <a:ea typeface="Helvetica Neue"/>
                <a:cs typeface="Helvetica Neue"/>
              </a:defRPr>
            </a:pPr>
            <a:r>
              <a:rPr sz="2025" b="1">
                <a:solidFill>
                  <a:srgbClr val="53675B"/>
                </a:solidFill>
                <a:latin typeface="Helvetica Neue"/>
                <a:ea typeface="Helvetica Neue"/>
                <a:cs typeface="Helvetica Neue"/>
              </a:rPr>
              <a:t>JSON + exact-column validation, one retry, four supported views.</a:t>
            </a:r>
          </a:p>
        </p:txBody>
      </p:sp>
    </p:spTree>
    <p:extLst>
      <p:ext uri="{BB962C8B-B14F-4D97-AF65-F5344CB8AC3E}">
        <p14:creationId xmlns:p14="http://schemas.microsoft.com/office/powerpoint/2010/main" val="2131009663"/>
      </p:ext>
    </p:extLst>
  </p:cSld>
</p:sld>
</file>

<file path=ppt/slides/slide5.xml><?xml version="1.0" encoding="utf-8"?>
<p:sld xmlns:p="http://schemas.openxmlformats.org/presentationml/2006/main">
  <p:cSld>
    <p:bg>
      <p:bgPr>
        <a:solidFill xmlns:a="http://schemas.openxmlformats.org/drawingml/2006/main">
          <a:srgbClr val="F5F3EC"/>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329925F8-34E2-4AF9-AFFC-6886F519AB1E}"/>
              </a:ext>
            </a:extLst>
          </p:cNvPr>
          <p:cNvSpPr>
            <a:spLocks xmlns:a="http://schemas.openxmlformats.org/drawingml/2006/main" noGrp="1"/>
          </p:cNvSpPr>
          <p:nvPr/>
        </p:nvSpPr>
        <p:spPr>
          <a:xfrm xmlns:a="http://schemas.openxmlformats.org/drawingml/2006/main">
            <a:off x="685800" y="495300"/>
            <a:ext cx="108204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450" b="1">
                <a:solidFill>
                  <a:srgbClr val="183D30"/>
                </a:solidFill>
                <a:latin typeface="Helvetica Neue"/>
                <a:ea typeface="Helvetica Neue"/>
                <a:cs typeface="Helvetica Neue"/>
              </a:defRPr>
            </a:pPr>
            <a:r>
              <a:rPr sz="3450" b="1">
                <a:solidFill>
                  <a:srgbClr val="183D30"/>
                </a:solidFill>
                <a:latin typeface="Helvetica Neue"/>
                <a:ea typeface="Helvetica Neue"/>
                <a:cs typeface="Helvetica Neue"/>
              </a:rPr>
              <a:t>Model advantage: latency versus task fit</a:t>
            </a:r>
          </a:p>
        </p:txBody>
      </p:sp>
      <p:sp>
        <p:nvSpPr>
          <p:cNvPr id="2" name="">
            <a:extLst xmlns:a="http://schemas.openxmlformats.org/drawingml/2006/main">
              <a:ext uri="{FF2B5EF4-FFF2-40B4-BE49-F238E27FC236}">
                <a16:creationId xmlns:a16="http://schemas.microsoft.com/office/drawing/2014/main" id="{255320BF-5A93-4B97-85FA-4E5B4CEA2B9D}"/>
              </a:ext>
            </a:extLst>
          </p:cNvPr>
          <p:cNvSpPr>
            <a:spLocks xmlns:a="http://schemas.openxmlformats.org/drawingml/2006/main" noGrp="1"/>
          </p:cNvSpPr>
          <p:nvPr/>
        </p:nvSpPr>
        <p:spPr>
          <a:xfrm xmlns:a="http://schemas.openxmlformats.org/drawingml/2006/main">
            <a:off x="723900" y="1333500"/>
            <a:ext cx="10763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00" b="1">
                <a:solidFill>
                  <a:srgbClr val="276A50"/>
                </a:solidFill>
                <a:latin typeface="Helvetica Neue"/>
                <a:ea typeface="Helvetica Neue"/>
                <a:cs typeface="Helvetica Neue"/>
              </a:defRPr>
            </a:pPr>
            <a:r>
              <a:rPr sz="2100" b="1">
                <a:solidFill>
                  <a:srgbClr val="276A50"/>
                </a:solidFill>
                <a:latin typeface="Helvetica Neue"/>
                <a:ea typeface="Helvetica Neue"/>
                <a:cs typeface="Helvetica Neue"/>
              </a:rPr>
              <a:t>Baseline: GLM-5.3-Flash. Same five tasks and high effort.</a:t>
            </a:r>
          </a:p>
        </p:txBody>
      </p:sp>
      <p:graphicFrame>
        <p:nvGraphicFramePr>
          <p:cNvPr id="9" name=""/>
          <p:cNvGraphicFramePr/>
          <p:nvPr/>
        </p:nvGraphicFramePr>
        <p:xfrm>
          <a:off xmlns:a="http://schemas.openxmlformats.org/drawingml/2006/main" x="723900" y="2124075"/>
          <a:ext xmlns:a="http://schemas.openxmlformats.org/drawingml/2006/main" cx="10744200" cy="2914650"/>
        </p:xfrm>
        <a:graphic xmlns:a="http://schemas.openxmlformats.org/drawingml/2006/main">
          <a:graphicData uri="http://schemas.openxmlformats.org/drawingml/2006/table">
            <a:tbl>
              <a:tblPr firstRow="0" bandRow="0"/>
              <a:tblGrid>
                <a:gridCol w="5238750"/>
                <a:gridCol w="5505450"/>
              </a:tblGrid>
              <a:tr h="485775">
                <a:tc>
                  <a:txBody>
                    <a:bodyPr>
                      <a:noAutofit/>
                    </a:bodyPr>
                    <a:lstStyle/>
                    <a:p>
                      <a:r>
                        <a:rPr sz="2025" b="1">
                          <a:solidFill>
                            <a:srgbClr val="F5F3EC"/>
                          </a:solidFill>
                          <a:latin typeface="Helvetica Neue"/>
                          <a:ea typeface="Helvetica Neue"/>
                          <a:cs typeface="Helvetica Neue"/>
                        </a:rPr>
                        <a:t>GLM-5.3</a:t>
                      </a:r>
                    </a:p>
                  </a:txBody>
                  <a:tcPr marL="91440" marR="91440" marT="45720" marB="45720">
                    <a:solidFill>
                      <a:srgbClr val="183D30"/>
                    </a:solidFill>
                  </a:tcPr>
                </a:tc>
                <a:tc>
                  <a:txBody>
                    <a:bodyPr>
                      <a:noAutofit/>
                    </a:bodyPr>
                    <a:lstStyle/>
                    <a:p>
                      <a:r>
                        <a:rPr sz="2025" b="1">
                          <a:solidFill>
                            <a:srgbClr val="F5F3EC"/>
                          </a:solidFill>
                          <a:latin typeface="Helvetica Neue"/>
                          <a:ea typeface="Helvetica Neue"/>
                          <a:cs typeface="Helvetica Neue"/>
                        </a:rPr>
                        <a:t>GLM-5.3-Flash</a:t>
                      </a:r>
                    </a:p>
                  </a:txBody>
                  <a:tcPr marL="91440" marR="91440" marT="45720" marB="45720">
                    <a:solidFill>
                      <a:srgbClr val="183D30"/>
                    </a:solidFill>
                  </a:tcPr>
                </a:tc>
              </a:tr>
              <a:tr h="485775">
                <a:tc>
                  <a:txBody>
                    <a:bodyPr>
                      <a:noAutofit/>
                    </a:bodyPr>
                    <a:lstStyle/>
                    <a:p>
                      <a:r>
                        <a:rPr sz="2025" b="0">
                          <a:solidFill>
                            <a:srgbClr val="183D30"/>
                          </a:solidFill>
                          <a:latin typeface="Helvetica Neue"/>
                          <a:ea typeface="Helvetica Neue"/>
                          <a:cs typeface="Helvetica Neue"/>
                        </a:rPr>
                        <a:t>Schema checks: 5/5</a:t>
                      </a:r>
                    </a:p>
                  </a:txBody>
                  <a:tcPr marL="91440" marR="91440" marT="45720" marB="45720">
                    <a:solidFill>
                      <a:srgbClr val="F5F3EC"/>
                    </a:solidFill>
                  </a:tcPr>
                </a:tc>
                <a:tc>
                  <a:txBody>
                    <a:bodyPr>
                      <a:noAutofit/>
                    </a:bodyPr>
                    <a:lstStyle/>
                    <a:p>
                      <a:r>
                        <a:rPr sz="2025" b="0">
                          <a:solidFill>
                            <a:srgbClr val="183D30"/>
                          </a:solidFill>
                          <a:latin typeface="Helvetica Neue"/>
                          <a:ea typeface="Helvetica Neue"/>
                          <a:cs typeface="Helvetica Neue"/>
                        </a:rPr>
                        <a:t>Schema checks: 5/5</a:t>
                      </a:r>
                    </a:p>
                  </a:txBody>
                  <a:tcPr marL="91440" marR="91440" marT="45720" marB="45720">
                    <a:solidFill>
                      <a:srgbClr val="F5F3EC"/>
                    </a:solidFill>
                  </a:tcPr>
                </a:tc>
              </a:tr>
              <a:tr h="485775">
                <a:tc>
                  <a:txBody>
                    <a:bodyPr>
                      <a:noAutofit/>
                    </a:bodyPr>
                    <a:lstStyle/>
                    <a:p>
                      <a:r>
                        <a:rPr sz="2025" b="1">
                          <a:solidFill>
                            <a:srgbClr val="183D30"/>
                          </a:solidFill>
                          <a:latin typeface="Helvetica Neue"/>
                          <a:ea typeface="Helvetica Neue"/>
                          <a:cs typeface="Helvetica Neue"/>
                        </a:rPr>
                        <a:t>Task checklist: 3/5</a:t>
                      </a:r>
                    </a:p>
                  </a:txBody>
                  <a:tcPr marL="91440" marR="91440" marT="45720" marB="45720">
                    <a:solidFill>
                      <a:srgbClr val="F5F3EC"/>
                    </a:solidFill>
                  </a:tcPr>
                </a:tc>
                <a:tc>
                  <a:txBody>
                    <a:bodyPr>
                      <a:noAutofit/>
                    </a:bodyPr>
                    <a:lstStyle/>
                    <a:p>
                      <a:r>
                        <a:rPr sz="2025" b="1">
                          <a:solidFill>
                            <a:srgbClr val="183D30"/>
                          </a:solidFill>
                          <a:latin typeface="Helvetica Neue"/>
                          <a:ea typeface="Helvetica Neue"/>
                          <a:cs typeface="Helvetica Neue"/>
                        </a:rPr>
                        <a:t>Task checklist: 4/5</a:t>
                      </a:r>
                    </a:p>
                  </a:txBody>
                  <a:tcPr marL="91440" marR="91440" marT="45720" marB="45720">
                    <a:solidFill>
                      <a:srgbClr val="F5F3EC"/>
                    </a:solidFill>
                  </a:tcPr>
                </a:tc>
              </a:tr>
              <a:tr h="485775">
                <a:tc>
                  <a:txBody>
                    <a:bodyPr>
                      <a:noAutofit/>
                    </a:bodyPr>
                    <a:lstStyle/>
                    <a:p>
                      <a:r>
                        <a:rPr sz="2025" b="0">
                          <a:solidFill>
                            <a:srgbClr val="183D30"/>
                          </a:solidFill>
                          <a:latin typeface="Helvetica Neue"/>
                          <a:ea typeface="Helvetica Neue"/>
                          <a:cs typeface="Helvetica Neue"/>
                        </a:rPr>
                        <a:t>Median: 4.64 seconds</a:t>
                      </a:r>
                    </a:p>
                  </a:txBody>
                  <a:tcPr marL="91440" marR="91440" marT="45720" marB="45720">
                    <a:solidFill>
                      <a:srgbClr val="F5F3EC"/>
                    </a:solidFill>
                  </a:tcPr>
                </a:tc>
                <a:tc>
                  <a:txBody>
                    <a:bodyPr>
                      <a:noAutofit/>
                    </a:bodyPr>
                    <a:lstStyle/>
                    <a:p>
                      <a:r>
                        <a:rPr sz="2025" b="0">
                          <a:solidFill>
                            <a:srgbClr val="183D30"/>
                          </a:solidFill>
                          <a:latin typeface="Helvetica Neue"/>
                          <a:ea typeface="Helvetica Neue"/>
                          <a:cs typeface="Helvetica Neue"/>
                        </a:rPr>
                        <a:t>Median: 5.35 seconds</a:t>
                      </a:r>
                    </a:p>
                  </a:txBody>
                  <a:tcPr marL="91440" marR="91440" marT="45720" marB="45720">
                    <a:solidFill>
                      <a:srgbClr val="F5F3EC"/>
                    </a:solidFill>
                  </a:tcPr>
                </a:tc>
              </a:tr>
              <a:tr h="485775">
                <a:tc>
                  <a:txBody>
                    <a:bodyPr>
                      <a:noAutofit/>
                    </a:bodyPr>
                    <a:lstStyle/>
                    <a:p>
                      <a:r>
                        <a:rPr sz="2025" b="0">
                          <a:solidFill>
                            <a:srgbClr val="183D30"/>
                          </a:solidFill>
                          <a:latin typeface="Helvetica Neue"/>
                          <a:ea typeface="Helvetica Neue"/>
                          <a:cs typeface="Helvetica Neue"/>
                        </a:rPr>
                        <a:t>Range: 3.67–6.31 seconds</a:t>
                      </a:r>
                    </a:p>
                  </a:txBody>
                  <a:tcPr marL="91440" marR="91440" marT="45720" marB="45720">
                    <a:solidFill>
                      <a:srgbClr val="F5F3EC"/>
                    </a:solidFill>
                  </a:tcPr>
                </a:tc>
                <a:tc>
                  <a:txBody>
                    <a:bodyPr>
                      <a:noAutofit/>
                    </a:bodyPr>
                    <a:lstStyle/>
                    <a:p>
                      <a:r>
                        <a:rPr sz="2025" b="0">
                          <a:solidFill>
                            <a:srgbClr val="183D30"/>
                          </a:solidFill>
                          <a:latin typeface="Helvetica Neue"/>
                          <a:ea typeface="Helvetica Neue"/>
                          <a:cs typeface="Helvetica Neue"/>
                        </a:rPr>
                        <a:t>Range: 3.33–7.23 seconds</a:t>
                      </a:r>
                    </a:p>
                  </a:txBody>
                  <a:tcPr marL="91440" marR="91440" marT="45720" marB="45720">
                    <a:solidFill>
                      <a:srgbClr val="F5F3EC"/>
                    </a:solidFill>
                  </a:tcPr>
                </a:tc>
              </a:tr>
              <a:tr h="485775">
                <a:tc>
                  <a:txBody>
                    <a:bodyPr>
                      <a:noAutofit/>
                    </a:bodyPr>
                    <a:lstStyle/>
                    <a:p>
                      <a:r>
                        <a:rPr sz="2025" b="0">
                          <a:solidFill>
                            <a:srgbClr val="183D30"/>
                          </a:solidFill>
                          <a:latin typeface="Helvetica Neue"/>
                          <a:ea typeface="Helvetica Neue"/>
                          <a:cs typeface="Helvetica Neue"/>
                        </a:rPr>
                        <a:t>5 requests at high effort</a:t>
                      </a:r>
                    </a:p>
                  </a:txBody>
                  <a:tcPr marL="91440" marR="91440" marT="45720" marB="45720">
                    <a:solidFill>
                      <a:srgbClr val="F5F3EC"/>
                    </a:solidFill>
                  </a:tcPr>
                </a:tc>
                <a:tc>
                  <a:txBody>
                    <a:bodyPr>
                      <a:noAutofit/>
                    </a:bodyPr>
                    <a:lstStyle/>
                    <a:p>
                      <a:r>
                        <a:rPr sz="2025" b="0">
                          <a:solidFill>
                            <a:srgbClr val="183D30"/>
                          </a:solidFill>
                          <a:latin typeface="Helvetica Neue"/>
                          <a:ea typeface="Helvetica Neue"/>
                          <a:cs typeface="Helvetica Neue"/>
                        </a:rPr>
                        <a:t>5 requests at high effort</a:t>
                      </a:r>
                    </a:p>
                  </a:txBody>
                  <a:tcPr marL="91440" marR="91440" marT="45720" marB="45720">
                    <a:solidFill>
                      <a:srgbClr val="F5F3EC"/>
                    </a:solidFill>
                  </a:tcPr>
                </a:tc>
              </a:tr>
            </a:tbl>
          </a:graphicData>
        </a:graphic>
      </p:graphicFrame>
      <p:sp>
        <p:nvSpPr>
          <p:cNvPr id="4" name="">
            <a:extLst xmlns:a="http://schemas.openxmlformats.org/drawingml/2006/main">
              <a:ext uri="{FF2B5EF4-FFF2-40B4-BE49-F238E27FC236}">
                <a16:creationId xmlns:a16="http://schemas.microsoft.com/office/drawing/2014/main" id="{85CDBD33-754E-4E69-840A-304F3D3A5EFE}"/>
              </a:ext>
            </a:extLst>
          </p:cNvPr>
          <p:cNvSpPr>
            <a:spLocks xmlns:a="http://schemas.openxmlformats.org/drawingml/2006/main" noGrp="1"/>
          </p:cNvSpPr>
          <p:nvPr/>
        </p:nvSpPr>
        <p:spPr>
          <a:xfrm xmlns:a="http://schemas.openxmlformats.org/drawingml/2006/main">
            <a:off x="723900" y="5429250"/>
            <a:ext cx="107442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75" b="0">
                <a:solidFill>
                  <a:srgbClr val="53675B"/>
                </a:solidFill>
                <a:latin typeface="Helvetica Neue"/>
                <a:ea typeface="Helvetica Neue"/>
                <a:cs typeface="Helvetica Neue"/>
              </a:defRPr>
            </a:pPr>
            <a:r>
              <a:rPr sz="1875" b="0">
                <a:solidFill>
                  <a:srgbClr val="53675B"/>
                </a:solidFill>
                <a:latin typeface="Helvetica Neue"/>
                <a:ea typeface="Helvetica Neue"/>
                <a:cs typeface="Helvetica Neue"/>
              </a:rPr>
              <a:t>GLM-5.3: 13% lower median latency. Flash: one more task passed.</a:t>
            </a:r>
          </a:p>
          <a:p xmlns:a="http://schemas.openxmlformats.org/drawingml/2006/main">
            <a:pPr>
              <a:buNone/>
              <a:defRPr sz="1875" b="0">
                <a:solidFill>
                  <a:srgbClr val="53675B"/>
                </a:solidFill>
                <a:latin typeface="Helvetica Neue"/>
                <a:ea typeface="Helvetica Neue"/>
                <a:cs typeface="Helvetica Neue"/>
              </a:defRPr>
            </a:pPr>
            <a:r>
              <a:rPr sz="1875" b="0">
                <a:solidFill>
                  <a:srgbClr val="53675B"/>
                </a:solidFill>
                <a:latin typeface="Helvetica Neue"/>
                <a:ea typeface="Helvetica Neue"/>
                <a:cs typeface="Helvetica Neue"/>
              </a:rPr>
              <a:t>Pilot: one request per task and model. Static specification review.</a:t>
            </a:r>
          </a:p>
        </p:txBody>
      </p:sp>
    </p:spTree>
    <p:extLst>
      <p:ext uri="{BB962C8B-B14F-4D97-AF65-F5344CB8AC3E}">
        <p14:creationId xmlns:p14="http://schemas.microsoft.com/office/powerpoint/2010/main" val="1134148648"/>
      </p:ext>
    </p:extLst>
  </p:cSld>
</p:sld>
</file>

<file path=ppt/slides/slide6.xml><?xml version="1.0" encoding="utf-8"?>
<p:sld xmlns:p="http://schemas.openxmlformats.org/presentationml/2006/main">
  <p:cSld>
    <p:bg>
      <p:bgPr>
        <a:solidFill xmlns:a="http://schemas.openxmlformats.org/drawingml/2006/main">
          <a:srgbClr val="F5F3EC"/>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EA586A82-DC83-49EB-81E4-F8E122DA2A0B}"/>
              </a:ext>
            </a:extLst>
          </p:cNvPr>
          <p:cNvSpPr>
            <a:spLocks xmlns:a="http://schemas.openxmlformats.org/drawingml/2006/main" noGrp="1"/>
          </p:cNvSpPr>
          <p:nvPr/>
        </p:nvSpPr>
        <p:spPr>
          <a:xfrm xmlns:a="http://schemas.openxmlformats.org/drawingml/2006/main">
            <a:off x="685800" y="495300"/>
            <a:ext cx="108204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600" b="1">
                <a:solidFill>
                  <a:srgbClr val="183D30"/>
                </a:solidFill>
                <a:latin typeface="Helvetica Neue"/>
                <a:ea typeface="Helvetica Neue"/>
                <a:cs typeface="Helvetica Neue"/>
              </a:defRPr>
            </a:pPr>
            <a:r>
              <a:rPr sz="3600" b="1">
                <a:solidFill>
                  <a:srgbClr val="183D30"/>
                </a:solidFill>
                <a:latin typeface="Helvetica Neue"/>
                <a:ea typeface="Helvetica Neue"/>
                <a:cs typeface="Helvetica Neue"/>
              </a:rPr>
              <a:t>Responsible design</a:t>
            </a:r>
          </a:p>
        </p:txBody>
      </p:sp>
      <p:sp>
        <p:nvSpPr>
          <p:cNvPr id="2" name="">
            <a:extLst xmlns:a="http://schemas.openxmlformats.org/drawingml/2006/main">
              <a:ext uri="{FF2B5EF4-FFF2-40B4-BE49-F238E27FC236}">
                <a16:creationId xmlns:a16="http://schemas.microsoft.com/office/drawing/2014/main" id="{C0EB436F-AF46-4FD7-9836-CE342AE0DF66}"/>
              </a:ext>
            </a:extLst>
          </p:cNvPr>
          <p:cNvSpPr>
            <a:spLocks xmlns:a="http://schemas.openxmlformats.org/drawingml/2006/main" noGrp="1"/>
          </p:cNvSpPr>
          <p:nvPr/>
        </p:nvSpPr>
        <p:spPr>
          <a:xfrm xmlns:a="http://schemas.openxmlformats.org/drawingml/2006/main">
            <a:off x="723900" y="2000250"/>
            <a:ext cx="4953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625" b="1">
                <a:solidFill>
                  <a:srgbClr val="276A50"/>
                </a:solidFill>
                <a:latin typeface="Helvetica Neue"/>
                <a:ea typeface="Helvetica Neue"/>
                <a:cs typeface="Helvetica Neue"/>
              </a:defRPr>
            </a:pPr>
            <a:r>
              <a:rPr sz="2625" b="1">
                <a:solidFill>
                  <a:srgbClr val="276A50"/>
                </a:solidFill>
                <a:latin typeface="Helvetica Neue"/>
                <a:ea typeface="Helvetica Neue"/>
                <a:cs typeface="Helvetica Neue"/>
              </a:rPr>
              <a:t>Bounded generation</a:t>
            </a:r>
          </a:p>
        </p:txBody>
      </p:sp>
      <p:sp>
        <p:nvSpPr>
          <p:cNvPr id="3" name="">
            <a:extLst xmlns:a="http://schemas.openxmlformats.org/drawingml/2006/main">
              <a:ext uri="{FF2B5EF4-FFF2-40B4-BE49-F238E27FC236}">
                <a16:creationId xmlns:a16="http://schemas.microsoft.com/office/drawing/2014/main" id="{8A807267-D48C-416B-9CFF-D3D75A9E5E3B}"/>
              </a:ext>
            </a:extLst>
          </p:cNvPr>
          <p:cNvSpPr>
            <a:spLocks xmlns:a="http://schemas.openxmlformats.org/drawingml/2006/main" noGrp="1"/>
          </p:cNvSpPr>
          <p:nvPr/>
        </p:nvSpPr>
        <p:spPr>
          <a:xfrm xmlns:a="http://schemas.openxmlformats.org/drawingml/2006/main">
            <a:off x="723900" y="2819400"/>
            <a:ext cx="5000625" cy="1981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75" b="0">
                <a:solidFill>
                  <a:srgbClr val="183D30"/>
                </a:solidFill>
                <a:latin typeface="Helvetica Neue"/>
                <a:ea typeface="Helvetica Neue"/>
                <a:cs typeface="Helvetica Neue"/>
              </a:defRPr>
            </a:pPr>
            <a:r>
              <a:rPr sz="2175" b="0">
                <a:solidFill>
                  <a:srgbClr val="183D30"/>
                </a:solidFill>
                <a:latin typeface="Helvetica Neue"/>
                <a:ea typeface="Helvetica Neue"/>
                <a:cs typeface="Helvetica Neue"/>
              </a:rPr>
              <a:t>Validate JSON against</a:t>
            </a:r>
          </a:p>
          <a:p xmlns:a="http://schemas.openxmlformats.org/drawingml/2006/main">
            <a:pPr>
              <a:buNone/>
              <a:defRPr sz="2175" b="0">
                <a:solidFill>
                  <a:srgbClr val="183D30"/>
                </a:solidFill>
                <a:latin typeface="Helvetica Neue"/>
                <a:ea typeface="Helvetica Neue"/>
                <a:cs typeface="Helvetica Neue"/>
              </a:defRPr>
            </a:pPr>
            <a:r>
              <a:rPr sz="2175" b="0">
                <a:solidFill>
                  <a:srgbClr val="183D30"/>
                </a:solidFill>
                <a:latin typeface="Helvetica Neue"/>
                <a:ea typeface="Helvetica Neue"/>
                <a:cs typeface="Helvetica Neue"/>
              </a:rPr>
              <a:t>the sheet’s actual columns.</a:t>
            </a:r>
          </a:p>
          <a:p xmlns:a="http://schemas.openxmlformats.org/drawingml/2006/main">
            <a:r>
              <a:t/>
            </a:r>
          </a:p>
          <a:p xmlns:a="http://schemas.openxmlformats.org/drawingml/2006/main">
            <a:pPr>
              <a:buNone/>
              <a:defRPr sz="2175" b="0">
                <a:solidFill>
                  <a:srgbClr val="183D30"/>
                </a:solidFill>
                <a:latin typeface="Helvetica Neue"/>
                <a:ea typeface="Helvetica Neue"/>
                <a:cs typeface="Helvetica Neue"/>
              </a:defRPr>
            </a:pPr>
            <a:r>
              <a:rPr sz="2175" b="0">
                <a:solidFill>
                  <a:srgbClr val="183D30"/>
                </a:solidFill>
                <a:latin typeface="Helvetica Neue"/>
                <a:ea typeface="Helvetica Neue"/>
                <a:cs typeface="Helvetica Neue"/>
              </a:rPr>
              <a:t>Enforce the app’s row</a:t>
            </a:r>
          </a:p>
          <a:p xmlns:a="http://schemas.openxmlformats.org/drawingml/2006/main">
            <a:pPr>
              <a:buNone/>
              <a:defRPr sz="2175" b="0">
                <a:solidFill>
                  <a:srgbClr val="183D30"/>
                </a:solidFill>
                <a:latin typeface="Helvetica Neue"/>
                <a:ea typeface="Helvetica Neue"/>
                <a:cs typeface="Helvetica Neue"/>
              </a:defRPr>
            </a:pPr>
            <a:r>
              <a:rPr sz="2175" b="0">
                <a:solidFill>
                  <a:srgbClr val="183D30"/>
                </a:solidFill>
                <a:latin typeface="Helvetica Neue"/>
                <a:ea typeface="Helvetica Neue"/>
                <a:cs typeface="Helvetica Neue"/>
              </a:rPr>
              <a:t>and editable-field rules.</a:t>
            </a:r>
          </a:p>
        </p:txBody>
      </p:sp>
      <p:sp>
        <p:nvSpPr>
          <p:cNvPr id="4" name="">
            <a:extLst xmlns:a="http://schemas.openxmlformats.org/drawingml/2006/main">
              <a:ext uri="{FF2B5EF4-FFF2-40B4-BE49-F238E27FC236}">
                <a16:creationId xmlns:a16="http://schemas.microsoft.com/office/drawing/2014/main" id="{00B78F60-94FF-4359-B7C2-F3E31B04C092}"/>
              </a:ext>
            </a:extLst>
          </p:cNvPr>
          <p:cNvSpPr>
            <a:spLocks xmlns:a="http://schemas.openxmlformats.org/drawingml/2006/main" noGrp="1"/>
          </p:cNvSpPr>
          <p:nvPr/>
        </p:nvSpPr>
        <p:spPr>
          <a:xfrm xmlns:a="http://schemas.openxmlformats.org/drawingml/2006/main">
            <a:off x="6667500" y="2000250"/>
            <a:ext cx="47625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400" b="1">
                <a:solidFill>
                  <a:srgbClr val="276A50"/>
                </a:solidFill>
                <a:latin typeface="Helvetica Neue"/>
                <a:ea typeface="Helvetica Neue"/>
                <a:cs typeface="Helvetica Neue"/>
              </a:defRPr>
            </a:pPr>
            <a:r>
              <a:rPr sz="2400" b="1">
                <a:solidFill>
                  <a:srgbClr val="276A50"/>
                </a:solidFill>
                <a:latin typeface="Helvetica Neue"/>
                <a:ea typeface="Helvetica Neue"/>
                <a:cs typeface="Helvetica Neue"/>
              </a:rPr>
              <a:t>Clear data handling</a:t>
            </a:r>
          </a:p>
        </p:txBody>
      </p:sp>
      <p:sp>
        <p:nvSpPr>
          <p:cNvPr id="5" name="">
            <a:extLst xmlns:a="http://schemas.openxmlformats.org/drawingml/2006/main">
              <a:ext uri="{FF2B5EF4-FFF2-40B4-BE49-F238E27FC236}">
                <a16:creationId xmlns:a16="http://schemas.microsoft.com/office/drawing/2014/main" id="{0F85DC31-F6A5-4FC5-85AA-EBECC4971DC2}"/>
              </a:ext>
            </a:extLst>
          </p:cNvPr>
          <p:cNvSpPr>
            <a:spLocks xmlns:a="http://schemas.openxmlformats.org/drawingml/2006/main" noGrp="1"/>
          </p:cNvSpPr>
          <p:nvPr/>
        </p:nvSpPr>
        <p:spPr>
          <a:xfrm xmlns:a="http://schemas.openxmlformats.org/drawingml/2006/main">
            <a:off x="6667500" y="2819400"/>
            <a:ext cx="4810125" cy="1981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00" b="0">
                <a:solidFill>
                  <a:srgbClr val="183D30"/>
                </a:solidFill>
                <a:latin typeface="Helvetica Neue"/>
                <a:ea typeface="Helvetica Neue"/>
                <a:cs typeface="Helvetica Neue"/>
              </a:defRPr>
            </a:pPr>
            <a:r>
              <a:rPr sz="2100" b="0">
                <a:solidFill>
                  <a:srgbClr val="183D30"/>
                </a:solidFill>
                <a:latin typeface="Helvetica Neue"/>
                <a:ea typeface="Helvetica Neue"/>
                <a:cs typeface="Helvetica Neue"/>
              </a:rPr>
              <a:t>Backend: identity, OAuth tokens</a:t>
            </a:r>
          </a:p>
          <a:p xmlns:a="http://schemas.openxmlformats.org/drawingml/2006/main">
            <a:pPr>
              <a:buNone/>
              <a:defRPr sz="2100" b="0">
                <a:solidFill>
                  <a:srgbClr val="183D30"/>
                </a:solidFill>
                <a:latin typeface="Helvetica Neue"/>
                <a:ea typeface="Helvetica Neue"/>
                <a:cs typeface="Helvetica Neue"/>
              </a:defRPr>
            </a:pPr>
            <a:r>
              <a:rPr sz="2100" b="0">
                <a:solidFill>
                  <a:srgbClr val="183D30"/>
                </a:solidFill>
                <a:latin typeface="Helvetica Neue"/>
                <a:ea typeface="Helvetica Neue"/>
                <a:cs typeface="Helvetica Neue"/>
              </a:rPr>
              <a:t>and cached sheet samples.</a:t>
            </a:r>
          </a:p>
          <a:p xmlns:a="http://schemas.openxmlformats.org/drawingml/2006/main">
            <a:r>
              <a:t/>
            </a:r>
          </a:p>
          <a:p xmlns:a="http://schemas.openxmlformats.org/drawingml/2006/main">
            <a:pPr>
              <a:buNone/>
              <a:defRPr sz="2100" b="0">
                <a:solidFill>
                  <a:srgbClr val="183D30"/>
                </a:solidFill>
                <a:latin typeface="Helvetica Neue"/>
                <a:ea typeface="Helvetica Neue"/>
                <a:cs typeface="Helvetica Neue"/>
              </a:defRPr>
            </a:pPr>
            <a:r>
              <a:rPr sz="2100" b="0">
                <a:solidFill>
                  <a:srgbClr val="183D30"/>
                </a:solidFill>
                <a:latin typeface="Helvetica Neue"/>
                <a:ea typeface="Helvetica Neue"/>
                <a:cs typeface="Helvetica Neue"/>
              </a:rPr>
              <a:t>Nebius: schema, sample values</a:t>
            </a:r>
          </a:p>
          <a:p xmlns:a="http://schemas.openxmlformats.org/drawingml/2006/main">
            <a:pPr>
              <a:buNone/>
              <a:defRPr sz="2100" b="0">
                <a:solidFill>
                  <a:srgbClr val="183D30"/>
                </a:solidFill>
                <a:latin typeface="Helvetica Neue"/>
                <a:ea typeface="Helvetica Neue"/>
                <a:cs typeface="Helvetica Neue"/>
              </a:defRPr>
            </a:pPr>
            <a:r>
              <a:rPr sz="2100" b="0">
                <a:solidFill>
                  <a:srgbClr val="183D30"/>
                </a:solidFill>
                <a:latin typeface="Helvetica Neue"/>
                <a:ea typeface="Helvetica Neue"/>
                <a:cs typeface="Helvetica Neue"/>
              </a:rPr>
              <a:t>and builder instructions.</a:t>
            </a:r>
          </a:p>
        </p:txBody>
      </p:sp>
      <p:sp>
        <p:nvSpPr>
          <p:cNvPr id="6" name="">
            <a:extLst xmlns:a="http://schemas.openxmlformats.org/drawingml/2006/main">
              <a:ext uri="{FF2B5EF4-FFF2-40B4-BE49-F238E27FC236}">
                <a16:creationId xmlns:a16="http://schemas.microsoft.com/office/drawing/2014/main" id="{3A429E27-E3CA-40AC-A6E0-194C7840755A}"/>
              </a:ext>
            </a:extLst>
          </p:cNvPr>
          <p:cNvSpPr>
            <a:spLocks xmlns:a="http://schemas.openxmlformats.org/drawingml/2006/main" noGrp="1"/>
          </p:cNvSpPr>
          <p:nvPr/>
        </p:nvSpPr>
        <p:spPr>
          <a:xfrm xmlns:a="http://schemas.openxmlformats.org/drawingml/2006/main">
            <a:off x="723900" y="5505450"/>
            <a:ext cx="10763250" cy="847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950" b="0">
                <a:solidFill>
                  <a:srgbClr val="53675B"/>
                </a:solidFill>
                <a:latin typeface="Helvetica Neue"/>
                <a:ea typeface="Helvetica Neue"/>
                <a:cs typeface="Helvetica Neue"/>
              </a:defRPr>
            </a:pPr>
            <a:r>
              <a:rPr sz="1950" b="0">
                <a:solidFill>
                  <a:srgbClr val="53675B"/>
                </a:solidFill>
                <a:latin typeface="Helvetica Neue"/>
                <a:ea typeface="Helvetica Neue"/>
                <a:cs typeface="Helvetica Neue"/>
              </a:rPr>
              <a:t>Builders can revise or restore an app configuration.</a:t>
            </a:r>
          </a:p>
          <a:p xmlns:a="http://schemas.openxmlformats.org/drawingml/2006/main">
            <a:pPr>
              <a:buNone/>
              <a:defRPr sz="1950" b="0">
                <a:solidFill>
                  <a:srgbClr val="53675B"/>
                </a:solidFill>
                <a:latin typeface="Helvetica Neue"/>
                <a:ea typeface="Helvetica Neue"/>
                <a:cs typeface="Helvetica Neue"/>
              </a:defRPr>
            </a:pPr>
            <a:r>
              <a:rPr sz="1950" b="0">
                <a:solidFill>
                  <a:srgbClr val="53675B"/>
                </a:solidFill>
                <a:latin typeface="Helvetica Neue"/>
                <a:ea typeface="Helvetica Neue"/>
                <a:cs typeface="Helvetica Neue"/>
              </a:rPr>
              <a:t>Saved spreadsheet edits require separate correction.</a:t>
            </a:r>
          </a:p>
        </p:txBody>
      </p:sp>
    </p:spTree>
    <p:extLst>
      <p:ext uri="{BB962C8B-B14F-4D97-AF65-F5344CB8AC3E}">
        <p14:creationId xmlns:p14="http://schemas.microsoft.com/office/powerpoint/2010/main" val="1192920566"/>
      </p:ext>
    </p:extLst>
  </p:cSld>
</p:sld>
</file>

<file path=ppt/slides/slide7.xml><?xml version="1.0" encoding="utf-8"?>
<p:sld xmlns:p="http://schemas.openxmlformats.org/presentationml/2006/main">
  <p:cSld>
    <p:bg>
      <p:bgPr>
        <a:solidFill xmlns:a="http://schemas.openxmlformats.org/drawingml/2006/main">
          <a:srgbClr val="183D30"/>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48D82524-01E9-4471-9B37-9E5F2790FEA6}"/>
              </a:ext>
            </a:extLst>
          </p:cNvPr>
          <p:cNvSpPr>
            <a:spLocks xmlns:a="http://schemas.openxmlformats.org/drawingml/2006/main" noGrp="1"/>
          </p:cNvSpPr>
          <p:nvPr/>
        </p:nvSpPr>
        <p:spPr>
          <a:xfrm xmlns:a="http://schemas.openxmlformats.org/drawingml/2006/main">
            <a:off x="685800" y="495300"/>
            <a:ext cx="108204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300" b="1">
                <a:solidFill>
                  <a:srgbClr val="F5F3EC"/>
                </a:solidFill>
                <a:latin typeface="Helvetica Neue"/>
                <a:ea typeface="Helvetica Neue"/>
                <a:cs typeface="Helvetica Neue"/>
              </a:defRPr>
            </a:pPr>
            <a:r>
              <a:rPr sz="3300" b="1">
                <a:solidFill>
                  <a:srgbClr val="F5F3EC"/>
                </a:solidFill>
                <a:latin typeface="Helvetica Neue"/>
                <a:ea typeface="Helvetica Neue"/>
                <a:cs typeface="Helvetica Neue"/>
              </a:rPr>
              <a:t>A subscription for recurring business workflows</a:t>
            </a:r>
          </a:p>
        </p:txBody>
      </p:sp>
      <p:sp>
        <p:nvSpPr>
          <p:cNvPr id="2" name="">
            <a:extLst xmlns:a="http://schemas.openxmlformats.org/drawingml/2006/main">
              <a:ext uri="{FF2B5EF4-FFF2-40B4-BE49-F238E27FC236}">
                <a16:creationId xmlns:a16="http://schemas.microsoft.com/office/drawing/2014/main" id="{34A0488C-DBB5-4BFD-B173-BF0BF6865A3A}"/>
              </a:ext>
            </a:extLst>
          </p:cNvPr>
          <p:cNvSpPr>
            <a:spLocks xmlns:a="http://schemas.openxmlformats.org/drawingml/2006/main" noGrp="1"/>
          </p:cNvSpPr>
          <p:nvPr/>
        </p:nvSpPr>
        <p:spPr>
          <a:xfrm xmlns:a="http://schemas.openxmlformats.org/drawingml/2006/main">
            <a:off x="723900" y="2009775"/>
            <a:ext cx="4953000"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250" b="1">
                <a:solidFill>
                  <a:srgbClr val="C2D7C7"/>
                </a:solidFill>
                <a:latin typeface="Helvetica Neue"/>
                <a:ea typeface="Helvetica Neue"/>
                <a:cs typeface="Helvetica Neue"/>
              </a:defRPr>
            </a:pPr>
            <a:r>
              <a:rPr sz="2250" b="1">
                <a:solidFill>
                  <a:srgbClr val="C2D7C7"/>
                </a:solidFill>
                <a:latin typeface="Helvetica Neue"/>
                <a:ea typeface="Helvetica Neue"/>
                <a:cs typeface="Helvetica Neue"/>
              </a:rPr>
              <a:t>Google Workspace ecosystem</a:t>
            </a:r>
          </a:p>
        </p:txBody>
      </p:sp>
      <p:sp>
        <p:nvSpPr>
          <p:cNvPr id="3" name="">
            <a:extLst xmlns:a="http://schemas.openxmlformats.org/drawingml/2006/main">
              <a:ext uri="{FF2B5EF4-FFF2-40B4-BE49-F238E27FC236}">
                <a16:creationId xmlns:a16="http://schemas.microsoft.com/office/drawing/2014/main" id="{A7A97417-239B-437E-9902-24534D46E259}"/>
              </a:ext>
            </a:extLst>
          </p:cNvPr>
          <p:cNvSpPr>
            <a:spLocks xmlns:a="http://schemas.openxmlformats.org/drawingml/2006/main" noGrp="1"/>
          </p:cNvSpPr>
          <p:nvPr/>
        </p:nvSpPr>
        <p:spPr>
          <a:xfrm xmlns:a="http://schemas.openxmlformats.org/drawingml/2006/main">
            <a:off x="723900" y="2676525"/>
            <a:ext cx="5038725" cy="1181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6450" b="1">
                <a:solidFill>
                  <a:srgbClr val="F5F3EC"/>
                </a:solidFill>
                <a:latin typeface="Helvetica Neue"/>
                <a:ea typeface="Helvetica Neue"/>
                <a:cs typeface="Helvetica Neue"/>
              </a:defRPr>
            </a:pPr>
            <a:r>
              <a:rPr sz="6450" b="1">
                <a:solidFill>
                  <a:srgbClr val="F5F3EC"/>
                </a:solidFill>
                <a:latin typeface="Helvetica Neue"/>
                <a:ea typeface="Helvetica Neue"/>
                <a:cs typeface="Helvetica Neue"/>
              </a:rPr>
              <a:t>11M+</a:t>
            </a:r>
          </a:p>
        </p:txBody>
      </p:sp>
      <p:sp>
        <p:nvSpPr>
          <p:cNvPr id="4" name="">
            <a:extLst xmlns:a="http://schemas.openxmlformats.org/drawingml/2006/main">
              <a:ext uri="{FF2B5EF4-FFF2-40B4-BE49-F238E27FC236}">
                <a16:creationId xmlns:a16="http://schemas.microsoft.com/office/drawing/2014/main" id="{DC11A6CC-7ABB-4DE6-B2C8-60CD471F3525}"/>
              </a:ext>
            </a:extLst>
          </p:cNvPr>
          <p:cNvSpPr>
            <a:spLocks xmlns:a="http://schemas.openxmlformats.org/drawingml/2006/main" noGrp="1"/>
          </p:cNvSpPr>
          <p:nvPr/>
        </p:nvSpPr>
        <p:spPr>
          <a:xfrm xmlns:a="http://schemas.openxmlformats.org/drawingml/2006/main">
            <a:off x="6667500" y="2009775"/>
            <a:ext cx="4857750"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250" b="1">
                <a:solidFill>
                  <a:srgbClr val="C2D7C7"/>
                </a:solidFill>
                <a:latin typeface="Helvetica Neue"/>
                <a:ea typeface="Helvetica Neue"/>
                <a:cs typeface="Helvetica Neue"/>
              </a:defRPr>
            </a:pPr>
            <a:r>
              <a:rPr sz="2250" b="1">
                <a:solidFill>
                  <a:srgbClr val="C2D7C7"/>
                </a:solidFill>
                <a:latin typeface="Helvetica Neue"/>
                <a:ea typeface="Helvetica Neue"/>
                <a:cs typeface="Helvetica Neue"/>
              </a:rPr>
              <a:t>Buyer and value hypothesis</a:t>
            </a:r>
          </a:p>
        </p:txBody>
      </p:sp>
      <p:sp>
        <p:nvSpPr>
          <p:cNvPr id="5" name="">
            <a:extLst xmlns:a="http://schemas.openxmlformats.org/drawingml/2006/main">
              <a:ext uri="{FF2B5EF4-FFF2-40B4-BE49-F238E27FC236}">
                <a16:creationId xmlns:a16="http://schemas.microsoft.com/office/drawing/2014/main" id="{BF40B1F5-BE44-428C-8361-0FBB36F7DB73}"/>
              </a:ext>
            </a:extLst>
          </p:cNvPr>
          <p:cNvSpPr>
            <a:spLocks xmlns:a="http://schemas.openxmlformats.org/drawingml/2006/main" noGrp="1"/>
          </p:cNvSpPr>
          <p:nvPr/>
        </p:nvSpPr>
        <p:spPr>
          <a:xfrm xmlns:a="http://schemas.openxmlformats.org/drawingml/2006/main">
            <a:off x="6667500" y="2800350"/>
            <a:ext cx="4810125" cy="1485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75" b="0">
                <a:solidFill>
                  <a:srgbClr val="F5F3EC"/>
                </a:solidFill>
                <a:latin typeface="Helvetica Neue"/>
                <a:ea typeface="Helvetica Neue"/>
                <a:cs typeface="Helvetica Neue"/>
              </a:defRPr>
            </a:pPr>
            <a:r>
              <a:rPr sz="2175" b="0">
                <a:solidFill>
                  <a:srgbClr val="F5F3EC"/>
                </a:solidFill>
                <a:latin typeface="Helvetica Neue"/>
                <a:ea typeface="Helvetica Neue"/>
                <a:cs typeface="Helvetica Neue"/>
              </a:rPr>
              <a:t>Finance and Ops workflow owners.</a:t>
            </a:r>
          </a:p>
          <a:p xmlns:a="http://schemas.openxmlformats.org/drawingml/2006/main">
            <a:pPr>
              <a:buNone/>
              <a:defRPr sz="2175" b="0">
                <a:solidFill>
                  <a:srgbClr val="F5F3EC"/>
                </a:solidFill>
                <a:latin typeface="Helvetica Neue"/>
                <a:ea typeface="Helvetica Neue"/>
                <a:cs typeface="Helvetica Neue"/>
              </a:defRPr>
            </a:pPr>
            <a:r>
              <a:rPr sz="2175" b="0">
                <a:solidFill>
                  <a:srgbClr val="F5F3EC"/>
                </a:solidFill>
                <a:latin typeface="Helvetica Neue"/>
                <a:ea typeface="Helvetica Neue"/>
                <a:cs typeface="Helvetica Neue"/>
              </a:rPr>
              <a:t>Less chasing and reconciliation.</a:t>
            </a:r>
          </a:p>
          <a:p xmlns:a="http://schemas.openxmlformats.org/drawingml/2006/main">
            <a:pPr>
              <a:buNone/>
              <a:defRPr sz="2175" b="0">
                <a:solidFill>
                  <a:srgbClr val="F5F3EC"/>
                </a:solidFill>
                <a:latin typeface="Helvetica Neue"/>
                <a:ea typeface="Helvetica Neue"/>
                <a:cs typeface="Helvetica Neue"/>
              </a:defRPr>
            </a:pPr>
            <a:r>
              <a:rPr sz="2175" b="0">
                <a:solidFill>
                  <a:srgbClr val="F5F3EC"/>
                </a:solidFill>
                <a:latin typeface="Helvetica Neue"/>
                <a:ea typeface="Helvetica Neue"/>
                <a:cs typeface="Helvetica Neue"/>
              </a:rPr>
              <a:t>A team subscription.</a:t>
            </a:r>
          </a:p>
        </p:txBody>
      </p:sp>
      <p:sp>
        <p:nvSpPr>
          <p:cNvPr id="6" name="">
            <a:extLst xmlns:a="http://schemas.openxmlformats.org/drawingml/2006/main">
              <a:ext uri="{FF2B5EF4-FFF2-40B4-BE49-F238E27FC236}">
                <a16:creationId xmlns:a16="http://schemas.microsoft.com/office/drawing/2014/main" id="{A529FE40-B46B-432C-8971-DC6F77B14F56}"/>
              </a:ext>
            </a:extLst>
          </p:cNvPr>
          <p:cNvSpPr>
            <a:spLocks xmlns:a="http://schemas.openxmlformats.org/drawingml/2006/main" noGrp="1"/>
          </p:cNvSpPr>
          <p:nvPr/>
        </p:nvSpPr>
        <p:spPr>
          <a:xfrm xmlns:a="http://schemas.openxmlformats.org/drawingml/2006/main">
            <a:off x="723900" y="4743450"/>
            <a:ext cx="107632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475" b="1">
                <a:solidFill>
                  <a:srgbClr val="F5F3EC"/>
                </a:solidFill>
                <a:latin typeface="Helvetica Neue"/>
                <a:ea typeface="Helvetica Neue"/>
                <a:cs typeface="Helvetica Neue"/>
              </a:defRPr>
            </a:pPr>
            <a:r>
              <a:rPr sz="2475" b="1">
                <a:solidFill>
                  <a:srgbClr val="F5F3EC"/>
                </a:solidFill>
                <a:latin typeface="Helvetica Neue"/>
                <a:ea typeface="Helvetica Neue"/>
                <a:cs typeface="Helvetica Neue"/>
              </a:rPr>
              <a:t>One recurring workflow. More apps across the company.</a:t>
            </a:r>
          </a:p>
        </p:txBody>
      </p:sp>
      <p:sp>
        <p:nvSpPr>
          <p:cNvPr id="7" name="">
            <a:extLst xmlns:a="http://schemas.openxmlformats.org/drawingml/2006/main">
              <a:ext uri="{FF2B5EF4-FFF2-40B4-BE49-F238E27FC236}">
                <a16:creationId xmlns:a16="http://schemas.microsoft.com/office/drawing/2014/main" id="{E9065118-6FAB-41FD-AA87-91BBABE735BC}"/>
              </a:ext>
            </a:extLst>
          </p:cNvPr>
          <p:cNvSpPr>
            <a:spLocks xmlns:a="http://schemas.openxmlformats.org/drawingml/2006/main" noGrp="1"/>
          </p:cNvSpPr>
          <p:nvPr/>
        </p:nvSpPr>
        <p:spPr>
          <a:xfrm xmlns:a="http://schemas.openxmlformats.org/drawingml/2006/main">
            <a:off x="723900" y="5772150"/>
            <a:ext cx="10763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00" b="0">
                <a:solidFill>
                  <a:srgbClr val="C2D7C7"/>
                </a:solidFill>
                <a:latin typeface="Helvetica Neue"/>
                <a:ea typeface="Helvetica Neue"/>
                <a:cs typeface="Helvetica Neue"/>
              </a:defRPr>
            </a:pPr>
            <a:r>
              <a:rPr sz="1800" b="0">
                <a:solidFill>
                  <a:srgbClr val="C2D7C7"/>
                </a:solidFill>
                <a:latin typeface="Helvetica Neue"/>
                <a:ea typeface="Helvetica Neue"/>
                <a:cs typeface="Helvetica Neue"/>
              </a:rPr>
              <a:t>Next: measure coordination time, repeat use and willingness to pay.</a:t>
            </a:r>
          </a:p>
          <a:p xmlns:a="http://schemas.openxmlformats.org/drawingml/2006/main">
            <a:pPr>
              <a:buNone/>
              <a:defRPr sz="1800" b="0">
                <a:solidFill>
                  <a:srgbClr val="C2D7C7"/>
                </a:solidFill>
                <a:latin typeface="Helvetica Neue"/>
                <a:ea typeface="Helvetica Neue"/>
                <a:cs typeface="Helvetica Neue"/>
              </a:defRPr>
            </a:pPr>
            <a:r>
              <a:rPr sz="1800" b="0">
                <a:solidFill>
                  <a:srgbClr val="C2D7C7"/>
                </a:solidFill>
                <a:latin typeface="Helvetica Neue"/>
                <a:ea typeface="Helvetica Neue"/>
                <a:cs typeface="Helvetica Neue"/>
              </a:rPr>
              <a:t>11M+ is platform context. Our addressable market is unvalidated.</a:t>
            </a:r>
          </a:p>
        </p:txBody>
      </p:sp>
      <p:sp>
        <p:nvSpPr>
          <p:cNvPr id="9" name="">
            <a:extLst xmlns:a="http://schemas.openxmlformats.org/drawingml/2006/main">
              <a:ext uri="{FF2B5EF4-FFF2-40B4-BE49-F238E27FC236}">
                <a16:creationId xmlns:a16="http://schemas.microsoft.com/office/drawing/2014/main" id="{AC020C92-9B4A-4ED7-8B26-11480ADBD91B}"/>
              </a:ext>
            </a:extLst>
          </p:cNvPr>
          <p:cNvSpPr>
            <a:spLocks xmlns:a="http://schemas.openxmlformats.org/drawingml/2006/main" noGrp="1"/>
          </p:cNvSpPr>
          <p:nvPr/>
        </p:nvSpPr>
        <p:spPr>
          <a:xfrm xmlns:a="http://schemas.openxmlformats.org/drawingml/2006/main">
            <a:off x="723900" y="3867150"/>
            <a:ext cx="5143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a:solidFill>
                  <a:srgbClr val="C2D7C7"/>
                </a:solidFill>
                <a:latin typeface="Helvetica Neue"/>
                <a:ea typeface="Helvetica Neue"/>
                <a:cs typeface="Helvetica Neue"/>
              </a:defRPr>
            </a:pPr>
            <a:r>
              <a:rPr sz="1875">
                <a:solidFill>
                  <a:srgbClr val="C2D7C7"/>
                </a:solidFill>
                <a:latin typeface="Helvetica Neue"/>
                <a:ea typeface="Helvetica Neue"/>
                <a:cs typeface="Helvetica Neue"/>
              </a:rPr>
              <a:t>customers reported in July 2025</a:t>
            </a:r>
          </a:p>
        </p:txBody>
      </p:sp>
    </p:spTree>
    <p:extLst>
      <p:ext uri="{BB962C8B-B14F-4D97-AF65-F5344CB8AC3E}">
        <p14:creationId xmlns:p14="http://schemas.microsoft.com/office/powerpoint/2010/main" val="300584234"/>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2026-09-23T12:06:53.8800000Z</dcterms:created>
  <dcterms:modified xsi:type="dcterms:W3CDTF">2026-09-23T12:06:53.8800000Z</dcterms:modified>
</coreProperties>
</file>